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eb6cb531f847ee" /><Relationship Type="http://schemas.openxmlformats.org/officeDocument/2006/relationships/extended-properties" Target="/docProps/app.xml" Id="R719b1e45148f4aff" /><Relationship Type="http://schemas.openxmlformats.org/officeDocument/2006/relationships/officeDocument" Target="/ppt/presentation.xml" Id="R77e59908e7054d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34192544374323"/>
  </p:sldMasterIdLst>
  <p:notesMasterIdLst>
    <p:notesMasterId xmlns:r="http://schemas.openxmlformats.org/officeDocument/2006/relationships" r:id="R9d4968041f3d4559"/>
  </p:notesMasterIdLst>
  <p:sldIdLst>
    <p:sldId xmlns:r="http://schemas.openxmlformats.org/officeDocument/2006/relationships" id="256" r:id="R5b64c8b692ae4aa6"/>
    <p:sldId xmlns:r="http://schemas.openxmlformats.org/officeDocument/2006/relationships" id="257" r:id="Rbe1cc5c20acf4e39"/>
    <p:sldId xmlns:r="http://schemas.openxmlformats.org/officeDocument/2006/relationships" id="258" r:id="Rce15b27b33a94096"/>
    <p:sldId xmlns:r="http://schemas.openxmlformats.org/officeDocument/2006/relationships" id="259" r:id="Rd675fd418f184474"/>
    <p:sldId xmlns:r="http://schemas.openxmlformats.org/officeDocument/2006/relationships" id="260" r:id="Rda2ff96325a54b3c"/>
    <p:sldId xmlns:r="http://schemas.openxmlformats.org/officeDocument/2006/relationships" id="261" r:id="R039a7c80902b4207"/>
    <p:sldId xmlns:r="http://schemas.openxmlformats.org/officeDocument/2006/relationships" id="262" r:id="R84a513d07f2c4f1e"/>
    <p:sldId xmlns:r="http://schemas.openxmlformats.org/officeDocument/2006/relationships" id="263" r:id="Rca1bc0921b884fd6"/>
    <p:sldId xmlns:r="http://schemas.openxmlformats.org/officeDocument/2006/relationships" id="264" r:id="Rffcb1314113944ce"/>
    <p:sldId xmlns:r="http://schemas.openxmlformats.org/officeDocument/2006/relationships" id="265" r:id="R43064e3d9bb844ee"/>
    <p:sldId xmlns:r="http://schemas.openxmlformats.org/officeDocument/2006/relationships" id="266" r:id="R2d75ab4928f848d9"/>
    <p:sldId xmlns:r="http://schemas.openxmlformats.org/officeDocument/2006/relationships" id="267" r:id="R10b53c6443db42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48c32d9c31430e" /><Relationship Type="http://schemas.openxmlformats.org/officeDocument/2006/relationships/slideMaster" Target="/ppt/slideMasters/slideMaster1.xml" Id="R8334192544374323" /><Relationship Type="http://schemas.openxmlformats.org/officeDocument/2006/relationships/notesMaster" Target="/ppt/notesMasters/notesMaster1.xml" Id="R9d4968041f3d4559" /><Relationship Type="http://schemas.openxmlformats.org/officeDocument/2006/relationships/presProps" Target="/ppt/presProps.xml" Id="R78241e05a0734964" /><Relationship Type="http://schemas.openxmlformats.org/officeDocument/2006/relationships/tableStyles" Target="/ppt/tableStyles.xml" Id="R2f33e1f287944aa2" /><Relationship Type="http://schemas.openxmlformats.org/officeDocument/2006/relationships/slide" Target="/ppt/slides/slide1.xml" Id="R5b64c8b692ae4aa6" /><Relationship Type="http://schemas.openxmlformats.org/officeDocument/2006/relationships/slide" Target="/ppt/slides/slide2.xml" Id="Rbe1cc5c20acf4e39" /><Relationship Type="http://schemas.openxmlformats.org/officeDocument/2006/relationships/slide" Target="/ppt/slides/slide3.xml" Id="Rce15b27b33a94096" /><Relationship Type="http://schemas.openxmlformats.org/officeDocument/2006/relationships/slide" Target="/ppt/slides/slide4.xml" Id="Rd675fd418f184474" /><Relationship Type="http://schemas.openxmlformats.org/officeDocument/2006/relationships/slide" Target="/ppt/slides/slide5.xml" Id="Rda2ff96325a54b3c" /><Relationship Type="http://schemas.openxmlformats.org/officeDocument/2006/relationships/slide" Target="/ppt/slides/slide6.xml" Id="R039a7c80902b4207" /><Relationship Type="http://schemas.openxmlformats.org/officeDocument/2006/relationships/slide" Target="/ppt/slides/slide7.xml" Id="R84a513d07f2c4f1e" /><Relationship Type="http://schemas.openxmlformats.org/officeDocument/2006/relationships/slide" Target="/ppt/slides/slide8.xml" Id="Rca1bc0921b884fd6" /><Relationship Type="http://schemas.openxmlformats.org/officeDocument/2006/relationships/slide" Target="/ppt/slides/slide9.xml" Id="Rffcb1314113944ce" /><Relationship Type="http://schemas.openxmlformats.org/officeDocument/2006/relationships/slide" Target="/ppt/slides/slide10.xml" Id="R43064e3d9bb844ee" /><Relationship Type="http://schemas.openxmlformats.org/officeDocument/2006/relationships/slide" Target="/ppt/slides/slide11.xml" Id="R2d75ab4928f848d9" /><Relationship Type="http://schemas.openxmlformats.org/officeDocument/2006/relationships/slide" Target="/ppt/slides/slide12.xml" Id="R10b53c6443db42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8f73f27acb4f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3cb35915ba4d0f" /><Relationship Type="http://schemas.openxmlformats.org/officeDocument/2006/relationships/notesMaster" Target="/ppt/notesMasters/notesMaster1.xml" Id="R74af2da0426546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9a3d4d184a4bc6" /><Relationship Type="http://schemas.openxmlformats.org/officeDocument/2006/relationships/notesMaster" Target="/ppt/notesMasters/notesMaster1.xml" Id="R8fd8f49a568b46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830a1c4d054d26" /><Relationship Type="http://schemas.openxmlformats.org/officeDocument/2006/relationships/notesMaster" Target="/ppt/notesMasters/notesMaster1.xml" Id="R076ec2503de245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0c58eed60c4366" /><Relationship Type="http://schemas.openxmlformats.org/officeDocument/2006/relationships/notesMaster" Target="/ppt/notesMasters/notesMaster1.xml" Id="R9767ab8bba9442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fbbc4969ab4bf0" /><Relationship Type="http://schemas.openxmlformats.org/officeDocument/2006/relationships/notesMaster" Target="/ppt/notesMasters/notesMaster1.xml" Id="R5a6554cb8cf84b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578534f9cb423f" /><Relationship Type="http://schemas.openxmlformats.org/officeDocument/2006/relationships/notesMaster" Target="/ppt/notesMasters/notesMaster1.xml" Id="R38409bdf0c824b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4c2b9dd4e84f37" /><Relationship Type="http://schemas.openxmlformats.org/officeDocument/2006/relationships/notesMaster" Target="/ppt/notesMasters/notesMaster1.xml" Id="R5ba2bdd2784347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c4901b733842b8" /><Relationship Type="http://schemas.openxmlformats.org/officeDocument/2006/relationships/notesMaster" Target="/ppt/notesMasters/notesMaster1.xml" Id="Rbdd0b587eb4440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c859485e864bbe" /><Relationship Type="http://schemas.openxmlformats.org/officeDocument/2006/relationships/notesMaster" Target="/ppt/notesMasters/notesMaster1.xml" Id="Rdf4741c45ee44e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e2e9832c0e41ca" /><Relationship Type="http://schemas.openxmlformats.org/officeDocument/2006/relationships/notesMaster" Target="/ppt/notesMasters/notesMaster1.xml" Id="R61a863ba690a41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daaa8da5fb4170" /><Relationship Type="http://schemas.openxmlformats.org/officeDocument/2006/relationships/notesMaster" Target="/ppt/notesMasters/notesMaster1.xml" Id="R469606cdbeea46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31f4f547ce43c7" /><Relationship Type="http://schemas.openxmlformats.org/officeDocument/2006/relationships/notesMaster" Target="/ppt/notesMasters/notesMaster1.xml" Id="R372d35841f1541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C:\Users\14536\Desktop\2026香港科技大学百万奖金创业.pdf</a:t>
            </a:r>
          </a:p>
          <a:p xmlns:a="http://schemas.openxmlformats.org/drawingml/2006/main">
            <a:r>
              <a:t>- D:\code\studymate-agent\README.md</a:t>
            </a:r>
          </a:p>
          <a:p xmlns:a="http://schemas.openxmlformats.org/drawingml/2006/main">
            <a:r>
              <a:t>- D:\code\studymate-agent\docs\PRODUCT_INTRO.md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D:\code\studymate-agent\docs\PRD_MVP_v0.1.md</a:t>
            </a:r>
          </a:p>
          <a:p xmlns:a="http://schemas.openxmlformats.org/drawingml/2006/main">
            <a:r>
              <a:t>- D:\code\studymate-agent\docs\PRODUCT_INTRO.md</a:t>
            </a:r>
          </a:p>
          <a:p xmlns:a="http://schemas.openxmlformats.org/drawingml/2006/main">
            <a:r>
              <a:t>- User scenario is a validation hypothesis, not a measured cohort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D:\code\studymate-agent\src\core\event_log.ts</a:t>
            </a:r>
          </a:p>
          <a:p xmlns:a="http://schemas.openxmlformats.org/drawingml/2006/main">
            <a:r>
              <a:t>- D:\code\studymate-agent\src\application\workflows\grade_and_adapt.ts</a:t>
            </a:r>
          </a:p>
          <a:p xmlns:a="http://schemas.openxmlformats.org/drawingml/2006/main">
            <a:r>
              <a:t>- D:\code\studymate-agent\src\agents\spaced_repetition.ts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D:\code\studymate-agent\screenshots\01_dashboard.png</a:t>
            </a:r>
          </a:p>
          <a:p xmlns:a="http://schemas.openxmlformats.org/drawingml/2006/main">
            <a:r>
              <a:t>- D:\code\studymate-agent\src\agents\grader.ts</a:t>
            </a:r>
          </a:p>
          <a:p xmlns:a="http://schemas.openxmlformats.org/drawingml/2006/main">
            <a:r>
              <a:t>- D:\code\studymate-agent\src\application\workflows\grade_and_adapt.ts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D:\code\studymate-agent\README.md</a:t>
            </a:r>
          </a:p>
          <a:p xmlns:a="http://schemas.openxmlformats.org/drawingml/2006/main">
            <a:r>
              <a:t>- D:\code\studymate-agent\docs\PRODUCT_INTRO.md</a:t>
            </a:r>
          </a:p>
          <a:p xmlns:a="http://schemas.openxmlformats.org/drawingml/2006/main">
            <a:r>
              <a:t>- D:\code\studymate-agent\.github\workflows\ci.yml</a:t>
            </a:r>
          </a:p>
          <a:p xmlns:a="http://schemas.openxmlformats.org/drawingml/2006/main">
            <a:r>
              <a:t>- D:\code\studymate-agent\Dockerfile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D:\code\studymate-agent\src\server\app.ts</a:t>
            </a:r>
          </a:p>
          <a:p xmlns:a="http://schemas.openxmlformats.org/drawingml/2006/main">
            <a:r>
              <a:t>- D:\code\studymate-agent\src\core\llm.ts</a:t>
            </a:r>
          </a:p>
          <a:p xmlns:a="http://schemas.openxmlformats.org/drawingml/2006/main">
            <a:r>
              <a:t>- D:\code\studymate-agent\src\core\event_log.ts</a:t>
            </a:r>
          </a:p>
          <a:p xmlns:a="http://schemas.openxmlformats.org/drawingml/2006/main">
            <a:r>
              <a:t>- D:\code\studymate-agent\PRIVACY.md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D:\code\studymate-agent\README.md</a:t>
            </a:r>
          </a:p>
          <a:p xmlns:a="http://schemas.openxmlformats.org/drawingml/2006/main">
            <a:r>
              <a:t>- Category-level comparison based on common product interaction models; no claim that every product in a category has identical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https://www.moe.gov.cn/jyb_xwfb/gzdt_gzdt/moe_1485/202511/t20251124_1421370.html</a:t>
            </a:r>
          </a:p>
          <a:p xmlns:a="http://schemas.openxmlformats.org/drawingml/2006/main">
            <a:r>
              <a:t>- https://www.cicpa.org.cn/xxfb/news/202508/t20250827_65611.html</a:t>
            </a:r>
          </a:p>
          <a:p xmlns:a="http://schemas.openxmlformats.org/drawingml/2006/main">
            <a:r>
              <a:t>- 30-person pilot is an internal validation target, not an achieved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D:\code\studymate-agent\docs\PRODUCT_INTRO.md</a:t>
            </a:r>
          </a:p>
          <a:p xmlns:a="http://schemas.openxmlformats.org/drawingml/2006/main">
            <a:r>
              <a:t>- Validation milestones and price are internal hypotheses for the next 12 weeks.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Pricing shown is an internal validation hypothesis; no current revenue or conversion claim is made.</a:t>
            </a:r>
          </a:p>
          <a:p xmlns:a="http://schemas.openxmlformats.org/drawingml/2006/main">
            <a:r>
              <a:t>- D:\code\studymate-agent\docs\PRODUCT_INTRO.md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names, education backgrounds, and professional descriptions supplied directly by the team lead on 2026-08-11.</a:t>
            </a:r>
          </a:p>
          <a:p xmlns:a="http://schemas.openxmlformats.org/drawingml/2006/main">
            <a:r>
              <a:t>- Role allocation follows the team discussion and is presented as responsibility ownership.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C:\Users\14536\Desktop\2026香港科技大学百万奖金创业.pdf</a:t>
            </a:r>
          </a:p>
          <a:p xmlns:a="http://schemas.openxmlformats.org/drawingml/2006/main">
            <a:r>
              <a:t>- The three requested resource categories align with the competition handbook's incubation, industry connection, and financing support descriptions.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e6a1dea4642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920c89b0cf4769" /><Relationship Type="http://schemas.openxmlformats.org/officeDocument/2006/relationships/slideLayout" Target="/ppt/slideLayouts/slideLayout1.xml" Id="R495f8a78a13c41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5f8a78a13c41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ff8f453c341a5" /><Relationship Type="http://schemas.openxmlformats.org/officeDocument/2006/relationships/notesSlide" Target="/ppt/notesSlides/notesSlide1.xml" Id="R4023ab64121442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e4909536f45c3" /><Relationship Type="http://schemas.openxmlformats.org/officeDocument/2006/relationships/notesSlide" Target="/ppt/notesSlides/notesSlide2.xml" Id="Ra32d538b865046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c8d20d0614c55" /><Relationship Type="http://schemas.openxmlformats.org/officeDocument/2006/relationships/notesSlide" Target="/ppt/notesSlides/notesSlide3.xml" Id="Rb6c0a9e3796f4d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63c2ac86d4164" /><Relationship Type="http://schemas.openxmlformats.org/officeDocument/2006/relationships/image" Target="/ppt/media/image.png" Id="R06fca47562f6491a" /><Relationship Type="http://schemas.openxmlformats.org/officeDocument/2006/relationships/notesSlide" Target="/ppt/notesSlides/notesSlide4.xml" Id="Rd0ab6ce9009245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cc0218eec4365" /><Relationship Type="http://schemas.openxmlformats.org/officeDocument/2006/relationships/notesSlide" Target="/ppt/notesSlides/notesSlide5.xml" Id="Rbac22a68c11046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5f7dcabe340d7" /><Relationship Type="http://schemas.openxmlformats.org/officeDocument/2006/relationships/notesSlide" Target="/ppt/notesSlides/notesSlide6.xml" Id="Rd7011be6866d41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2f1f1edcf470a" /><Relationship Type="http://schemas.openxmlformats.org/officeDocument/2006/relationships/notesSlide" Target="/ppt/notesSlides/notesSlide7.xml" Id="Re77cd758976743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d4a0cf93b4b4a" /><Relationship Type="http://schemas.openxmlformats.org/officeDocument/2006/relationships/notesSlide" Target="/ppt/notesSlides/notesSlide8.xml" Id="R1c3a780dd7be44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3f2d78ba64960" /><Relationship Type="http://schemas.openxmlformats.org/officeDocument/2006/relationships/notesSlide" Target="/ppt/notesSlides/notesSlide9.xml" Id="R87753d0f65bc4b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bcb566ded4dad" /><Relationship Type="http://schemas.openxmlformats.org/officeDocument/2006/relationships/notesSlide" Target="/ppt/notesSlides/notesSlide10.xml" Id="R2727e8b55c0540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3447a9ea0441f" /><Relationship Type="http://schemas.openxmlformats.org/officeDocument/2006/relationships/notesSlide" Target="/ppt/notesSlides/notesSlide11.xml" Id="R7b910b9f79694e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fb880cadd43bc" /><Relationship Type="http://schemas.openxmlformats.org/officeDocument/2006/relationships/notesSlide" Target="/ppt/notesSlides/notesSlide12.xml" Id="R478d402e21644c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19684-2DF4-4400-8FF5-EEF2C3B3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BAF3F-65BC-4124-B9E0-A43AF714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573"/>
                </a:solidFill>
              </a:defRPr>
            </a:pPr>
            <a:r>
              <a:rPr sz="1275" b="1">
                <a:solidFill>
                  <a:srgbClr val="5B6573"/>
                </a:solidFill>
              </a:rPr>
              <a:t>2026 香港科技大学百万奖金创业大赛 · 上海赛区 · 人工智能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01B4B-8E35-4CD3-BA99-0362919C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809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StudyMate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618DB-3CDB-4361-B24D-D67FC4A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把一套备考资料，变成每天能执行的学习闭环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A5A5B-BF5A-4720-B173-4FC92AB7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573"/>
                </a:solidFill>
              </a:defRPr>
            </a:pPr>
            <a:r>
              <a:rPr sz="1950" b="0">
                <a:solidFill>
                  <a:srgbClr val="5B6573"/>
                </a:solidFill>
              </a:rPr>
              <a:t>首个验证场景：CPA 自学备考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7B9C7-FCA9-4B3A-AC22-B86C1464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36BDE-AC90-40EC-945E-94EC756A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资料导入  →  概念结构  →  学习计划  →  每日测验  →  错题回流  →  复习调整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2B917-6790-44D9-A02B-5BC7D955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76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团队：不理不器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321C2-564C-4407-80FF-F278B17E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76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队长：乔瑞雪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9B423-32F6-40F4-86D9-E64F383A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76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阶段：可演示工程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F705D-20BF-4E74-B2FE-1AAA5AF9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团队成员：乔瑞雪 · 姜亚雷 · 乔瑞琪 · 芈祉嫣 · 陈鸿邦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3F544-DEF6-4F5F-9740-378177C9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4155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0EA0F-8EA0-44E3-95CA-0DF159A8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3CB0D-741E-423E-B242-F813E71C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备考者缺的不是更多内容，而是把资料变成行动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33459-80D3-41CC-B512-85AF6CFA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7084E-F693-450B-AE2D-0335AD5E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33BBE-8F1D-4802-86AD-ECF57569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首个用户场景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CFD04-662D-42A3-933E-89F1143D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CPA 自学备考者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FDB19-8CB0-4CA0-A819-1F9EEE74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573"/>
                </a:solidFill>
              </a:defRPr>
            </a:pPr>
            <a:r>
              <a:rPr sz="1725" b="0">
                <a:solidFill>
                  <a:srgbClr val="5B6573"/>
                </a:solidFill>
              </a:rPr>
              <a:t>已经购买教材和课程，每天可投入 30–90 分钟，需要在明确考试日期前完成复习。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79D1A-31D0-41B1-9EB2-039D3102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0">
            <a:solidFill>
              <a:srgbClr val="E8F6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5A11-B0AA-484A-82EF-C1F174D1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验证问题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01866-3794-4A99-BA5B-AB6C423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StudyMate 能否让用户连续完成“学—测—改—复习”？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A2D33-EF0C-449B-9D1C-2EECA194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资料无法形成学习顺序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EA667-AFE8-42E2-AC10-2B66C6A7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教材、讲义和错题分散在不同工具里，用户仍要自己判断先学什么。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74416-9669-4A2C-82CC-BBC0D7AA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F481C-C081-44ED-94BE-BFBD80A3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计划与执行脱节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7ADB1-BCC9-483D-B9B7-1EE936FD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计划通常只安排章节和日期，不会根据当天测验结果调整。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9E6F5-ED4E-44A1-A8D9-AF8CF0F9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55710-C736-4591-905E-A3747149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错题没有改变下一步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C53C1-5027-4C68-A6E3-C35A5E22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用户记录了错误，却很难把薄弱点转化成下一次复习任务。</a:t>
            </a:r>
          </a:p>
        </p:txBody>
      </p:sp>
    </p:spTree>
    <p:extLst>
      <p:ext uri="{BB962C8B-B14F-4D97-AF65-F5344CB8AC3E}">
        <p14:creationId xmlns:p14="http://schemas.microsoft.com/office/powerpoint/2010/main" val="20745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F1E83E-E85A-4D65-94BE-C295EC26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315C3-8C1D-4837-B797-695D235A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StudyMate 把六个步骤接成一次可追溯闭环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BD480-1A33-43CE-99E0-88616554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D01AA-5D12-4516-A166-CC97AAB3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AE699-68CC-4AD3-AA80-631CF0A5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573"/>
                </a:solidFill>
              </a:defRPr>
            </a:pPr>
            <a:r>
              <a:rPr sz="1725" b="0">
                <a:solidFill>
                  <a:srgbClr val="5B6573"/>
                </a:solidFill>
              </a:rPr>
              <a:t>LLM 负责结构化内容，TypeScript 负责流程、状态和结果落盘。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BBF0B-3FA1-48D8-8ED6-2B6C38C0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584D4-FB58-4447-964F-1B693CB7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2575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A049B-EC00-40E2-BEB0-5CF6434E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70679-562B-4ABA-A410-CF4E3877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2575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A799F-ED23-4C9B-806E-293E2A38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575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BCB85-6B49-48D2-A5A7-FCB238C9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600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F3FF4-5BD0-47CC-8836-8DF1A9C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65FAA-76B4-4626-9D46-A31708EC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导入资料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73E85-5EBC-472B-9417-7566F944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PDF / Markdown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5C4D8-6BC4-46E3-A695-3354C4E6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00300"/>
            <a:ext cx="1600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4BAD9-9F02-4EFC-885C-07F22023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590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2B561-0C2A-42DC-9B38-29D680EE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670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提取概念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80A19-73CF-424F-9342-2E6FC5AC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依赖关系与来源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72CE9-6FFF-4195-9C18-C685FE75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1600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07E83-D60D-434A-A3AF-F147E69D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99209-DB88-4D16-95AB-9C1EF463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生成计划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11126D-AECA-4D2D-8DF7-44A59104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考试日期与时长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A9064-B166-4B86-B12C-00B1C334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00300"/>
            <a:ext cx="1600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2DAA6-537A-40A2-A28C-E6235759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90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4AC36-A280-43BD-B540-7ECC0BBE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670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学习测验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174CE-AED4-4A14-9430-D7822235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385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当天任务与题目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534CE-0B36-43C6-9459-BC019DF3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1600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5D2647-45E3-453E-BD0D-7C1A5BC3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088DB4-C5EF-418E-8C89-3C60EF27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评分归因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2CA259-3532-4E46-BBB4-09CD8C3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错题与掌握度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0CE6E8-9724-41A3-A8F9-3856E78A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400300"/>
            <a:ext cx="1600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0">
            <a:solidFill>
              <a:srgbClr val="E8F6F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B6B334-E5EE-4A2F-9761-ED4360DC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90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0F936D-B074-473B-82D5-DBA2151B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670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调整复习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E6ACDE-3245-44B5-96FD-B5922BD3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385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SM-2 与计划回流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DBAA75-BF44-4EA5-B438-A43041BB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12680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ADC466-4EC7-4D87-AAD8-626E4F3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每一步都写入本地 workspace 与事件日志，便于回看、调试和复现。</a:t>
            </a:r>
          </a:p>
        </p:txBody>
      </p:sp>
    </p:spTree>
    <p:extLst>
      <p:ext uri="{BB962C8B-B14F-4D97-AF65-F5344CB8AC3E}">
        <p14:creationId xmlns:p14="http://schemas.microsoft.com/office/powerpoint/2010/main" val="706175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49F4C-14C7-4AD9-974D-988F2C84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A455C-761C-4177-A020-10651502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用户每天只需回答三个问题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7375C-3B08-49B8-A4AE-A41D6B47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697F4-D30A-46DF-B3DD-3CC01D99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8D36B-6134-4168-A7EF-340DE62A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今天学什么？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97712-832B-4F5D-B895-09EA2909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首页把考试日期、今日任务和预计时长放在同一处。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E2327-971F-4A43-8A01-A3C9A065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我学会了吗？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88E48-AADD-4A05-80D7-19AE9CD9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学习结束后立即测验，代码按标准答案评分并记录薄弱点。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53441-FA13-472D-B34E-5F58E2FF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下一步是什么？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35209-5163-4288-B178-840C781F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测验结果更新掌握度与复习状态，再影响后续任务。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ca47562f6491a"/>
          <a:srcRect xmlns:a="http://schemas.openxmlformats.org/drawingml/2006/main" l="0" t="1788" r="0" b="17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571625"/>
            <a:ext cx="7191375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</p:spTree>
    <p:extLst>
      <p:ext uri="{BB962C8B-B14F-4D97-AF65-F5344CB8AC3E}">
        <p14:creationId xmlns:p14="http://schemas.microsoft.com/office/powerpoint/2010/main" val="1383312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BC34D-BD7F-46B5-8D12-0BE3CE2C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4A940-E6BC-4303-90C1-CB2E4812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工程 MVP 已完成；真实学习效果仍待验证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CB354-F66E-44CD-BE13-3E48AC8B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B93D0-E143-462A-9977-985B0621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BAECD-DCCB-4AB7-AFDC-57DBB1EA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429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650DC-53B4-4431-B173-26A29C19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已经实现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B516B-7082-422B-9CE9-A9DF293D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4762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CLI、Web UI 与 REST API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PDF / Markdown 导入与分块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概念图谱、计划、测验与评分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错题回流、EMA 掌握度与 SM-2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学习搭子、本地状态与事件日志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Docker、GitHub Actions 与 E2E 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C64F0-82C6-48C2-83BA-B470D5EE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4768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0A3B9-91DB-4137-A6E3-B4DDE9C5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下一阶段验证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58AAE-A1E6-4DF7-86B2-DD4D2BBE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4762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• 真实 LLM 连续三日金样本</a:t>
            </a:r>
          </a:p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• 题目与解释的内容准确率</a:t>
            </a:r>
          </a:p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• 用户能否连续完成 7 天闭环</a:t>
            </a:r>
          </a:p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• 30 天留存与付费意愿</a:t>
            </a:r>
          </a:p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• 单用户模型成本与获客成本</a:t>
            </a:r>
          </a:p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• 多用户运行所需的安全与运维能力</a:t>
            </a:r>
          </a:p>
        </p:txBody>
      </p:sp>
    </p:spTree>
    <p:extLst>
      <p:ext uri="{BB962C8B-B14F-4D97-AF65-F5344CB8AC3E}">
        <p14:creationId xmlns:p14="http://schemas.microsoft.com/office/powerpoint/2010/main" val="1279130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2158B-9539-4008-8147-DBF58C5B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6E153-4279-4709-B16C-3EF0102D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技术价值在于可追溯闭环，不在于堆叠 Agent 数量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15F8C-98EC-4CD4-8D48-9E97E72A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41B86-630A-41CB-9668-EA04FF1F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B532C-0199-4AE2-A61A-74A89AE1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8130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C5342-8B7F-4B19-B5A5-E3321652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FDAFD-929E-434F-BFC0-E1FCF3C9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97D52-5BCE-4A05-9070-82D2B5DF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385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973EB-CBC6-440F-ADDD-0607A225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885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D5A20-A5CF-4464-8080-54DB17A1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用户界面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C82E5-46C1-408B-9CE2-4229ED94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Web / 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8E149-AC94-4590-9319-84738A76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193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75B39-9AF6-4932-9962-F7EA4706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2479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应用工作流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6DE92-A5A5-4F11-B60A-D37E03AE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003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建档、研究、计划、学习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8DEBC-4F82-4815-B1F5-C65B233D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8D822-2A42-43A1-B24D-F0F1DA7E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领域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68017-E0B5-4D4D-861C-008C510C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03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概念、测验、掌握度、搭子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3C849-C81C-4E72-8F69-5DD6D647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19300"/>
            <a:ext cx="1428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0">
            <a:solidFill>
              <a:srgbClr val="E8F6F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2F8C0-CCCD-460F-8DE9-2F36324A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4790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本地状态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704D8-F237-488C-8819-0F537A1B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00350"/>
            <a:ext cx="10858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JSON / JSONL</a:t>
            </a:r>
          </a:p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Markdown</a:t>
            </a:r>
          </a:p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事件日志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8649A-6C32-4E01-9B7E-509F0599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952750"/>
            <a:ext cx="781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BE35A-F8C3-458F-A491-1D0B0DAF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305175"/>
            <a:ext cx="609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外部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9C060-D728-486E-9247-F35F589C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配置 API Key 时，仅相关文本片段进入模型请求；未配置时使用 Mock。</a:t>
            </a:r>
          </a:p>
        </p:txBody>
      </p:sp>
    </p:spTree>
    <p:extLst>
      <p:ext uri="{BB962C8B-B14F-4D97-AF65-F5344CB8AC3E}">
        <p14:creationId xmlns:p14="http://schemas.microsoft.com/office/powerpoint/2010/main" val="17899652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F29169-2D11-45DD-8E30-C316FB94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49438-FA1B-4893-B83F-629DDAB0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差异化来自资料驱动、计划回流与持续陪伴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FE635-EC21-4DDF-933F-BA7E7315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5F2F7-7A9C-4B31-9508-C4952A70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3FCE1-9252-4339-96C5-01E01107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E11F8-41F2-4843-A834-41E9A426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解决方案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4569A-AF2A-4BA6-8298-4DD9AD15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1925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411EF-74AE-4823-AC82-8AB2EBB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个人资料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3C161-B9BB-4D89-B73F-AD8DE45D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903C3-2FFD-4BDC-A95D-709179B0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621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复习计划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6038E-6A6F-4751-8EB5-BA7E6F80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1925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2BA43-AAA1-4D1D-9896-7437F7B3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621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错题回流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6CC58-D35C-493E-834E-B2753D31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2600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61ADC-C204-42EC-9CB6-500F6EA7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37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持续陪伴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42740-A1C6-479D-804A-929E6027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52726-0663-4214-98F8-7A383298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通用大模型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A7208-E242-4BB7-8304-93B52652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C9CCD-06C0-4ABD-9201-11761CF0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会话内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21EA4-7601-4DCC-A307-8080678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71700"/>
            <a:ext cx="2209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9D42-8A6F-4B79-BC6C-372DDA3D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812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需人工维护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79DD4-0D4E-469A-B158-11A35456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7170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27D7A-48BC-453C-BCB5-08CA97C6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A6815-D371-4AAD-9FFD-D32A9715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26003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AB19B-FBBB-4ADE-BD0C-96BD56B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371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C13B4-1E0A-497D-B491-715ACAF4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60F63D-BFDC-4864-A18E-32C0A996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闪卡工具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863BBD-0527-458C-A191-C90CA372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9085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74DF66-91DC-402D-ACDB-20CE2378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需手工制卡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48CF0-FE9B-415D-8C50-44E92CAF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90850"/>
            <a:ext cx="2209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76E02D-ECBD-4FAD-9144-01979F86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04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间隔复习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9AEA08-2586-4D32-A7B9-90736BCA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085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7740D4-8432-48E8-9535-F4D392E7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004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有限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B26D93-DE79-421F-8D0F-09D85020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26003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ED7721-C18A-4F0E-8262-C099B351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00400"/>
            <a:ext cx="2371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67DA1D-7E19-416D-ADA0-45D8B74D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C869D0-BF0C-48F2-BEF4-4A6CDD32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题库 / 课程平台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ED630A-28A3-46DD-B3CE-E0595F2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100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C754F2-D80E-4A86-8B9D-87386D44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95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以平台内容为主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4CC734-B260-4E15-909D-401C5672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2209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8E41E2-CD9B-4CA1-8429-2C7EE03E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固定路径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9431C4-89E1-46FF-82CA-2834DF7B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000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6DFEB4-8634-4968-9073-4C983E7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195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记录为主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72CF4F-F7D0-4BF8-835C-1B1C9EF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26003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37041B-24AA-4372-A7CA-1D010239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19550"/>
            <a:ext cx="2371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有限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4AC46F-CD72-4853-B71A-E40F0B5E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973919-E4A8-4C1C-A06D-9AFB8CE4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StudyMate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9ABE40-0409-4223-9EED-32A15074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2915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68468A-F704-48A8-9329-60C1BF39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387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用户资料驱动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7A6A7F-45B1-4A60-801B-B15FDFF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2209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AA2390-6E57-42FA-B7A4-12AD5297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387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按考试日期生成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BFA5B0-8B47-4CE3-A09B-D02932DE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8D56FA-7B2B-476E-BF65-956602BF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387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更新掌握度与计划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706C85-2941-4989-AD4D-5E23567E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29150"/>
            <a:ext cx="26003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66A0F5-2DFC-42E5-932E-38CC15C8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38700"/>
            <a:ext cx="2371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搭子状态持续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9DBF38-7073-4B32-BF39-78552D57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比较采用产品类别，不对单一品牌作绝对功能判断。</a:t>
            </a:r>
          </a:p>
        </p:txBody>
      </p:sp>
    </p:spTree>
    <p:extLst>
      <p:ext uri="{BB962C8B-B14F-4D97-AF65-F5344CB8AC3E}">
        <p14:creationId xmlns:p14="http://schemas.microsoft.com/office/powerpoint/2010/main" val="120503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2B17D-FE1E-4F64-86BF-FBF5AAC5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AB26D-847C-4371-90C6-003E5481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首个切口选择 CPA 自学者，市场数字只证明人群存在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C132A-EB14-4987-8B30-77AD2B78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160EE-8124-407D-BEE4-8BB66C29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68027-6B42-4F8D-B9C6-A2182D45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573"/>
                </a:solidFill>
              </a:defRPr>
            </a:pPr>
            <a:r>
              <a:rPr sz="1725" b="0">
                <a:solidFill>
                  <a:srgbClr val="5B6573"/>
                </a:solidFill>
              </a:rPr>
              <a:t>当前不承诺首年付费用户规模。先用小样本验证激活、连续使用与付费意愿。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DB5D8-AFED-4618-AC0D-052D23E2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90FB8-06C4-46C8-BCFE-D2F3C9B3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343 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4E1E2-D05C-4B9A-8D67-0E30C42F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2026 研考报名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2BEAA-7FBB-40B3-B0D9-2209302C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相邻备考人群，教育部公开数据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DB5E5-E3A3-4910-B916-30897D69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139A5-170D-437F-8FF1-AC76DDB6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623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80.44 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8FE81-E656-4400-AAB6-0E5717A3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957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2025 CPA 报名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855C9-D508-423B-8B69-D536C4EA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910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首个切口的人群基础，中注协公开数据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71256-0DF3-4B24-A37C-F61441ED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D852C-9E87-4532-8C92-93056BFB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623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30 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2AC96-A4C7-42F3-9A4F-4BAB3098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957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第一阶段试点目标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49D11-7A86-4700-9D2B-E7E854B5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910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验证目标，不是当前用户成绩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71A16-A2CA-4125-A85A-213D5063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试点漏斗：触达 → 建档并导入资料 → 完成首次测验 → 连续完成 7 天 → 表达付费意愿</a:t>
            </a:r>
          </a:p>
        </p:txBody>
      </p:sp>
    </p:spTree>
    <p:extLst>
      <p:ext uri="{BB962C8B-B14F-4D97-AF65-F5344CB8AC3E}">
        <p14:creationId xmlns:p14="http://schemas.microsoft.com/office/powerpoint/2010/main" val="15261115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3C867-8B37-4DB4-AFAE-C3492D64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5A610-F19B-4583-B334-D47059B1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未来 12 周只验证三件事：能用、愿意坚持、愿意付费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8A73B-505D-4041-A2F8-F8F36B5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8BCE0-0638-4754-B310-E085858B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D7A10-755C-47D1-8799-121623F9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87FD0-9509-4828-8492-6A6BCC94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6159E-F61B-4C25-A6D1-5877CA60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W1–4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DB955-F133-4ABF-B86C-99F242CC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内容质量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D3902-88A4-4E4D-9A39-E7922C9C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真实 LLM 三日金样本</a:t>
            </a:r>
          </a:p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建立题目错误分类</a:t>
            </a:r>
          </a:p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招募首批 CPA 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C64F0-1231-4E23-9709-0F94825C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6652E-72ED-4DBA-8956-157D052C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W5–8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9B7B1-FFC3-49BE-A14D-D6C9B27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连续使用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57C18-C126-4843-8D53-A41BA92D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观察首次闭环完成率</a:t>
            </a:r>
          </a:p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验证 7 天使用路径</a:t>
            </a:r>
          </a:p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修复阻断性问题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C4C54-65A0-42DD-B651-82666F96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6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41671-5A94-43ED-B3E7-5141C7CE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W9–12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508BC-1B37-427E-8485-6C022B3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付费验证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82BDB-29D5-43D5-AF94-0B0500D5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测试 39 元订阅假设</a:t>
            </a:r>
          </a:p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记录模型与服务成本</a:t>
            </a:r>
          </a:p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形成下一轮产品取舍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6157B-8821-4477-AE59-9F337654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所有数字均为下一阶段验收目标，首轮结果将决定是否继续扩大场景。</a:t>
            </a:r>
          </a:p>
        </p:txBody>
      </p:sp>
    </p:spTree>
    <p:extLst>
      <p:ext uri="{BB962C8B-B14F-4D97-AF65-F5344CB8AC3E}">
        <p14:creationId xmlns:p14="http://schemas.microsoft.com/office/powerpoint/2010/main" val="1329647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F28A6-9B52-4F47-ADC4-5A72650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A0A45-75E2-4838-8EF6-681FC242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定价先作为实验，不作为收入承诺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4B267-D1D6-40AE-90BA-DEB98C9D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42646-7335-457E-8974-83997B96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A5CA0-36B1-40E5-876C-D4DA28B0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34778-EC62-4DBB-8018-EF0583B6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免费试用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46FD2-7367-43D1-8A26-25C83459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¥0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D7E21-DA9B-49EA-BF63-94048AF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1 个考试项目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限量测验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体验完整学习闭环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676DB-0126-4872-96D9-61602258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3136C-7197-4A6B-8968-5F5B463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目标：降低首次使用门槛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7407F-B546-4495-904F-4F6FA59F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3830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0">
            <a:solidFill>
              <a:srgbClr val="E8F6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DADC1-0F1C-418F-83AB-099DB836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个人版假设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C7B61-B66E-4CDD-8C6C-655A8391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193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¥39 / 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5AE28-32F2-4A2C-A49B-85DD603C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433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完整计划与复习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测验、错题与成长记录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全部学习搭子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A4DC0-E9DA-4C67-92F0-A1437779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577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4260C-737C-4441-9843-354AB8F6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目标：验证重度备考者付费意愿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C4D1D-ADE4-4358-9B22-F7A1DB97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3830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D141A-6745-4DC9-8BC6-8948B11B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机构合作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27600-BE3C-40CE-BA5C-F290A20A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试点后报价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D9000-CD8E-4CC9-A520-D059C4D9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433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课程资料接入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班级试点与数据导出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部署方式另行评估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F6EEA-EF34-4FD4-9CA1-F5CD7D71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577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CA5E6-1EC7-4645-A864-D4043ABE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6730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前提：先证明 C 端连续使用</a:t>
            </a:r>
          </a:p>
        </p:txBody>
      </p:sp>
    </p:spTree>
    <p:extLst>
      <p:ext uri="{BB962C8B-B14F-4D97-AF65-F5344CB8AC3E}">
        <p14:creationId xmlns:p14="http://schemas.microsoft.com/office/powerpoint/2010/main" val="7002453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7E21ED-24B0-4A85-9A88-B0E432C1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团队 · 不理不器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8B1AF-E935-4657-83ED-E731FC35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五个人覆盖产品、Agent、工程交付与商业验证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1558D-A0EE-4412-8C9B-582A56D5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62B2B-5B42-426E-831A-5BF2457A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6772A-1D73-42F2-AF6E-995F8D9E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9052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63A45-6BE9-4D0D-8C22-695D08C5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乔瑞雪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B4CB1-D13D-4BB7-B2B2-1971B42E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CBF4"/>
                </a:solidFill>
              </a:defRPr>
            </a:pPr>
            <a:r>
              <a:rPr sz="1725" b="1">
                <a:solidFill>
                  <a:srgbClr val="6DCBF4"/>
                </a:solidFill>
              </a:rPr>
              <a:t>队长｜产品与系统负责人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64C98-19B3-4E8B-B1C9-ED8258AD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兰州大学经济学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独立开发者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4CA99-0867-4315-A675-B8FD6E0A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负责产品方向、系统架构、核心开发、Demo 与团队协调。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DC4AC-40EB-4797-B2DF-E76B1FD8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3238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49010-798C-4F45-BF69-930005A2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28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姜亚雷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C574C-24CE-4E2E-BC4D-62904990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后端与工程质量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08160-60AB-4A38-8608-76E4AA43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资深 Java 工程师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负责 API 稳定性、安全边界与工程评审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02EFE-2B39-4292-BEF3-07A13672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3238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0">
            <a:solidFill>
              <a:srgbClr val="E8F6F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A203F-38D8-4103-9415-87B8A42F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28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乔瑞琪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50E0E-3A5E-43CB-BDFF-F0759952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860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Agent 与学习闭环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51E22-5CDF-46DA-82A3-FDD13F91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24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哈尔滨工业大学工业工程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后端 Agent 工程师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5D90B-DDDF-48D1-A579-AF9DFC2F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62375"/>
            <a:ext cx="3238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A77EB-7CDA-4E61-B99E-D879C733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719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芈祉嫣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AD826-BE9F-4B89-92EE-DAAD988A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291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用户验证与商业化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1FE36-1D00-4780-ADAF-F8EC3DFA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672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江南大学金融学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产品经理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7A0A9-CD2B-4995-A642-A1F42016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62375"/>
            <a:ext cx="3238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713AE-5A7C-4F00-861E-B66EC2F6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陈鸿邦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B32BD-4E5F-4D25-A152-E77E450F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全栈交付与测试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BA337-06B2-4F3E-9213-03698644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672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湖南理工大学计算机科学与技术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独立开发者</a:t>
            </a:r>
          </a:p>
        </p:txBody>
      </p:sp>
    </p:spTree>
    <p:extLst>
      <p:ext uri="{BB962C8B-B14F-4D97-AF65-F5344CB8AC3E}">
        <p14:creationId xmlns:p14="http://schemas.microsoft.com/office/powerpoint/2010/main" val="1624191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028B1-AF60-4A57-AFA0-776EE5F7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573"/>
                </a:solidFill>
              </a:defRPr>
            </a:pPr>
            <a:r>
              <a:rPr sz="1350" b="1">
                <a:solidFill>
                  <a:srgbClr val="5B6573"/>
                </a:solidFill>
              </a:rPr>
              <a:t>不理不器 · 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8CB4F-CE98-48A9-BE55-34874295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用 12 周，把可演示 MVP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推进成被真实用户连续使用的产品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8EC01-8BC1-45FF-BCF6-38748044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本轮参赛希望获得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847B5-D978-4C7E-B9B3-1D05555B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01  CPA 种子用户与试点渠道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8AE91-A4CE-43D4-9065-221DE207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338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02  产品化与产业合作指导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DFDBE-012A-4D88-853B-C58ED567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338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03  孵化与后续融资连接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DACFA-5584-4115-BEEB-2C3AAB05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856A0-86A4-45C1-8E69-C30CE7D6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队长：乔瑞雪   ｜   团队：不理不器   ｜   人工智能赛道 · 初创组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B7B19-B0C7-49B7-ABBA-E9A2627B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48546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2026-08-11T15:59:30.9530000Z</dcterms:created>
  <dcterms:modified xsi:type="dcterms:W3CDTF">2026-08-11T15:59:30.9530000Z</dcterms:modified>
</coreProperties>
</file>