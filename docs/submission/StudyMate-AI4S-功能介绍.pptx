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c0462a243e4dc5" /><Relationship Type="http://schemas.openxmlformats.org/officeDocument/2006/relationships/extended-properties" Target="/docProps/app.xml" Id="R01052a22b4794060" /><Relationship Type="http://schemas.openxmlformats.org/officeDocument/2006/relationships/officeDocument" Target="/ppt/presentation.xml" Id="R934028a9857347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669f9d79df433e"/>
  </p:sldMasterIdLst>
  <p:notesMasterIdLst>
    <p:notesMasterId xmlns:r="http://schemas.openxmlformats.org/officeDocument/2006/relationships" r:id="Reee0a3b3e8c24290"/>
  </p:notesMasterIdLst>
  <p:sldIdLst>
    <p:sldId xmlns:r="http://schemas.openxmlformats.org/officeDocument/2006/relationships" id="256" r:id="Rddabe28063364a12"/>
    <p:sldId xmlns:r="http://schemas.openxmlformats.org/officeDocument/2006/relationships" id="257" r:id="R22671d8549a740e7"/>
    <p:sldId xmlns:r="http://schemas.openxmlformats.org/officeDocument/2006/relationships" id="258" r:id="Rfabd97758f8848ec"/>
    <p:sldId xmlns:r="http://schemas.openxmlformats.org/officeDocument/2006/relationships" id="259" r:id="Rb5e51e0886964036"/>
    <p:sldId xmlns:r="http://schemas.openxmlformats.org/officeDocument/2006/relationships" id="260" r:id="Rcfb6d5801e9f47b7"/>
    <p:sldId xmlns:r="http://schemas.openxmlformats.org/officeDocument/2006/relationships" id="261" r:id="R5acd4fda731e4b22"/>
    <p:sldId xmlns:r="http://schemas.openxmlformats.org/officeDocument/2006/relationships" id="262" r:id="Rf16ad66b64af4cf3"/>
    <p:sldId xmlns:r="http://schemas.openxmlformats.org/officeDocument/2006/relationships" id="263" r:id="Rf2c05598c21b4474"/>
    <p:sldId xmlns:r="http://schemas.openxmlformats.org/officeDocument/2006/relationships" id="264" r:id="R80eacd3485eb4a54"/>
    <p:sldId xmlns:r="http://schemas.openxmlformats.org/officeDocument/2006/relationships" id="265" r:id="Rc7b1437c4dc341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393691cb6a4f07" /><Relationship Type="http://schemas.openxmlformats.org/officeDocument/2006/relationships/slideMaster" Target="/ppt/slideMasters/slideMaster1.xml" Id="R8f669f9d79df433e" /><Relationship Type="http://schemas.openxmlformats.org/officeDocument/2006/relationships/notesMaster" Target="/ppt/notesMasters/notesMaster1.xml" Id="Reee0a3b3e8c24290" /><Relationship Type="http://schemas.openxmlformats.org/officeDocument/2006/relationships/presProps" Target="/ppt/presProps.xml" Id="R119c085246f04201" /><Relationship Type="http://schemas.openxmlformats.org/officeDocument/2006/relationships/viewProps" Target="/ppt/viewProps.xml" Id="R1102d5cfb0184b3f" /><Relationship Type="http://schemas.openxmlformats.org/officeDocument/2006/relationships/tableStyles" Target="/ppt/tableStyles.xml" Id="Rb19996123b9845e9" /><Relationship Type="http://schemas.openxmlformats.org/officeDocument/2006/relationships/slide" Target="/ppt/slides/slide1.xml" Id="Rddabe28063364a12" /><Relationship Type="http://schemas.openxmlformats.org/officeDocument/2006/relationships/slide" Target="/ppt/slides/slide2.xml" Id="R22671d8549a740e7" /><Relationship Type="http://schemas.openxmlformats.org/officeDocument/2006/relationships/slide" Target="/ppt/slides/slide3.xml" Id="Rfabd97758f8848ec" /><Relationship Type="http://schemas.openxmlformats.org/officeDocument/2006/relationships/slide" Target="/ppt/slides/slide4.xml" Id="Rb5e51e0886964036" /><Relationship Type="http://schemas.openxmlformats.org/officeDocument/2006/relationships/slide" Target="/ppt/slides/slide5.xml" Id="Rcfb6d5801e9f47b7" /><Relationship Type="http://schemas.openxmlformats.org/officeDocument/2006/relationships/slide" Target="/ppt/slides/slide6.xml" Id="R5acd4fda731e4b22" /><Relationship Type="http://schemas.openxmlformats.org/officeDocument/2006/relationships/slide" Target="/ppt/slides/slide7.xml" Id="Rf16ad66b64af4cf3" /><Relationship Type="http://schemas.openxmlformats.org/officeDocument/2006/relationships/slide" Target="/ppt/slides/slide8.xml" Id="Rf2c05598c21b4474" /><Relationship Type="http://schemas.openxmlformats.org/officeDocument/2006/relationships/slide" Target="/ppt/slides/slide9.xml" Id="R80eacd3485eb4a54" /><Relationship Type="http://schemas.openxmlformats.org/officeDocument/2006/relationships/slide" Target="/ppt/slides/slide10.xml" Id="Rc7b1437c4dc341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601383f38b49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b0694a78cf4ff2" /><Relationship Type="http://schemas.openxmlformats.org/officeDocument/2006/relationships/notesMaster" Target="/ppt/notesMasters/notesMaster1.xml" Id="R4e52820db1e343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7a0ab4fec14a82" /><Relationship Type="http://schemas.openxmlformats.org/officeDocument/2006/relationships/notesMaster" Target="/ppt/notesMasters/notesMaster1.xml" Id="Re5aad22e3ed345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cde80688ed4646" /><Relationship Type="http://schemas.openxmlformats.org/officeDocument/2006/relationships/notesMaster" Target="/ppt/notesMasters/notesMaster1.xml" Id="R8adcb63c88a34d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73c8020a3e498b" /><Relationship Type="http://schemas.openxmlformats.org/officeDocument/2006/relationships/notesMaster" Target="/ppt/notesMasters/notesMaster1.xml" Id="R74580819e49c42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e1697f377142c0" /><Relationship Type="http://schemas.openxmlformats.org/officeDocument/2006/relationships/notesMaster" Target="/ppt/notesMasters/notesMaster1.xml" Id="R9f0b840b2c9746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e2e4d99b184f08" /><Relationship Type="http://schemas.openxmlformats.org/officeDocument/2006/relationships/notesMaster" Target="/ppt/notesMasters/notesMaster1.xml" Id="Ref33f489d2704f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6c7b0cdc97438b" /><Relationship Type="http://schemas.openxmlformats.org/officeDocument/2006/relationships/notesMaster" Target="/ppt/notesMasters/notesMaster1.xml" Id="R60e0e668a1254b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e447ade7ae457d" /><Relationship Type="http://schemas.openxmlformats.org/officeDocument/2006/relationships/notesMaster" Target="/ppt/notesMasters/notesMaster1.xml" Id="Rd64dcdfe77e84e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342a7e67ef4cbb" /><Relationship Type="http://schemas.openxmlformats.org/officeDocument/2006/relationships/notesMaster" Target="/ppt/notesMasters/notesMaster1.xml" Id="R1a76e0c5a10b43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ccb2082a5245f0" /><Relationship Type="http://schemas.openxmlformats.org/officeDocument/2006/relationships/notesMaster" Target="/ppt/notesMasters/notesMaster1.xml" Id="R9d05e92ca70d4b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各位评审好,这是 StudyMate Agent —— 一个教材进、成绩出的本地优先备考智能体。它围绕你自己上传的资料,跑通从学习到测验、批改、错题回流再到动态复习的完整闭环。接下来用十页讲清楚它为什么值得一个奖项。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从每个备考的人都经历过的四个困境说起。学了不考,是因为通用题库和你的教材考纲对不上;考了没学,是因为没有间隔重复和错题追踪;数据上云让人不安;而几个月的孤独长跑,坚持本身就是成本。这四个困境指向同一个答案 —— 我们需要一个围绕自己资料的闭环。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StudyMate 的答案不是再做 一个题库。它做三件事:把你的 PDF 和 Markdown 变成概念图谱;把每个学习动作接进闭环,用间隔重复贯穿始终;以及把数据全部留在本地。同一套 Agent 层,提供 Web 仪表盘和命令行两种入口。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这一页是整个产品的骨架 —— 八步闭环。材料导入、语义切片、概念图谱、生成计划,这是准备阶段;今日任务、自动出题、即时批改,这是每天的执行;最后一步错题回流,掌握度更新之后回到计划再生成。注意左下角这条橙色回线 —— 它是学了不忘的机械保证。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复习靠的不是自觉,是调度。每个新概念按第一、三、七、十五、三十天的节奏初次见面,真实批改之后由 SM-2 算法动态接管 —— 答错提前再见,答对推后重逢。掌握度用指数滑动平均更新,薄弱概念会被自动插进后续计划。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考是长跑,所以有了备考搭子。四个角色各有性格,但更重要的是三件事:跨会话记忆,它记得你的约定和进步;关键时刻介入,出分、连击、薄弱预警等八个时机主动出现;连续打卡,活跃度随坚持自动升级。右上角是真实的对话界面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这是产品的两张主界面。左边是学习会话页,材料、回忆、测验、反馈、复盘一气呵成,刷新也能恢复;右边是首页仪表盘。下面一排是测验、计划、成长趋势和深色主题。Web 给学习者完整体验,命令行给评审可复现的路径。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技术上我们遵循十二要素智能体的风格:大模型只产出结构化 JSON 决策,TypeScript 负责路由和状态。四层架构从界面、API、八个模块化 Agent 到本地存储;批改在服务端原子完成;全链路事件日志可审计。三百二十八项自动化测试保障每一次改动。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复现只需要三条命令,而且不需要任何密钥。安装并生成示例数据,启动服务,跑一遍测试。Mock 模式证明的是工作流执行,配上密钥就切换真实大模型 —— 证据边界我们诚实标注,不夸大。你的教材、错题、掌握度,全部留在本机。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三百二十八项测试,八个智能体,四个搭子角色,五档间隔重复。StudyMate 想做的事情可以浓缩成一句话 —— 让每一次学习都被记住。代码在 GitHub,演示在 B 站,参赛 Skill 已经上架科学发现平台。谢谢各位。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c7d1bfc0b47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a0935e3f247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080f2942b47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2a06df5794e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31367f77d4c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4bfaf6d1e4f6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ce21fd508448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bd32782204a2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9b9bf586544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826d8e2d5422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671d85bfd485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95B80E-F024-4FA6-A4C1-D1332FEEC11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7646088-EE34-4BB5-A36D-98A74E3865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9FAA20-742C-4E9E-AB3D-539CF0489C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F29232-ACFC-4297-A839-79493F2DE3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E0A5B4-AC86-4CE6-9585-8D605361BF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851BFB-EFDD-41BA-ACF2-7539CEE4B5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9B2200-970D-41A0-AB02-B3C7E86C03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70BC0F4-CCAF-45E9-91E5-02D45DDC89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1C9C22-DB90-4AD3-95DB-2CFABB5340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506B60-8474-49A4-A4D9-1D2817DD55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A9691E-EC49-4E91-9046-197A13EB69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94525B-7A2C-4450-B277-EE1F4E92C3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C1A1D71-1221-45C5-A62F-18A2116B10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9DA4B5-5CBD-424A-B303-9C2C87AC0A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22D7A0A-E9B2-4E3A-B44D-3A634078A5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BED0E4-E1AA-4F0C-AC5E-83983F23FF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E9F1D0-1C82-42D6-9588-798377AC39D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6B10DF8-DBC3-4B91-93EF-0B1844EFAC7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49FEB7-F139-4F71-98B1-E80B1792B8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8AA9A7E-0392-4FE8-A9AA-E1AC5A4EA5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D81A657-BF19-446F-B83F-8B0FA675CE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F1A29E-794A-4FCE-B144-54D148FC3A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ABD970-0996-4C5D-8A9A-281C74AD3A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9970462-CB1E-49DC-B165-41E8D2F74EA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A411ACB-202B-4466-979F-74E543F3A52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D1A5A5E-67C7-4E29-A49A-5673D127E99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B4A2CA4-873C-4CE0-9BA8-46C00ABBC2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F824034-AE5C-488F-BC69-B1E4AE2765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5A0EB0-4A07-4CD2-8F42-C659C788C1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D82A54-F155-4944-B810-C6C14F1425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F157721-6870-4801-9BBA-52D1B497CD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368F996-A4E6-4076-8BD8-D0644B4575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2625D00-2701-4F7D-B119-9D5758F03B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67131AA-1102-42D9-9763-EDADD94106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823B631-2AAA-42CA-99B3-AAD3589281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2E8357E-B9B1-4411-801A-B58AA11A6A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D649F2-79FA-4D85-BED4-3ED02257B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2A59EC2-EC57-4A3C-92CC-F4EF95489A0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97C7B96-3354-437D-9D75-A55078020B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5D700A0-A7DA-4193-98DE-0D80BF4CCA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2AE43D7-FEFF-4BFD-B608-701F6CE82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346DC4C-630B-40E4-94A7-D5E37A8EAE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86BD4-8637-43E0-B1D8-027E361CAB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1DBF7CD-F702-42DF-AF93-7175EB32CCB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9E10E87-D642-434F-A9E2-D5D311EBB6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02F1038-900F-4A2F-B93F-E03868A52A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6E4042-1CDE-46A6-97CA-015BAAE65B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625461-EE4E-4D94-8DE1-5FEC760A3F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959572-FD6E-491E-B0D1-3AED688809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5EB9BBC-5AD6-4733-9EAA-ACD0F43528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76B462-EA54-4BC7-A4E6-12236743C5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BFE7B1-E8BB-4C6D-97B3-C7CAACF79B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56D5D2-8781-4FC1-B1A5-B42D6B05AA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0E5A8B8-6753-41B9-A928-A6BA85F5CD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93A86CE-5A3F-43D7-936D-3E69181FD7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4B4F04-6633-4653-8D97-0BF2518331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1C843C-8113-4C8C-B712-205A3AFA80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EAC931-53CE-4982-8946-DB76C78AC5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e749e625924a28" /><Relationship Type="http://schemas.openxmlformats.org/officeDocument/2006/relationships/slideLayout" Target="/ppt/slideLayouts/slideLayout1.xml" Id="R877d02699bcc4b98" /><Relationship Type="http://schemas.openxmlformats.org/officeDocument/2006/relationships/slideLayout" Target="/ppt/slideLayouts/slideLayout2.xml" Id="Re809785e0b0c4fc2" /><Relationship Type="http://schemas.openxmlformats.org/officeDocument/2006/relationships/slideLayout" Target="/ppt/slideLayouts/slideLayout3.xml" Id="Re7e96e5d06ae4884" /><Relationship Type="http://schemas.openxmlformats.org/officeDocument/2006/relationships/slideLayout" Target="/ppt/slideLayouts/slideLayout4.xml" Id="Ra39500f3603542dd" /><Relationship Type="http://schemas.openxmlformats.org/officeDocument/2006/relationships/slideLayout" Target="/ppt/slideLayouts/slideLayout5.xml" Id="Rd8737f3f9f9546c2" /><Relationship Type="http://schemas.openxmlformats.org/officeDocument/2006/relationships/slideLayout" Target="/ppt/slideLayouts/slideLayout6.xml" Id="R4376d7565b9042de" /><Relationship Type="http://schemas.openxmlformats.org/officeDocument/2006/relationships/slideLayout" Target="/ppt/slideLayouts/slideLayout7.xml" Id="Rf574c0d7f4c44fad" /><Relationship Type="http://schemas.openxmlformats.org/officeDocument/2006/relationships/slideLayout" Target="/ppt/slideLayouts/slideLayout8.xml" Id="Rae8ac3202a1542d4" /><Relationship Type="http://schemas.openxmlformats.org/officeDocument/2006/relationships/slideLayout" Target="/ppt/slideLayouts/slideLayout9.xml" Id="Rc6f1323aa9e74ab4" /><Relationship Type="http://schemas.openxmlformats.org/officeDocument/2006/relationships/slideLayout" Target="/ppt/slideLayouts/slideLayout10.xml" Id="R68069ac5b1034f71" /><Relationship Type="http://schemas.openxmlformats.org/officeDocument/2006/relationships/slideLayout" Target="/ppt/slideLayouts/slideLayout11.xml" Id="R2810bc291260473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66D69E3-5913-4F20-86FC-E078B55ADD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6FAB8BA-60DE-40C7-B623-0ADAFFC6A2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F14D57-E0E1-4696-8347-4BD4650169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BAEC62-993A-48A5-A735-AA0B30C2A47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AC23E7-A575-4F9D-B2D6-C8896F2102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7d02699bcc4b98"/>
    <p:sldLayoutId xmlns:r="http://schemas.openxmlformats.org/officeDocument/2006/relationships" id="2147483650" r:id="Re809785e0b0c4fc2"/>
    <p:sldLayoutId xmlns:r="http://schemas.openxmlformats.org/officeDocument/2006/relationships" id="2147483651" r:id="Re7e96e5d06ae4884"/>
    <p:sldLayoutId xmlns:r="http://schemas.openxmlformats.org/officeDocument/2006/relationships" id="2147483652" r:id="Ra39500f3603542dd"/>
    <p:sldLayoutId xmlns:r="http://schemas.openxmlformats.org/officeDocument/2006/relationships" id="2147483653" r:id="Rd8737f3f9f9546c2"/>
    <p:sldLayoutId xmlns:r="http://schemas.openxmlformats.org/officeDocument/2006/relationships" id="2147483654" r:id="R4376d7565b9042de"/>
    <p:sldLayoutId xmlns:r="http://schemas.openxmlformats.org/officeDocument/2006/relationships" id="2147483655" r:id="Rf574c0d7f4c44fad"/>
    <p:sldLayoutId xmlns:r="http://schemas.openxmlformats.org/officeDocument/2006/relationships" id="2147483656" r:id="Rae8ac3202a1542d4"/>
    <p:sldLayoutId xmlns:r="http://schemas.openxmlformats.org/officeDocument/2006/relationships" id="2147483657" r:id="Rc6f1323aa9e74ab4"/>
    <p:sldLayoutId xmlns:r="http://schemas.openxmlformats.org/officeDocument/2006/relationships" id="2147483658" r:id="R68069ac5b1034f71"/>
    <p:sldLayoutId xmlns:r="http://schemas.openxmlformats.org/officeDocument/2006/relationships" id="2147483659" r:id="R2810bc291260473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08de51f5346fb" /><Relationship Type="http://schemas.openxmlformats.org/officeDocument/2006/relationships/image" Target="/ppt/media/image.png" Id="R8ce34c0b41844afc" /><Relationship Type="http://schemas.openxmlformats.org/officeDocument/2006/relationships/notesSlide" Target="/ppt/notesSlides/notesSlide1.xml" Id="R76ff5720cadd44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ccccabead4136" /><Relationship Type="http://schemas.openxmlformats.org/officeDocument/2006/relationships/notesSlide" Target="/ppt/notesSlides/notesSlide2.xml" Id="R6449d721cc2a42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f35d856bd4730" /><Relationship Type="http://schemas.openxmlformats.org/officeDocument/2006/relationships/notesSlide" Target="/ppt/notesSlides/notesSlide3.xml" Id="Ra71ed4d7630147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fe02b27084627" /><Relationship Type="http://schemas.openxmlformats.org/officeDocument/2006/relationships/notesSlide" Target="/ppt/notesSlides/notesSlide4.xml" Id="Rd77ed8c3f8f24a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20cd9285840fa" /><Relationship Type="http://schemas.openxmlformats.org/officeDocument/2006/relationships/notesSlide" Target="/ppt/notesSlides/notesSlide5.xml" Id="R18f126c83a964d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668fa1579481b" /><Relationship Type="http://schemas.openxmlformats.org/officeDocument/2006/relationships/image" Target="/ppt/media/image.jpeg" Id="R9e5247c67c8e4059" /><Relationship Type="http://schemas.openxmlformats.org/officeDocument/2006/relationships/notesSlide" Target="/ppt/notesSlides/notesSlide6.xml" Id="Rc69eaf5250af45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c5159615f466e" /><Relationship Type="http://schemas.openxmlformats.org/officeDocument/2006/relationships/image" Target="/ppt/media/image2.jpeg" Id="R3d539bfe19dd44b8" /><Relationship Type="http://schemas.openxmlformats.org/officeDocument/2006/relationships/image" Target="/ppt/media/image3.jpeg" Id="R5546fc8c187f436f" /><Relationship Type="http://schemas.openxmlformats.org/officeDocument/2006/relationships/image" Target="/ppt/media/image4.jpeg" Id="Rc7908f7640e04890" /><Relationship Type="http://schemas.openxmlformats.org/officeDocument/2006/relationships/image" Target="/ppt/media/image5.jpeg" Id="R1d99bf8026e14668" /><Relationship Type="http://schemas.openxmlformats.org/officeDocument/2006/relationships/image" Target="/ppt/media/image6.jpeg" Id="Ra7d4406549e44fbb" /><Relationship Type="http://schemas.openxmlformats.org/officeDocument/2006/relationships/image" Target="/ppt/media/image7.jpeg" Id="Rddcfa21e9b7245bb" /><Relationship Type="http://schemas.openxmlformats.org/officeDocument/2006/relationships/notesSlide" Target="/ppt/notesSlides/notesSlide7.xml" Id="Rbc3a0fe436ab43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b1642d39c497f" /><Relationship Type="http://schemas.openxmlformats.org/officeDocument/2006/relationships/notesSlide" Target="/ppt/notesSlides/notesSlide8.xml" Id="R843e828c7b9948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021cd0d794426" /><Relationship Type="http://schemas.openxmlformats.org/officeDocument/2006/relationships/notesSlide" Target="/ppt/notesSlides/notesSlide9.xml" Id="R8ac09ea391204f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e9586d3684d83" /><Relationship Type="http://schemas.openxmlformats.org/officeDocument/2006/relationships/notesSlide" Target="/ppt/notesSlides/notesSlide10.xml" Id="R10d0fe82aa7f42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F10348-9A95-47C2-91DF-D9F24E2C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845DA82-5BED-4234-8219-7B1F00D1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BA88F">
                  <a:alpha val="14000"/>
                </a:srgbClr>
              </a:gs>
              <a:gs pos="100000">
                <a:srgbClr val="7BA88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</p:sp>
      <p:sp>
        <p:nvSpPr>
          <p:cNvPr id="4" name="Ellipse 4">
            <a:extLst xmlns:a="http://schemas.openxmlformats.org/drawingml/2006/main">
              <a:ext uri="{FF2B5EF4-FFF2-40B4-BE49-F238E27FC236}">
                <a16:creationId xmlns:a16="http://schemas.microsoft.com/office/drawing/2014/main" id="{B578A8F5-A816-4172-8DDA-38364C29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4857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>
              <a:alpha val="8000"/>
            </a:srgbClr>
          </a:solidFill>
          <a:ln xmlns:a="http://schemas.openxmlformats.org/drawingml/2006/main">
            <a:noFill/>
          </a:ln>
        </p:spPr>
      </p:sp>
      <p:sp>
        <p:nvSpPr>
          <p:cNvPr id="5" name="Ellipse 5">
            <a:extLst xmlns:a="http://schemas.openxmlformats.org/drawingml/2006/main">
              <a:ext uri="{FF2B5EF4-FFF2-40B4-BE49-F238E27FC236}">
                <a16:creationId xmlns:a16="http://schemas.microsoft.com/office/drawing/2014/main" id="{95EA30FA-E000-428B-BBCD-DE0D7916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90500" y="-95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9B6E">
              <a:alpha val="8000"/>
            </a:srgbClr>
          </a:solidFill>
          <a:ln xmlns:a="http://schemas.openxmlformats.org/drawingml/2006/main">
            <a:noFill/>
          </a:ln>
        </p:spPr>
      </p:sp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7A110D7-43FF-4B26-8797-08360E0E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219200"/>
            <a:ext cx="33909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D3CB078-38F5-4CA1-B56F-935DFDD5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342" y="1330642"/>
            <a:ext cx="271387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书生国智科探挑战赛 · 自由赛道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F8B3BB2-3495-4ED9-AA8E-FC7EC817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1969770"/>
            <a:ext cx="4018517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400" b="1">
                <a:solidFill>
                  <a:srgbClr val="2B2A26"/>
                </a:solidFill>
                <a:latin typeface="Verdana"/>
                <a:ea typeface="Verdana"/>
                <a:cs typeface="Verdana"/>
              </a:rPr>
              <a:t>StudyMate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0FE59CA-3EF9-41E9-81DB-6069EDDB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2769870"/>
            <a:ext cx="2160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400" b="1">
                <a:solidFill>
                  <a:srgbClr val="7BA88F"/>
                </a:solidFill>
                <a:latin typeface="Verdana"/>
                <a:ea typeface="Verdana"/>
                <a:cs typeface="Verdana"/>
              </a:rPr>
              <a:t>Agent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434EDDA-6A2B-45A7-8F32-05B3500C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408" y="3779520"/>
            <a:ext cx="2246422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教材进,成绩出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262DBB1-62AD-4D5C-AC01-435BAA30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" y="4282440"/>
            <a:ext cx="572816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本地优先的个人备考闭环 Agent —— 用你自己的资料,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24F84AB-3BD8-4F3D-98C8-21685C59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" y="4625340"/>
            <a:ext cx="549463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跑通「学习 → 测验 → 批改 → 错题回流 → 动态复习」</a:t>
            </a:r>
          </a:p>
        </p:txBody>
      </p:sp>
      <p:sp>
        <p:nvSpPr>
          <p:cNvPr id="1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D848F3A-D8A2-43C4-8CBD-53BDF103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20065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9B6E"/>
          </a:solidFill>
          <a:ln xmlns:a="http://schemas.openxmlformats.org/drawingml/2006/main">
            <a:noFill/>
          </a:ln>
        </p:spPr>
      </p:sp>
      <p:sp>
        <p:nvSpPr>
          <p:cNvPr id="16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2A3EB5-A9AF-42D2-BDCC-B66D5930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0050" y="1257300"/>
            <a:ext cx="3581400" cy="3581400"/>
          </a:xfrm>
          <a:prstGeom xmlns:a="http://schemas.openxmlformats.org/drawingml/2006/main" prst="roundRect">
            <a:avLst>
              <a:gd name="adj" fmla="val 15957"/>
            </a:avLst>
          </a:prstGeom>
          <a:gradFill xmlns:a="http://schemas.openxmlformats.org/drawingml/2006/main">
            <a:gsLst>
              <a:gs pos="0">
                <a:srgbClr val="7BA88F"/>
              </a:gs>
              <a:gs pos="100000">
                <a:srgbClr val="6B9580"/>
              </a:gs>
            </a:gsLst>
            <a:lin ang="2700000" scaled="1"/>
          </a:gradFill>
          <a:ln xmlns:a="http://schemas.openxmlformats.org/drawingml/2006/main">
            <a:noFill/>
          </a:ln>
        </p:spPr>
      </p:sp>
      <p:sp>
        <p:nvSpPr>
          <p:cNvPr id="17" name="Ellipse 17">
            <a:extLst xmlns:a="http://schemas.openxmlformats.org/drawingml/2006/main">
              <a:ext uri="{FF2B5EF4-FFF2-40B4-BE49-F238E27FC236}">
                <a16:creationId xmlns:a16="http://schemas.microsoft.com/office/drawing/2014/main" id="{27FBB7BD-CBE7-4571-92AC-9B2AED55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4300" y="971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9B6E">
              <a:alpha val="55000"/>
            </a:srgbClr>
          </a:solidFill>
          <a:ln xmlns:a="http://schemas.openxmlformats.org/drawingml/2006/main">
            <a:noFill/>
          </a:ln>
        </p:spPr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64277C84-995D-4625-BBB6-EA2F8D98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1900" y="4629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8F3">
              <a:alpha val="50000"/>
            </a:srgbClr>
          </a:solidFill>
          <a:ln xmlns:a="http://schemas.openxmlformats.org/drawingml/2006/main">
            <a:noFill/>
          </a:ln>
        </p:spPr>
      </p:sp>
      <p:pic>
        <p:nvPicPr>
          <p:cNvPr id="41" name="Imag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34c0b41844a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382000" y="1619250"/>
            <a:ext cx="2857500" cy="2857500"/>
          </a:xfrm>
          <a:prstGeom xmlns:a="http://schemas.openxmlformats.org/drawingml/2006/main" prst="roundRect">
            <a:avLst>
              <a:gd name="adj" fmla="val 16000"/>
            </a:avLst>
          </a:prstGeom>
        </p:spPr>
      </p:pic>
      <p:sp>
        <p:nvSpPr>
          <p:cNvPr id="2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DE4AAA8-B619-4287-AB67-7E9A14A7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0" y="1619250"/>
            <a:ext cx="2857500" cy="2857500"/>
          </a:xfrm>
          <a:prstGeom xmlns:a="http://schemas.openxmlformats.org/drawingml/2006/main" prst="roundRect">
            <a:avLst>
              <a:gd name="adj" fmla="val 1600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FAF8F3">
                <a:alpha val="60000"/>
              </a:srgbClr>
            </a:solidFill>
          </a:ln>
        </p:spPr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6400A53B-AE08-4CEB-8B7A-2A49CFA6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60579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0CEA1C-5B04-4107-9B86-E5FB08C4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271260"/>
            <a:ext cx="236768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766C"/>
                </a:solidFill>
                <a:latin typeface="Arial"/>
                <a:ea typeface="Arial"/>
                <a:cs typeface="Arial"/>
              </a:rPr>
              <a:t>科艺融合 × AI4SS · 教育智能体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622FF3C-8C62-4504-9F51-36A65EEA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87839" y="6271260"/>
            <a:ext cx="1900657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2026 · StudyMate Agent</a:t>
            </a:r>
          </a:p>
        </p:txBody>
      </p:sp>
    </p:spTree>
    <p:extLst>
      <p:ext uri="{BB962C8B-B14F-4D97-AF65-F5344CB8AC3E}">
        <p14:creationId xmlns:p14="http://schemas.microsoft.com/office/powerpoint/2010/main" val="3331794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243F41-B4EC-4DF1-BCB1-77DE282B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DD7C174-6864-4FA1-AB7F-C9B06317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95300"/>
            <a:ext cx="9144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A0F63F6-8545-4764-BD00-5F504A96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541" y="587692"/>
            <a:ext cx="66251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01 痛点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F899D99-6242-4831-8BAE-1A310557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993458"/>
            <a:ext cx="4039305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2B2A26"/>
                </a:solidFill>
                <a:latin typeface="Verdana"/>
                <a:ea typeface="Verdana"/>
                <a:cs typeface="Verdana"/>
              </a:rPr>
              <a:t>备考的四个真实困境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8A6E5D6-5DF9-45A4-8930-F7659C6C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694" y="1523048"/>
            <a:ext cx="10126408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通用题库教的不是你的考纲,刷完就忘不是你的错 —— 是缺一个围绕</a:t>
            </a:r>
            <a:r>
              <a:rPr sz="19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你自己资料</a:t>
            </a: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的闭环。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BB91E08-0BEE-4779-B49B-2E3F7DDF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057400"/>
            <a:ext cx="5334000" cy="201930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9" name="Ellipse 9">
            <a:extLst xmlns:a="http://schemas.openxmlformats.org/drawingml/2006/main">
              <a:ext uri="{FF2B5EF4-FFF2-40B4-BE49-F238E27FC236}">
                <a16:creationId xmlns:a16="http://schemas.microsoft.com/office/drawing/2014/main" id="{B6042B13-B6BB-4E97-9BB3-7E8309C1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8D8"/>
          </a:solidFill>
          <a:ln xmlns:a="http://schemas.openxmlformats.org/drawingml/2006/main">
            <a:noFill/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8986459-F8D4-4423-BDC9-572584EA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550" y="2568277"/>
            <a:ext cx="317501" cy="264532"/>
          </a:xfrm>
          <a:custGeom xmlns:a="http://schemas.openxmlformats.org/drawingml/2006/main">
            <a:rect l="l" t="t" r="r" b="b"/>
            <a:pathLst>
              <a:path w="317501" h="264532">
                <a:moveTo>
                  <a:pt x="309563" y="27825"/>
                </a:moveTo>
                <a:cubicBezTo>
                  <a:pt x="313898" y="30328"/>
                  <a:pt x="316799" y="34729"/>
                  <a:pt x="317390" y="39700"/>
                </a:cubicBezTo>
                <a:lnTo>
                  <a:pt x="317501" y="41573"/>
                </a:lnTo>
                <a:lnTo>
                  <a:pt x="317501" y="247948"/>
                </a:lnTo>
                <a:cubicBezTo>
                  <a:pt x="317500" y="253620"/>
                  <a:pt x="314475" y="258861"/>
                  <a:pt x="309563" y="261696"/>
                </a:cubicBezTo>
                <a:cubicBezTo>
                  <a:pt x="304651" y="264532"/>
                  <a:pt x="298600" y="264532"/>
                  <a:pt x="293688" y="261696"/>
                </a:cubicBezTo>
                <a:cubicBezTo>
                  <a:pt x="257164" y="240606"/>
                  <a:pt x="212552" y="239024"/>
                  <a:pt x="174625" y="257473"/>
                </a:cubicBezTo>
                <a:lnTo>
                  <a:pt x="174625" y="16586"/>
                </a:lnTo>
                <a:cubicBezTo>
                  <a:pt x="219027" y="0"/>
                  <a:pt x="268517" y="4122"/>
                  <a:pt x="309563" y="27825"/>
                </a:cubicBezTo>
                <a:moveTo>
                  <a:pt x="142875" y="16601"/>
                </a:moveTo>
                <a:lnTo>
                  <a:pt x="142891" y="257489"/>
                </a:lnTo>
                <a:cubicBezTo>
                  <a:pt x="106502" y="239775"/>
                  <a:pt x="63848" y="240464"/>
                  <a:pt x="28051" y="259347"/>
                </a:cubicBezTo>
                <a:lnTo>
                  <a:pt x="22860" y="262204"/>
                </a:lnTo>
                <a:lnTo>
                  <a:pt x="21225" y="262903"/>
                </a:lnTo>
                <a:lnTo>
                  <a:pt x="20447" y="263157"/>
                </a:lnTo>
                <a:lnTo>
                  <a:pt x="18701" y="263569"/>
                </a:lnTo>
                <a:lnTo>
                  <a:pt x="17732" y="263728"/>
                </a:lnTo>
                <a:lnTo>
                  <a:pt x="15875" y="263823"/>
                </a:lnTo>
                <a:lnTo>
                  <a:pt x="15208" y="263823"/>
                </a:lnTo>
                <a:lnTo>
                  <a:pt x="13462" y="263633"/>
                </a:lnTo>
                <a:lnTo>
                  <a:pt x="12240" y="263411"/>
                </a:lnTo>
                <a:lnTo>
                  <a:pt x="10525" y="262903"/>
                </a:lnTo>
                <a:lnTo>
                  <a:pt x="8525" y="262014"/>
                </a:lnTo>
                <a:lnTo>
                  <a:pt x="7017" y="261125"/>
                </a:lnTo>
                <a:lnTo>
                  <a:pt x="5604" y="260061"/>
                </a:lnTo>
                <a:lnTo>
                  <a:pt x="4651" y="259172"/>
                </a:lnTo>
                <a:lnTo>
                  <a:pt x="3493" y="257870"/>
                </a:lnTo>
                <a:lnTo>
                  <a:pt x="2477" y="256457"/>
                </a:lnTo>
                <a:lnTo>
                  <a:pt x="2127" y="255886"/>
                </a:lnTo>
                <a:lnTo>
                  <a:pt x="1619" y="254933"/>
                </a:lnTo>
                <a:lnTo>
                  <a:pt x="921" y="253298"/>
                </a:lnTo>
                <a:lnTo>
                  <a:pt x="667" y="252520"/>
                </a:lnTo>
                <a:lnTo>
                  <a:pt x="254" y="250774"/>
                </a:lnTo>
                <a:lnTo>
                  <a:pt x="95" y="249806"/>
                </a:lnTo>
                <a:lnTo>
                  <a:pt x="32" y="249028"/>
                </a:lnTo>
                <a:lnTo>
                  <a:pt x="0" y="41573"/>
                </a:lnTo>
                <a:cubicBezTo>
                  <a:pt x="0" y="35901"/>
                  <a:pt x="3026" y="30661"/>
                  <a:pt x="7938" y="27825"/>
                </a:cubicBezTo>
                <a:cubicBezTo>
                  <a:pt x="48986" y="4127"/>
                  <a:pt x="98476" y="11"/>
                  <a:pt x="142875" y="16601"/>
                </a:cubicBezTo>
              </a:path>
            </a:pathLst>
          </a:custGeom>
          <a:solidFill xmlns:a="http://schemas.openxmlformats.org/drawingml/2006/main">
            <a:srgbClr val="C98A86"/>
          </a:solidFill>
          <a:ln xmlns:a="http://schemas.openxmlformats.org/drawingml/2006/main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06A5C87-D3D7-42B7-9FF7-52FDA2F0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6994" y="2437448"/>
            <a:ext cx="1673619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「学了不考」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168F73E-1E2A-415F-AF71-40CAE0DC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7756" y="2777490"/>
            <a:ext cx="378630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通用题库与自己的教材、考纲错位,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7B5A979-1F38-4057-9558-45B274AF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7756" y="3101340"/>
            <a:ext cx="389534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花时间刷的题和真正要考的对不上。</a:t>
            </a:r>
          </a:p>
        </p:txBody>
      </p:sp>
      <p:sp>
        <p:nvSpPr>
          <p:cNvPr id="15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38214CC-B0FF-42AC-9700-FF292413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8400" y="2057400"/>
            <a:ext cx="5334000" cy="201930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56D8E7C5-54D0-420C-86C9-8BE22D30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320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8D8"/>
          </a:solidFill>
          <a:ln xmlns:a="http://schemas.openxmlformats.org/drawingml/2006/main">
            <a:noFill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ABBCBDE-9957-4B4F-8F7D-79229471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7350" y="2539239"/>
            <a:ext cx="333852" cy="334399"/>
          </a:xfrm>
          <a:custGeom xmlns:a="http://schemas.openxmlformats.org/drawingml/2006/main">
            <a:rect l="l" t="t" r="r" b="b"/>
            <a:pathLst>
              <a:path w="333852" h="334399">
                <a:moveTo>
                  <a:pt x="238125" y="28384"/>
                </a:moveTo>
                <a:cubicBezTo>
                  <a:pt x="304283" y="66582"/>
                  <a:pt x="333852" y="146484"/>
                  <a:pt x="308499" y="218548"/>
                </a:cubicBezTo>
                <a:cubicBezTo>
                  <a:pt x="283147" y="290612"/>
                  <a:pt x="210062" y="334399"/>
                  <a:pt x="134561" y="322760"/>
                </a:cubicBezTo>
                <a:cubicBezTo>
                  <a:pt x="59059" y="311122"/>
                  <a:pt x="2554" y="247358"/>
                  <a:pt x="79" y="171005"/>
                </a:cubicBezTo>
                <a:lnTo>
                  <a:pt x="0" y="165861"/>
                </a:lnTo>
                <a:lnTo>
                  <a:pt x="79" y="160718"/>
                </a:lnTo>
                <a:cubicBezTo>
                  <a:pt x="1888" y="104949"/>
                  <a:pt x="32843" y="54223"/>
                  <a:pt x="81612" y="27112"/>
                </a:cubicBezTo>
                <a:cubicBezTo>
                  <a:pt x="130381" y="0"/>
                  <a:pt x="189803" y="483"/>
                  <a:pt x="238125" y="28384"/>
                </a:cubicBezTo>
                <a:close/>
                <a:moveTo>
                  <a:pt x="135112" y="120459"/>
                </a:moveTo>
                <a:cubicBezTo>
                  <a:pt x="128230" y="116362"/>
                  <a:pt x="119374" y="118034"/>
                  <a:pt x="114458" y="124357"/>
                </a:cubicBezTo>
                <a:cubicBezTo>
                  <a:pt x="109543" y="130681"/>
                  <a:pt x="110108" y="139676"/>
                  <a:pt x="115777" y="145335"/>
                </a:cubicBezTo>
                <a:lnTo>
                  <a:pt x="136287" y="165861"/>
                </a:lnTo>
                <a:lnTo>
                  <a:pt x="115777" y="186388"/>
                </a:lnTo>
                <a:lnTo>
                  <a:pt x="114459" y="187880"/>
                </a:lnTo>
                <a:cubicBezTo>
                  <a:pt x="109339" y="194502"/>
                  <a:pt x="110240" y="203962"/>
                  <a:pt x="116518" y="209498"/>
                </a:cubicBezTo>
                <a:cubicBezTo>
                  <a:pt x="122797" y="215034"/>
                  <a:pt x="132295" y="214744"/>
                  <a:pt x="138224" y="208835"/>
                </a:cubicBezTo>
                <a:lnTo>
                  <a:pt x="158750" y="188325"/>
                </a:lnTo>
                <a:lnTo>
                  <a:pt x="179277" y="208835"/>
                </a:lnTo>
                <a:lnTo>
                  <a:pt x="180769" y="210153"/>
                </a:lnTo>
                <a:cubicBezTo>
                  <a:pt x="187391" y="215273"/>
                  <a:pt x="196851" y="214372"/>
                  <a:pt x="202387" y="208093"/>
                </a:cubicBezTo>
                <a:cubicBezTo>
                  <a:pt x="207923" y="201815"/>
                  <a:pt x="207633" y="192317"/>
                  <a:pt x="201724" y="186388"/>
                </a:cubicBezTo>
                <a:lnTo>
                  <a:pt x="181213" y="165861"/>
                </a:lnTo>
                <a:lnTo>
                  <a:pt x="201724" y="145335"/>
                </a:lnTo>
                <a:lnTo>
                  <a:pt x="203042" y="143843"/>
                </a:lnTo>
                <a:cubicBezTo>
                  <a:pt x="208162" y="137221"/>
                  <a:pt x="207261" y="127761"/>
                  <a:pt x="200982" y="122225"/>
                </a:cubicBezTo>
                <a:cubicBezTo>
                  <a:pt x="194704" y="116689"/>
                  <a:pt x="185206" y="116979"/>
                  <a:pt x="179277" y="122888"/>
                </a:cubicBezTo>
                <a:lnTo>
                  <a:pt x="158750" y="143398"/>
                </a:lnTo>
                <a:lnTo>
                  <a:pt x="138224" y="122888"/>
                </a:lnTo>
                <a:lnTo>
                  <a:pt x="136732" y="121570"/>
                </a:lnTo>
                <a:close/>
              </a:path>
            </a:pathLst>
          </a:custGeom>
          <a:solidFill xmlns:a="http://schemas.openxmlformats.org/drawingml/2006/main">
            <a:srgbClr val="C98A86"/>
          </a:solidFill>
          <a:ln xmlns:a="http://schemas.openxmlformats.org/drawingml/2006/main">
            <a:noFill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F57557E6-EE2B-4541-B5E9-877901F5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5794" y="2437448"/>
            <a:ext cx="1673619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「考了没学」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D29D978-9F4A-4B06-801E-D3EDB739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556" y="2777490"/>
            <a:ext cx="406496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看完 ≠ 学会:没有间隔重复、没有错题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6AEE954-1E04-44B2-99CC-A65E5B1B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556" y="3101340"/>
            <a:ext cx="354398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追踪,薄弱点静悄悄地留到考场。</a:t>
            </a:r>
          </a:p>
        </p:txBody>
      </p:sp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5F3DE67-44C4-48CC-B782-DFCE81C8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305300"/>
            <a:ext cx="5334000" cy="201930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23" name="Ellipse 23">
            <a:extLst xmlns:a="http://schemas.openxmlformats.org/drawingml/2006/main">
              <a:ext uri="{FF2B5EF4-FFF2-40B4-BE49-F238E27FC236}">
                <a16:creationId xmlns:a16="http://schemas.microsoft.com/office/drawing/2014/main" id="{BD34B057-4B92-4F3D-9633-1D19F91B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4610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8D8"/>
          </a:solidFill>
          <a:ln xmlns:a="http://schemas.openxmlformats.org/drawingml/2006/main">
            <a:noFill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37A2CA0-2F86-4260-8048-015476E8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1362" y="4794250"/>
            <a:ext cx="331862" cy="317670"/>
          </a:xfrm>
          <a:custGeom xmlns:a="http://schemas.openxmlformats.org/drawingml/2006/main">
            <a:rect l="l" t="t" r="r" b="b"/>
            <a:pathLst>
              <a:path w="331862" h="317670">
                <a:moveTo>
                  <a:pt x="165907" y="0"/>
                </a:moveTo>
                <a:lnTo>
                  <a:pt x="167780" y="111"/>
                </a:lnTo>
                <a:lnTo>
                  <a:pt x="168717" y="238"/>
                </a:lnTo>
                <a:lnTo>
                  <a:pt x="169685" y="445"/>
                </a:lnTo>
                <a:lnTo>
                  <a:pt x="171447" y="984"/>
                </a:lnTo>
                <a:cubicBezTo>
                  <a:pt x="172664" y="1433"/>
                  <a:pt x="173821" y="2030"/>
                  <a:pt x="174892" y="2762"/>
                </a:cubicBezTo>
                <a:lnTo>
                  <a:pt x="176543" y="4064"/>
                </a:lnTo>
                <a:lnTo>
                  <a:pt x="180591" y="7525"/>
                </a:lnTo>
                <a:cubicBezTo>
                  <a:pt x="212616" y="34124"/>
                  <a:pt x="253090" y="48408"/>
                  <a:pt x="294717" y="47800"/>
                </a:cubicBezTo>
                <a:lnTo>
                  <a:pt x="300146" y="47641"/>
                </a:lnTo>
                <a:cubicBezTo>
                  <a:pt x="307451" y="47308"/>
                  <a:pt x="314039" y="52008"/>
                  <a:pt x="316100" y="59023"/>
                </a:cubicBezTo>
                <a:cubicBezTo>
                  <a:pt x="331862" y="112638"/>
                  <a:pt x="325206" y="170352"/>
                  <a:pt x="297656" y="218972"/>
                </a:cubicBezTo>
                <a:cubicBezTo>
                  <a:pt x="270106" y="267592"/>
                  <a:pt x="224016" y="302961"/>
                  <a:pt x="169923" y="316993"/>
                </a:cubicBezTo>
                <a:cubicBezTo>
                  <a:pt x="167310" y="317670"/>
                  <a:pt x="164567" y="317670"/>
                  <a:pt x="161954" y="316993"/>
                </a:cubicBezTo>
                <a:cubicBezTo>
                  <a:pt x="107858" y="302964"/>
                  <a:pt x="61765" y="267597"/>
                  <a:pt x="34211" y="218976"/>
                </a:cubicBezTo>
                <a:cubicBezTo>
                  <a:pt x="6657" y="170356"/>
                  <a:pt x="0" y="112640"/>
                  <a:pt x="15761" y="59023"/>
                </a:cubicBezTo>
                <a:cubicBezTo>
                  <a:pt x="17823" y="52008"/>
                  <a:pt x="24410" y="47308"/>
                  <a:pt x="31715" y="47641"/>
                </a:cubicBezTo>
                <a:cubicBezTo>
                  <a:pt x="75172" y="49627"/>
                  <a:pt x="117806" y="35322"/>
                  <a:pt x="151270" y="7525"/>
                </a:cubicBezTo>
                <a:lnTo>
                  <a:pt x="155445" y="3953"/>
                </a:lnTo>
                <a:lnTo>
                  <a:pt x="156969" y="2762"/>
                </a:lnTo>
                <a:cubicBezTo>
                  <a:pt x="158040" y="2030"/>
                  <a:pt x="159197" y="1433"/>
                  <a:pt x="160414" y="984"/>
                </a:cubicBezTo>
                <a:lnTo>
                  <a:pt x="162192" y="445"/>
                </a:lnTo>
                <a:cubicBezTo>
                  <a:pt x="162814" y="294"/>
                  <a:pt x="163445" y="183"/>
                  <a:pt x="164081" y="111"/>
                </a:cubicBezTo>
                <a:lnTo>
                  <a:pt x="165907" y="0"/>
                </a:lnTo>
                <a:close/>
                <a:moveTo>
                  <a:pt x="165938" y="111125"/>
                </a:moveTo>
                <a:cubicBezTo>
                  <a:pt x="149323" y="111120"/>
                  <a:pt x="135514" y="123926"/>
                  <a:pt x="134268" y="140494"/>
                </a:cubicBezTo>
                <a:lnTo>
                  <a:pt x="134188" y="142875"/>
                </a:lnTo>
                <a:lnTo>
                  <a:pt x="134268" y="145257"/>
                </a:lnTo>
                <a:cubicBezTo>
                  <a:pt x="135062" y="155719"/>
                  <a:pt x="140975" y="165113"/>
                  <a:pt x="150063" y="170355"/>
                </a:cubicBezTo>
                <a:lnTo>
                  <a:pt x="150063" y="198438"/>
                </a:lnTo>
                <a:lnTo>
                  <a:pt x="150175" y="200295"/>
                </a:lnTo>
                <a:cubicBezTo>
                  <a:pt x="151167" y="208636"/>
                  <a:pt x="158484" y="214760"/>
                  <a:pt x="166869" y="214268"/>
                </a:cubicBezTo>
                <a:cubicBezTo>
                  <a:pt x="175254" y="213776"/>
                  <a:pt x="181804" y="206837"/>
                  <a:pt x="181813" y="198438"/>
                </a:cubicBezTo>
                <a:lnTo>
                  <a:pt x="181829" y="170371"/>
                </a:lnTo>
                <a:cubicBezTo>
                  <a:pt x="194276" y="163184"/>
                  <a:pt x="200342" y="148532"/>
                  <a:pt x="196619" y="134650"/>
                </a:cubicBezTo>
                <a:cubicBezTo>
                  <a:pt x="192896" y="120768"/>
                  <a:pt x="180311" y="111119"/>
                  <a:pt x="165938" y="111125"/>
                </a:cubicBezTo>
                <a:close/>
              </a:path>
            </a:pathLst>
          </a:custGeom>
          <a:solidFill xmlns:a="http://schemas.openxmlformats.org/drawingml/2006/main">
            <a:srgbClr val="C98A86"/>
          </a:solidFill>
          <a:ln xmlns:a="http://schemas.openxmlformats.org/drawingml/2006/main">
            <a:noFill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695AB0BA-222D-457E-A620-C65209E7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6994" y="4685348"/>
            <a:ext cx="1673619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「数据上云」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3352D2BB-046D-4658-86DF-6A8E66F2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7756" y="5025390"/>
            <a:ext cx="354398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教材笔记、错题记录高度个人化,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8D077BB-1B0C-4B2E-A011-22E05ACF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7756" y="5349240"/>
            <a:ext cx="316839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传上云端题库总让人不安心。</a:t>
            </a:r>
          </a:p>
        </p:txBody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B6A2CE83-6F67-4E9B-B3A9-7D4153ED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8400" y="4305300"/>
            <a:ext cx="5334000" cy="201930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30" name="Ellipse 30">
            <a:extLst xmlns:a="http://schemas.openxmlformats.org/drawingml/2006/main">
              <a:ext uri="{FF2B5EF4-FFF2-40B4-BE49-F238E27FC236}">
                <a16:creationId xmlns:a16="http://schemas.microsoft.com/office/drawing/2014/main" id="{4F350D14-F7A8-4DF4-910B-DEB59554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3200" y="4610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8D8"/>
          </a:solidFill>
          <a:ln xmlns:a="http://schemas.openxmlformats.org/drawingml/2006/main">
            <a:noFill/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BAEA89D1-ED18-45F1-80F9-4968D9D5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7547" y="4798929"/>
            <a:ext cx="333570" cy="287692"/>
          </a:xfrm>
          <a:custGeom xmlns:a="http://schemas.openxmlformats.org/drawingml/2006/main">
            <a:rect l="l" t="t" r="r" b="b"/>
            <a:pathLst>
              <a:path w="333570" h="287692">
                <a:moveTo>
                  <a:pt x="152694" y="23896"/>
                </a:moveTo>
                <a:lnTo>
                  <a:pt x="152678" y="55059"/>
                </a:lnTo>
                <a:lnTo>
                  <a:pt x="122611" y="115225"/>
                </a:lnTo>
                <a:lnTo>
                  <a:pt x="121865" y="116971"/>
                </a:lnTo>
                <a:cubicBezTo>
                  <a:pt x="119517" y="123524"/>
                  <a:pt x="121711" y="130842"/>
                  <a:pt x="127278" y="135021"/>
                </a:cubicBezTo>
                <a:lnTo>
                  <a:pt x="180173" y="174693"/>
                </a:lnTo>
                <a:lnTo>
                  <a:pt x="154361" y="226350"/>
                </a:lnTo>
                <a:cubicBezTo>
                  <a:pt x="153257" y="228553"/>
                  <a:pt x="152681" y="230983"/>
                  <a:pt x="152678" y="233447"/>
                </a:cubicBezTo>
                <a:lnTo>
                  <a:pt x="152678" y="287692"/>
                </a:lnTo>
                <a:lnTo>
                  <a:pt x="38425" y="174550"/>
                </a:lnTo>
                <a:cubicBezTo>
                  <a:pt x="4572" y="141588"/>
                  <a:pt x="0" y="88789"/>
                  <a:pt x="27684" y="50498"/>
                </a:cubicBezTo>
                <a:cubicBezTo>
                  <a:pt x="55369" y="12207"/>
                  <a:pt x="106940" y="0"/>
                  <a:pt x="148852" y="21817"/>
                </a:cubicBezTo>
                <a:close/>
                <a:moveTo>
                  <a:pt x="244293" y="12165"/>
                </a:moveTo>
                <a:lnTo>
                  <a:pt x="248198" y="12752"/>
                </a:lnTo>
                <a:cubicBezTo>
                  <a:pt x="283411" y="18830"/>
                  <a:pt x="312260" y="44106"/>
                  <a:pt x="322915" y="78214"/>
                </a:cubicBezTo>
                <a:cubicBezTo>
                  <a:pt x="333570" y="112323"/>
                  <a:pt x="324237" y="149525"/>
                  <a:pt x="298744" y="174566"/>
                </a:cubicBezTo>
                <a:lnTo>
                  <a:pt x="298046" y="175153"/>
                </a:lnTo>
                <a:lnTo>
                  <a:pt x="184428" y="287676"/>
                </a:lnTo>
                <a:lnTo>
                  <a:pt x="184428" y="237177"/>
                </a:lnTo>
                <a:lnTo>
                  <a:pt x="214495" y="177043"/>
                </a:lnTo>
                <a:lnTo>
                  <a:pt x="215241" y="175296"/>
                </a:lnTo>
                <a:cubicBezTo>
                  <a:pt x="217589" y="168744"/>
                  <a:pt x="215395" y="161426"/>
                  <a:pt x="209828" y="157246"/>
                </a:cubicBezTo>
                <a:lnTo>
                  <a:pt x="156917" y="117559"/>
                </a:lnTo>
                <a:lnTo>
                  <a:pt x="182745" y="65917"/>
                </a:lnTo>
                <a:cubicBezTo>
                  <a:pt x="183849" y="63715"/>
                  <a:pt x="184425" y="61285"/>
                  <a:pt x="184428" y="58821"/>
                </a:cubicBezTo>
                <a:lnTo>
                  <a:pt x="184428" y="24103"/>
                </a:lnTo>
                <a:cubicBezTo>
                  <a:pt x="202528" y="13667"/>
                  <a:pt x="223558" y="9472"/>
                  <a:pt x="244277" y="12165"/>
                </a:cubicBezTo>
              </a:path>
            </a:pathLst>
          </a:custGeom>
          <a:solidFill xmlns:a="http://schemas.openxmlformats.org/drawingml/2006/main">
            <a:srgbClr val="C98A86"/>
          </a:solidFill>
          <a:ln xmlns:a="http://schemas.openxmlformats.org/drawingml/2006/main">
            <a:noFill/>
          </a:ln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0A9C479D-30AD-4A1B-A9AD-68289F12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5794" y="4685348"/>
            <a:ext cx="1673619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「孤独长跑」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DEB9A3CA-B129-4FFA-9AD1-3A4F5B2A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556" y="5025390"/>
            <a:ext cx="330167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数月备考无人陪伴、无人提醒,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59AD1AC2-28B5-4F17-917B-72B023E0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6556" y="5349240"/>
            <a:ext cx="292608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坚持本身就是巨大的成本。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E0D6C9C-8E74-4AF1-9AEB-BD419714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576060"/>
            <a:ext cx="2194963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StudyMate Agent · 功能介绍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2483DEA8-4039-4ABD-AF3B-F84F6D36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5760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71142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D8311B1-3D48-4924-8642-B90417E4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B45AA0-2D07-4F44-BF97-B19DF11B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95300"/>
            <a:ext cx="9144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B447CAE-01FB-4A96-A438-D48713AD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541" y="587692"/>
            <a:ext cx="66251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02 方案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470936D-F990-4254-BAB0-45F019B1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993458"/>
            <a:ext cx="3841740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2B2A26"/>
                </a:solidFill>
                <a:latin typeface="Verdana"/>
                <a:ea typeface="Verdana"/>
                <a:cs typeface="Verdana"/>
              </a:rPr>
              <a:t>StudyMate 的答案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65853D9-71FC-418A-AA08-112D9EE7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694" y="1523048"/>
            <a:ext cx="9877025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不是又一个题库 —— 它围绕</a:t>
            </a:r>
            <a:r>
              <a:rPr sz="19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你上传的资料</a:t>
            </a: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构建知识体系,并把每个学习动作接进闭环。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52F3DB6-1003-42DD-9964-0DF05661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019300"/>
            <a:ext cx="350520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9" name="Ellipse 9">
            <a:extLst xmlns:a="http://schemas.openxmlformats.org/drawingml/2006/main">
              <a:ext uri="{FF2B5EF4-FFF2-40B4-BE49-F238E27FC236}">
                <a16:creationId xmlns:a16="http://schemas.microsoft.com/office/drawing/2014/main" id="{6D29B912-5ABB-4201-A8CC-510332A8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F07769A-20D0-45EE-B919-B3E885A8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0299" y="2546350"/>
            <a:ext cx="254003" cy="317502"/>
          </a:xfrm>
          <a:custGeom xmlns:a="http://schemas.openxmlformats.org/drawingml/2006/main">
            <a:rect l="l" t="t" r="r" b="b"/>
            <a:pathLst>
              <a:path w="254003" h="317502">
                <a:moveTo>
                  <a:pt x="127002" y="0"/>
                </a:moveTo>
                <a:lnTo>
                  <a:pt x="128859" y="111"/>
                </a:lnTo>
                <a:cubicBezTo>
                  <a:pt x="136153" y="971"/>
                  <a:pt x="141905" y="6723"/>
                  <a:pt x="142766" y="14018"/>
                </a:cubicBezTo>
                <a:lnTo>
                  <a:pt x="142877" y="15875"/>
                </a:lnTo>
                <a:lnTo>
                  <a:pt x="142877" y="79375"/>
                </a:lnTo>
                <a:lnTo>
                  <a:pt x="142956" y="81756"/>
                </a:lnTo>
                <a:cubicBezTo>
                  <a:pt x="144130" y="97376"/>
                  <a:pt x="156519" y="109805"/>
                  <a:pt x="172134" y="111030"/>
                </a:cubicBezTo>
                <a:lnTo>
                  <a:pt x="174627" y="111125"/>
                </a:lnTo>
                <a:lnTo>
                  <a:pt x="238127" y="111125"/>
                </a:lnTo>
                <a:lnTo>
                  <a:pt x="239984" y="111236"/>
                </a:lnTo>
                <a:cubicBezTo>
                  <a:pt x="247279" y="112097"/>
                  <a:pt x="253031" y="117848"/>
                  <a:pt x="253891" y="125143"/>
                </a:cubicBezTo>
                <a:lnTo>
                  <a:pt x="254002" y="127000"/>
                </a:lnTo>
                <a:lnTo>
                  <a:pt x="254002" y="269876"/>
                </a:lnTo>
                <a:cubicBezTo>
                  <a:pt x="254003" y="295094"/>
                  <a:pt x="234346" y="315942"/>
                  <a:pt x="209171" y="317421"/>
                </a:cubicBezTo>
                <a:lnTo>
                  <a:pt x="206377" y="317501"/>
                </a:lnTo>
                <a:lnTo>
                  <a:pt x="47627" y="317501"/>
                </a:lnTo>
                <a:cubicBezTo>
                  <a:pt x="22408" y="317502"/>
                  <a:pt x="1560" y="297845"/>
                  <a:pt x="81" y="272670"/>
                </a:cubicBezTo>
                <a:lnTo>
                  <a:pt x="1" y="269876"/>
                </a:lnTo>
                <a:lnTo>
                  <a:pt x="1" y="47625"/>
                </a:lnTo>
                <a:cubicBezTo>
                  <a:pt x="0" y="22407"/>
                  <a:pt x="19658" y="1559"/>
                  <a:pt x="44832" y="79"/>
                </a:cubicBezTo>
                <a:lnTo>
                  <a:pt x="47627" y="0"/>
                </a:lnTo>
                <a:close/>
                <a:moveTo>
                  <a:pt x="174627" y="222250"/>
                </a:moveTo>
                <a:lnTo>
                  <a:pt x="79377" y="222250"/>
                </a:lnTo>
                <a:cubicBezTo>
                  <a:pt x="70609" y="222250"/>
                  <a:pt x="63502" y="229358"/>
                  <a:pt x="63502" y="238125"/>
                </a:cubicBezTo>
                <a:cubicBezTo>
                  <a:pt x="63502" y="246893"/>
                  <a:pt x="70609" y="254001"/>
                  <a:pt x="79377" y="254001"/>
                </a:cubicBezTo>
                <a:lnTo>
                  <a:pt x="174627" y="254001"/>
                </a:lnTo>
                <a:cubicBezTo>
                  <a:pt x="183394" y="254001"/>
                  <a:pt x="190502" y="246893"/>
                  <a:pt x="190502" y="238125"/>
                </a:cubicBezTo>
                <a:cubicBezTo>
                  <a:pt x="190502" y="229358"/>
                  <a:pt x="183394" y="222250"/>
                  <a:pt x="174627" y="222250"/>
                </a:cubicBezTo>
                <a:moveTo>
                  <a:pt x="174627" y="158750"/>
                </a:moveTo>
                <a:lnTo>
                  <a:pt x="79377" y="158750"/>
                </a:lnTo>
                <a:cubicBezTo>
                  <a:pt x="70609" y="158750"/>
                  <a:pt x="63502" y="165858"/>
                  <a:pt x="63502" y="174625"/>
                </a:cubicBezTo>
                <a:cubicBezTo>
                  <a:pt x="63502" y="183393"/>
                  <a:pt x="70609" y="190500"/>
                  <a:pt x="79377" y="190500"/>
                </a:cubicBezTo>
                <a:lnTo>
                  <a:pt x="174627" y="190500"/>
                </a:lnTo>
                <a:cubicBezTo>
                  <a:pt x="183394" y="190500"/>
                  <a:pt x="190502" y="183393"/>
                  <a:pt x="190502" y="174625"/>
                </a:cubicBezTo>
                <a:cubicBezTo>
                  <a:pt x="190502" y="165858"/>
                  <a:pt x="183394" y="158750"/>
                  <a:pt x="174627" y="158750"/>
                </a:cubicBezTo>
                <a:moveTo>
                  <a:pt x="95252" y="95250"/>
                </a:moveTo>
                <a:lnTo>
                  <a:pt x="79377" y="95250"/>
                </a:lnTo>
                <a:cubicBezTo>
                  <a:pt x="70609" y="95250"/>
                  <a:pt x="63502" y="102358"/>
                  <a:pt x="63502" y="111125"/>
                </a:cubicBezTo>
                <a:cubicBezTo>
                  <a:pt x="63502" y="119893"/>
                  <a:pt x="70609" y="127000"/>
                  <a:pt x="79377" y="127000"/>
                </a:cubicBezTo>
                <a:lnTo>
                  <a:pt x="95252" y="127000"/>
                </a:lnTo>
                <a:cubicBezTo>
                  <a:pt x="104019" y="127000"/>
                  <a:pt x="111127" y="119893"/>
                  <a:pt x="111127" y="111125"/>
                </a:cubicBezTo>
                <a:cubicBezTo>
                  <a:pt x="111127" y="102358"/>
                  <a:pt x="104019" y="95250"/>
                  <a:pt x="95252" y="95250"/>
                </a:cubicBezTo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E77BDAD-C511-4493-9EAB-902644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910" y="2562209"/>
            <a:ext cx="63516" cy="63516"/>
          </a:xfrm>
          <a:custGeom xmlns:a="http://schemas.openxmlformats.org/drawingml/2006/main">
            <a:rect l="l" t="t" r="r" b="b"/>
            <a:pathLst>
              <a:path w="63516" h="63516">
                <a:moveTo>
                  <a:pt x="63516" y="63516"/>
                </a:moveTo>
                <a:lnTo>
                  <a:pt x="16" y="635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7037BE3C-ED85-4F5E-A885-AEB3C371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594" y="3294698"/>
            <a:ext cx="1673619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自有资料驱动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BB73BBA2-B29D-4B15-BB49-06326EF1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3356" y="3691890"/>
            <a:ext cx="260261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导入 PDF / Markdown,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FBB837B-7B4E-4639-B5BF-9F3B5ECF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3356" y="4015740"/>
            <a:ext cx="244144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语义切片、抽取概念与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11A562A-36AC-4313-8A99-673A6A2F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3356" y="4339590"/>
            <a:ext cx="281703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前置依赖,构建知识图谱。</a:t>
            </a:r>
          </a:p>
        </p:txBody>
      </p:sp>
      <p:sp>
        <p:nvSpPr>
          <p:cNvPr id="18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BD7578E-0C3E-4139-BEEE-BCA7AD1C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3400" y="2019300"/>
            <a:ext cx="350520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19" name="Ellipse 19">
            <a:extLst xmlns:a="http://schemas.openxmlformats.org/drawingml/2006/main">
              <a:ext uri="{FF2B5EF4-FFF2-40B4-BE49-F238E27FC236}">
                <a16:creationId xmlns:a16="http://schemas.microsoft.com/office/drawing/2014/main" id="{558B7436-967E-4D61-8DA8-C1533729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20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277F050-1383-45AD-9D8D-45C862F8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8923" y="2568617"/>
            <a:ext cx="98161" cy="74530"/>
          </a:xfrm>
          <a:custGeom xmlns:a="http://schemas.openxmlformats.org/drawingml/2006/main">
            <a:rect l="l" t="t" r="r" b="b"/>
            <a:pathLst>
              <a:path w="98161" h="74530">
                <a:moveTo>
                  <a:pt x="91964" y="6197"/>
                </a:moveTo>
                <a:cubicBezTo>
                  <a:pt x="98161" y="12397"/>
                  <a:pt x="98161" y="22445"/>
                  <a:pt x="91964" y="28645"/>
                </a:cubicBezTo>
                <a:lnTo>
                  <a:pt x="52276" y="68332"/>
                </a:lnTo>
                <a:cubicBezTo>
                  <a:pt x="46077" y="74530"/>
                  <a:pt x="36028" y="74530"/>
                  <a:pt x="29829" y="68332"/>
                </a:cubicBezTo>
                <a:lnTo>
                  <a:pt x="6016" y="44520"/>
                </a:lnTo>
                <a:cubicBezTo>
                  <a:pt x="0" y="38291"/>
                  <a:pt x="86" y="28389"/>
                  <a:pt x="6210" y="22266"/>
                </a:cubicBezTo>
                <a:cubicBezTo>
                  <a:pt x="12333" y="16142"/>
                  <a:pt x="22234" y="16056"/>
                  <a:pt x="28463" y="22072"/>
                </a:cubicBezTo>
                <a:lnTo>
                  <a:pt x="41052" y="34661"/>
                </a:lnTo>
                <a:lnTo>
                  <a:pt x="69516" y="6197"/>
                </a:lnTo>
                <a:cubicBezTo>
                  <a:pt x="75716" y="0"/>
                  <a:pt x="85764" y="0"/>
                  <a:pt x="91964" y="6197"/>
                </a:cubicBezTo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46927D7C-284C-4E9A-9530-AE9BF4A5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8923" y="2663867"/>
            <a:ext cx="98161" cy="74530"/>
          </a:xfrm>
          <a:custGeom xmlns:a="http://schemas.openxmlformats.org/drawingml/2006/main">
            <a:rect l="l" t="t" r="r" b="b"/>
            <a:pathLst>
              <a:path w="98161" h="74530">
                <a:moveTo>
                  <a:pt x="91964" y="6197"/>
                </a:moveTo>
                <a:cubicBezTo>
                  <a:pt x="98161" y="12397"/>
                  <a:pt x="98161" y="22445"/>
                  <a:pt x="91964" y="28645"/>
                </a:cubicBezTo>
                <a:lnTo>
                  <a:pt x="52276" y="68332"/>
                </a:lnTo>
                <a:cubicBezTo>
                  <a:pt x="46077" y="74530"/>
                  <a:pt x="36028" y="74530"/>
                  <a:pt x="29829" y="68332"/>
                </a:cubicBezTo>
                <a:lnTo>
                  <a:pt x="6016" y="44520"/>
                </a:lnTo>
                <a:cubicBezTo>
                  <a:pt x="0" y="38291"/>
                  <a:pt x="86" y="28389"/>
                  <a:pt x="6210" y="22266"/>
                </a:cubicBezTo>
                <a:cubicBezTo>
                  <a:pt x="12333" y="16142"/>
                  <a:pt x="22234" y="16056"/>
                  <a:pt x="28463" y="22072"/>
                </a:cubicBezTo>
                <a:lnTo>
                  <a:pt x="41052" y="34661"/>
                </a:lnTo>
                <a:lnTo>
                  <a:pt x="69516" y="6197"/>
                </a:lnTo>
                <a:cubicBezTo>
                  <a:pt x="75716" y="0"/>
                  <a:pt x="85764" y="0"/>
                  <a:pt x="91964" y="6197"/>
                </a:cubicBezTo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1A41724-923D-4C0A-A96A-F8D072D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8923" y="2759117"/>
            <a:ext cx="98161" cy="74530"/>
          </a:xfrm>
          <a:custGeom xmlns:a="http://schemas.openxmlformats.org/drawingml/2006/main">
            <a:rect l="l" t="t" r="r" b="b"/>
            <a:pathLst>
              <a:path w="98161" h="74530">
                <a:moveTo>
                  <a:pt x="91964" y="6197"/>
                </a:moveTo>
                <a:cubicBezTo>
                  <a:pt x="98161" y="12397"/>
                  <a:pt x="98161" y="22445"/>
                  <a:pt x="91964" y="28645"/>
                </a:cubicBezTo>
                <a:lnTo>
                  <a:pt x="52276" y="68332"/>
                </a:lnTo>
                <a:cubicBezTo>
                  <a:pt x="46077" y="74530"/>
                  <a:pt x="36028" y="74530"/>
                  <a:pt x="29829" y="68332"/>
                </a:cubicBezTo>
                <a:lnTo>
                  <a:pt x="6016" y="44520"/>
                </a:lnTo>
                <a:cubicBezTo>
                  <a:pt x="0" y="38291"/>
                  <a:pt x="86" y="28389"/>
                  <a:pt x="6210" y="22266"/>
                </a:cubicBezTo>
                <a:cubicBezTo>
                  <a:pt x="12333" y="16142"/>
                  <a:pt x="22234" y="16056"/>
                  <a:pt x="28463" y="22072"/>
                </a:cubicBezTo>
                <a:lnTo>
                  <a:pt x="41052" y="34661"/>
                </a:lnTo>
                <a:lnTo>
                  <a:pt x="69516" y="6197"/>
                </a:lnTo>
                <a:cubicBezTo>
                  <a:pt x="75716" y="0"/>
                  <a:pt x="85764" y="0"/>
                  <a:pt x="91964" y="6197"/>
                </a:cubicBezTo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3D60B07-ADA2-43BD-920E-A6FFD8D0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9350" y="2593975"/>
            <a:ext cx="174625" cy="31750"/>
          </a:xfrm>
          <a:custGeom xmlns:a="http://schemas.openxmlformats.org/drawingml/2006/main">
            <a:rect l="l" t="t" r="r" b="b"/>
            <a:pathLst>
              <a:path w="174625" h="31750">
                <a:moveTo>
                  <a:pt x="174625" y="15875"/>
                </a:moveTo>
                <a:cubicBezTo>
                  <a:pt x="174625" y="24643"/>
                  <a:pt x="167518" y="31750"/>
                  <a:pt x="158750" y="31750"/>
                </a:cubicBezTo>
                <a:lnTo>
                  <a:pt x="15875" y="31750"/>
                </a:lnTo>
                <a:cubicBezTo>
                  <a:pt x="7107" y="31750"/>
                  <a:pt x="0" y="24643"/>
                  <a:pt x="0" y="15875"/>
                </a:cubicBezTo>
                <a:cubicBezTo>
                  <a:pt x="0" y="7107"/>
                  <a:pt x="7107" y="0"/>
                  <a:pt x="15875" y="0"/>
                </a:cubicBezTo>
                <a:lnTo>
                  <a:pt x="158750" y="0"/>
                </a:lnTo>
                <a:cubicBezTo>
                  <a:pt x="167518" y="0"/>
                  <a:pt x="174625" y="7107"/>
                  <a:pt x="174625" y="15875"/>
                </a:cubicBezTo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09B5123-3FBF-4860-8AC8-F82BCC4B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9350" y="2689225"/>
            <a:ext cx="174625" cy="31750"/>
          </a:xfrm>
          <a:custGeom xmlns:a="http://schemas.openxmlformats.org/drawingml/2006/main">
            <a:rect l="l" t="t" r="r" b="b"/>
            <a:pathLst>
              <a:path w="174625" h="31750">
                <a:moveTo>
                  <a:pt x="174625" y="15875"/>
                </a:moveTo>
                <a:cubicBezTo>
                  <a:pt x="174625" y="24643"/>
                  <a:pt x="167518" y="31750"/>
                  <a:pt x="158750" y="31750"/>
                </a:cubicBezTo>
                <a:lnTo>
                  <a:pt x="15875" y="31750"/>
                </a:lnTo>
                <a:cubicBezTo>
                  <a:pt x="7107" y="31750"/>
                  <a:pt x="0" y="24643"/>
                  <a:pt x="0" y="15875"/>
                </a:cubicBezTo>
                <a:cubicBezTo>
                  <a:pt x="0" y="7107"/>
                  <a:pt x="7107" y="0"/>
                  <a:pt x="15875" y="0"/>
                </a:cubicBezTo>
                <a:lnTo>
                  <a:pt x="158750" y="0"/>
                </a:lnTo>
                <a:cubicBezTo>
                  <a:pt x="167518" y="0"/>
                  <a:pt x="174625" y="7107"/>
                  <a:pt x="174625" y="15875"/>
                </a:cubicBezTo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3125A282-B836-4530-8A21-B7C10000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9350" y="2784476"/>
            <a:ext cx="174625" cy="31750"/>
          </a:xfrm>
          <a:custGeom xmlns:a="http://schemas.openxmlformats.org/drawingml/2006/main">
            <a:rect l="l" t="t" r="r" b="b"/>
            <a:pathLst>
              <a:path w="174625" h="31750">
                <a:moveTo>
                  <a:pt x="174625" y="15875"/>
                </a:moveTo>
                <a:cubicBezTo>
                  <a:pt x="174625" y="24643"/>
                  <a:pt x="167518" y="31750"/>
                  <a:pt x="158750" y="31750"/>
                </a:cubicBezTo>
                <a:lnTo>
                  <a:pt x="15875" y="31750"/>
                </a:lnTo>
                <a:cubicBezTo>
                  <a:pt x="7107" y="31750"/>
                  <a:pt x="0" y="24643"/>
                  <a:pt x="0" y="15875"/>
                </a:cubicBezTo>
                <a:cubicBezTo>
                  <a:pt x="0" y="7107"/>
                  <a:pt x="7107" y="0"/>
                  <a:pt x="15875" y="0"/>
                </a:cubicBezTo>
                <a:lnTo>
                  <a:pt x="158750" y="0"/>
                </a:lnTo>
                <a:cubicBezTo>
                  <a:pt x="167518" y="0"/>
                  <a:pt x="174625" y="7107"/>
                  <a:pt x="174625" y="15875"/>
                </a:cubicBezTo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6E6C3A7B-A5E4-4742-BDAF-4E1D3A20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6394" y="3294698"/>
            <a:ext cx="1949253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真正的复习闭环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4E1AA425-BC84-4F23-9684-AC912B04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7156" y="3691890"/>
            <a:ext cx="259895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出题→批改→错题→掌握度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4242106B-F9CA-4C76-ADC4-73030895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7156" y="4015740"/>
            <a:ext cx="252740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→计划调整,SM-2 间隔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238F50E-F0BC-436C-B062-DDD11ABD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7156" y="4339590"/>
            <a:ext cx="17145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重复贯穿始终。</a:t>
            </a:r>
          </a:p>
        </p:txBody>
      </p:sp>
      <p:sp>
        <p:nvSpPr>
          <p:cNvPr id="32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0E26AEE-7461-472A-8ED4-50EC54A9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7200" y="2019300"/>
            <a:ext cx="350520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33" name="Ellipse 33">
            <a:extLst xmlns:a="http://schemas.openxmlformats.org/drawingml/2006/main">
              <a:ext uri="{FF2B5EF4-FFF2-40B4-BE49-F238E27FC236}">
                <a16:creationId xmlns:a16="http://schemas.microsoft.com/office/drawing/2014/main" id="{DF25ADA2-E3C4-4F8A-A683-69704FBB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FBEB7199-7432-4F47-8B63-D5304487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97900" y="2546350"/>
            <a:ext cx="254001" cy="317501"/>
          </a:xfrm>
          <a:custGeom xmlns:a="http://schemas.openxmlformats.org/drawingml/2006/main">
            <a:rect l="l" t="t" r="r" b="b"/>
            <a:pathLst>
              <a:path w="254001" h="317501">
                <a:moveTo>
                  <a:pt x="127000" y="0"/>
                </a:moveTo>
                <a:cubicBezTo>
                  <a:pt x="170838" y="0"/>
                  <a:pt x="206375" y="35537"/>
                  <a:pt x="206375" y="79375"/>
                </a:cubicBezTo>
                <a:lnTo>
                  <a:pt x="206375" y="127000"/>
                </a:lnTo>
                <a:cubicBezTo>
                  <a:pt x="232678" y="127000"/>
                  <a:pt x="254001" y="148323"/>
                  <a:pt x="254001" y="174625"/>
                </a:cubicBezTo>
                <a:lnTo>
                  <a:pt x="254001" y="269876"/>
                </a:lnTo>
                <a:cubicBezTo>
                  <a:pt x="254001" y="296178"/>
                  <a:pt x="232678" y="317501"/>
                  <a:pt x="206375" y="317501"/>
                </a:cubicBezTo>
                <a:lnTo>
                  <a:pt x="47625" y="317501"/>
                </a:lnTo>
                <a:cubicBezTo>
                  <a:pt x="21322" y="317501"/>
                  <a:pt x="0" y="296178"/>
                  <a:pt x="0" y="269876"/>
                </a:cubicBezTo>
                <a:lnTo>
                  <a:pt x="0" y="174625"/>
                </a:lnTo>
                <a:cubicBezTo>
                  <a:pt x="0" y="148323"/>
                  <a:pt x="21322" y="127000"/>
                  <a:pt x="47625" y="127000"/>
                </a:cubicBezTo>
                <a:lnTo>
                  <a:pt x="47625" y="79375"/>
                </a:lnTo>
                <a:cubicBezTo>
                  <a:pt x="47625" y="35537"/>
                  <a:pt x="83163" y="0"/>
                  <a:pt x="127000" y="0"/>
                </a:cubicBezTo>
                <a:moveTo>
                  <a:pt x="127000" y="190500"/>
                </a:moveTo>
                <a:cubicBezTo>
                  <a:pt x="110385" y="190495"/>
                  <a:pt x="96576" y="203301"/>
                  <a:pt x="95330" y="219869"/>
                </a:cubicBezTo>
                <a:lnTo>
                  <a:pt x="95250" y="222250"/>
                </a:lnTo>
                <a:cubicBezTo>
                  <a:pt x="95250" y="239786"/>
                  <a:pt x="109465" y="254001"/>
                  <a:pt x="127000" y="254001"/>
                </a:cubicBezTo>
                <a:cubicBezTo>
                  <a:pt x="144535" y="254001"/>
                  <a:pt x="158750" y="239786"/>
                  <a:pt x="158750" y="222250"/>
                </a:cubicBezTo>
                <a:cubicBezTo>
                  <a:pt x="158750" y="204715"/>
                  <a:pt x="144535" y="190500"/>
                  <a:pt x="127000" y="190500"/>
                </a:cubicBezTo>
                <a:moveTo>
                  <a:pt x="127000" y="31750"/>
                </a:moveTo>
                <a:cubicBezTo>
                  <a:pt x="100698" y="31750"/>
                  <a:pt x="79375" y="53073"/>
                  <a:pt x="79375" y="79375"/>
                </a:cubicBezTo>
                <a:lnTo>
                  <a:pt x="79375" y="127000"/>
                </a:lnTo>
                <a:lnTo>
                  <a:pt x="174625" y="127000"/>
                </a:lnTo>
                <a:lnTo>
                  <a:pt x="174625" y="79375"/>
                </a:lnTo>
                <a:cubicBezTo>
                  <a:pt x="174625" y="53073"/>
                  <a:pt x="153303" y="31750"/>
                  <a:pt x="127000" y="31750"/>
                </a:cubicBezTo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25D4B7B3-B96A-4A6B-A3C7-E6BFB725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0194" y="3294698"/>
            <a:ext cx="112235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本地优先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E13180B6-6B92-49BD-8F77-17712AFE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0956" y="3691890"/>
            <a:ext cx="195681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数据全部留在本地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809EAD3-F809-480F-B237-F88D1084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0956" y="4015740"/>
            <a:ext cx="26994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workspace/,无 API Key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6942803A-309A-4923-93DA-167C5CC5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0956" y="4339590"/>
            <a:ext cx="27214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也能 Mock 跑通全流程。</a:t>
            </a:r>
          </a:p>
        </p:txBody>
      </p:sp>
      <p:sp>
        <p:nvSpPr>
          <p:cNvPr id="40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5448DD10-934E-4B8F-9585-D0D46EC4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105400"/>
            <a:ext cx="109728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4BF53A8A-56BC-4353-8D0E-4190C9F5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7061" y="5533291"/>
            <a:ext cx="344279" cy="286484"/>
          </a:xfrm>
          <a:custGeom xmlns:a="http://schemas.openxmlformats.org/drawingml/2006/main">
            <a:rect l="l" t="t" r="r" b="b"/>
            <a:pathLst>
              <a:path w="344279" h="286484">
                <a:moveTo>
                  <a:pt x="172140" y="4"/>
                </a:moveTo>
                <a:cubicBezTo>
                  <a:pt x="239656" y="0"/>
                  <a:pt x="299787" y="42701"/>
                  <a:pt x="322033" y="106447"/>
                </a:cubicBezTo>
                <a:cubicBezTo>
                  <a:pt x="344279" y="170192"/>
                  <a:pt x="323772" y="241035"/>
                  <a:pt x="270914" y="283039"/>
                </a:cubicBezTo>
                <a:cubicBezTo>
                  <a:pt x="268106" y="285270"/>
                  <a:pt x="264626" y="286484"/>
                  <a:pt x="261040" y="286484"/>
                </a:cubicBezTo>
                <a:lnTo>
                  <a:pt x="83240" y="286484"/>
                </a:lnTo>
                <a:cubicBezTo>
                  <a:pt x="79654" y="286484"/>
                  <a:pt x="76173" y="285270"/>
                  <a:pt x="73365" y="283039"/>
                </a:cubicBezTo>
                <a:cubicBezTo>
                  <a:pt x="20507" y="241035"/>
                  <a:pt x="0" y="170192"/>
                  <a:pt x="22246" y="106447"/>
                </a:cubicBezTo>
                <a:cubicBezTo>
                  <a:pt x="44492" y="42701"/>
                  <a:pt x="104624" y="0"/>
                  <a:pt x="172140" y="4"/>
                </a:cubicBezTo>
                <a:moveTo>
                  <a:pt x="238926" y="92698"/>
                </a:moveTo>
                <a:cubicBezTo>
                  <a:pt x="232727" y="86501"/>
                  <a:pt x="222678" y="86501"/>
                  <a:pt x="216479" y="92698"/>
                </a:cubicBezTo>
                <a:lnTo>
                  <a:pt x="180347" y="128798"/>
                </a:lnTo>
                <a:cubicBezTo>
                  <a:pt x="171129" y="126347"/>
                  <a:pt x="161298" y="128164"/>
                  <a:pt x="153564" y="133747"/>
                </a:cubicBezTo>
                <a:cubicBezTo>
                  <a:pt x="145831" y="139330"/>
                  <a:pt x="141012" y="148090"/>
                  <a:pt x="140437" y="157611"/>
                </a:cubicBezTo>
                <a:lnTo>
                  <a:pt x="140390" y="159484"/>
                </a:lnTo>
                <a:cubicBezTo>
                  <a:pt x="140412" y="171808"/>
                  <a:pt x="147564" y="183005"/>
                  <a:pt x="158735" y="188207"/>
                </a:cubicBezTo>
                <a:cubicBezTo>
                  <a:pt x="169907" y="193410"/>
                  <a:pt x="183080" y="191679"/>
                  <a:pt x="192527" y="183766"/>
                </a:cubicBezTo>
                <a:cubicBezTo>
                  <a:pt x="201974" y="175852"/>
                  <a:pt x="205989" y="163187"/>
                  <a:pt x="202826" y="151277"/>
                </a:cubicBezTo>
                <a:lnTo>
                  <a:pt x="238926" y="115145"/>
                </a:lnTo>
                <a:cubicBezTo>
                  <a:pt x="245123" y="108946"/>
                  <a:pt x="245123" y="98897"/>
                  <a:pt x="238926" y="92698"/>
                </a:cubicBezTo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4BC3A3C9-1D3A-4CFB-963A-CB0253A7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0294" y="5371148"/>
            <a:ext cx="1466113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Web 仪表盘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5326E72A-9700-48E6-9D90-21303FD9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3342" y="5759768"/>
            <a:ext cx="277611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npm run serve · localhost:3456</a:t>
            </a:r>
          </a:p>
        </p:txBody>
      </p:sp>
      <p:sp>
        <p:nvSpPr>
          <p:cNvPr id="44" name="Line 44">
            <a:extLst xmlns:a="http://schemas.openxmlformats.org/drawingml/2006/main">
              <a:ext uri="{FF2B5EF4-FFF2-40B4-BE49-F238E27FC236}">
                <a16:creationId xmlns:a16="http://schemas.microsoft.com/office/drawing/2014/main" id="{403B91B4-32D7-47C8-BA9B-6285140B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5334000"/>
            <a:ext cx="9525" cy="685800"/>
          </a:xfrm>
          <a:custGeom xmlns:a="http://schemas.openxmlformats.org/drawingml/2006/main">
            <a:rect l="l" t="t" r="r" b="b"/>
            <a:pathLst>
              <a:path w="9525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A88F">
                <a:alpha val="40000"/>
              </a:srgbClr>
            </a:solidFill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3B484AE4-AD8B-4656-8141-C544679B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0999" y="5518150"/>
            <a:ext cx="254003" cy="317502"/>
          </a:xfrm>
          <a:custGeom xmlns:a="http://schemas.openxmlformats.org/drawingml/2006/main">
            <a:rect l="l" t="t" r="r" b="b"/>
            <a:pathLst>
              <a:path w="254003" h="317502">
                <a:moveTo>
                  <a:pt x="127002" y="0"/>
                </a:moveTo>
                <a:lnTo>
                  <a:pt x="128859" y="111"/>
                </a:lnTo>
                <a:cubicBezTo>
                  <a:pt x="136153" y="971"/>
                  <a:pt x="141905" y="6723"/>
                  <a:pt x="142766" y="14018"/>
                </a:cubicBezTo>
                <a:lnTo>
                  <a:pt x="142877" y="15875"/>
                </a:lnTo>
                <a:lnTo>
                  <a:pt x="142877" y="79375"/>
                </a:lnTo>
                <a:lnTo>
                  <a:pt x="142956" y="81756"/>
                </a:lnTo>
                <a:cubicBezTo>
                  <a:pt x="144130" y="97376"/>
                  <a:pt x="156519" y="109805"/>
                  <a:pt x="172134" y="111030"/>
                </a:cubicBezTo>
                <a:lnTo>
                  <a:pt x="174627" y="111125"/>
                </a:lnTo>
                <a:lnTo>
                  <a:pt x="238127" y="111125"/>
                </a:lnTo>
                <a:lnTo>
                  <a:pt x="239984" y="111236"/>
                </a:lnTo>
                <a:cubicBezTo>
                  <a:pt x="247279" y="112097"/>
                  <a:pt x="253031" y="117848"/>
                  <a:pt x="253891" y="125143"/>
                </a:cubicBezTo>
                <a:lnTo>
                  <a:pt x="254002" y="127000"/>
                </a:lnTo>
                <a:lnTo>
                  <a:pt x="254002" y="269876"/>
                </a:lnTo>
                <a:cubicBezTo>
                  <a:pt x="254003" y="295094"/>
                  <a:pt x="234346" y="315942"/>
                  <a:pt x="209171" y="317421"/>
                </a:cubicBezTo>
                <a:lnTo>
                  <a:pt x="206377" y="317501"/>
                </a:lnTo>
                <a:lnTo>
                  <a:pt x="47627" y="317501"/>
                </a:lnTo>
                <a:cubicBezTo>
                  <a:pt x="22408" y="317502"/>
                  <a:pt x="1560" y="297845"/>
                  <a:pt x="81" y="272670"/>
                </a:cubicBezTo>
                <a:lnTo>
                  <a:pt x="1" y="269876"/>
                </a:lnTo>
                <a:lnTo>
                  <a:pt x="1" y="47625"/>
                </a:lnTo>
                <a:cubicBezTo>
                  <a:pt x="0" y="22407"/>
                  <a:pt x="19658" y="1559"/>
                  <a:pt x="44832" y="79"/>
                </a:cubicBezTo>
                <a:lnTo>
                  <a:pt x="47627" y="0"/>
                </a:lnTo>
                <a:close/>
                <a:moveTo>
                  <a:pt x="102348" y="176308"/>
                </a:moveTo>
                <a:cubicBezTo>
                  <a:pt x="94509" y="172394"/>
                  <a:pt x="84981" y="175569"/>
                  <a:pt x="81059" y="183404"/>
                </a:cubicBezTo>
                <a:lnTo>
                  <a:pt x="65184" y="215154"/>
                </a:lnTo>
                <a:cubicBezTo>
                  <a:pt x="62952" y="219622"/>
                  <a:pt x="62952" y="224879"/>
                  <a:pt x="65184" y="229347"/>
                </a:cubicBezTo>
                <a:lnTo>
                  <a:pt x="81059" y="261097"/>
                </a:lnTo>
                <a:cubicBezTo>
                  <a:pt x="84981" y="268931"/>
                  <a:pt x="94509" y="272107"/>
                  <a:pt x="102348" y="268193"/>
                </a:cubicBezTo>
                <a:lnTo>
                  <a:pt x="103967" y="267272"/>
                </a:lnTo>
                <a:cubicBezTo>
                  <a:pt x="110691" y="262852"/>
                  <a:pt x="113044" y="254100"/>
                  <a:pt x="109444" y="246904"/>
                </a:cubicBezTo>
                <a:lnTo>
                  <a:pt x="97125" y="222250"/>
                </a:lnTo>
                <a:lnTo>
                  <a:pt x="109444" y="197597"/>
                </a:lnTo>
                <a:cubicBezTo>
                  <a:pt x="113358" y="189758"/>
                  <a:pt x="110182" y="180230"/>
                  <a:pt x="102348" y="176308"/>
                </a:cubicBezTo>
                <a:moveTo>
                  <a:pt x="172944" y="183404"/>
                </a:moveTo>
                <a:cubicBezTo>
                  <a:pt x="169022" y="175569"/>
                  <a:pt x="159494" y="172394"/>
                  <a:pt x="151656" y="176308"/>
                </a:cubicBezTo>
                <a:lnTo>
                  <a:pt x="150036" y="177229"/>
                </a:lnTo>
                <a:cubicBezTo>
                  <a:pt x="143313" y="181649"/>
                  <a:pt x="140960" y="190400"/>
                  <a:pt x="144559" y="197597"/>
                </a:cubicBezTo>
                <a:lnTo>
                  <a:pt x="156847" y="222250"/>
                </a:lnTo>
                <a:lnTo>
                  <a:pt x="144544" y="246904"/>
                </a:lnTo>
                <a:cubicBezTo>
                  <a:pt x="140947" y="254690"/>
                  <a:pt x="144185" y="263925"/>
                  <a:pt x="151856" y="267761"/>
                </a:cubicBezTo>
                <a:cubicBezTo>
                  <a:pt x="159527" y="271596"/>
                  <a:pt x="168857" y="268646"/>
                  <a:pt x="172928" y="261097"/>
                </a:cubicBezTo>
                <a:lnTo>
                  <a:pt x="188803" y="229347"/>
                </a:lnTo>
                <a:cubicBezTo>
                  <a:pt x="191036" y="224879"/>
                  <a:pt x="191036" y="219622"/>
                  <a:pt x="188803" y="215154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0AA47BE-AFDC-481E-A02D-CF05369D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5610" y="5534009"/>
            <a:ext cx="63516" cy="63516"/>
          </a:xfrm>
          <a:custGeom xmlns:a="http://schemas.openxmlformats.org/drawingml/2006/main">
            <a:rect l="l" t="t" r="r" b="b"/>
            <a:pathLst>
              <a:path w="63516" h="63516">
                <a:moveTo>
                  <a:pt x="63516" y="63516"/>
                </a:moveTo>
                <a:lnTo>
                  <a:pt x="16" y="635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3B3658C-F6C3-4367-92AA-3F67DDC6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9094" y="5371148"/>
            <a:ext cx="1388623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CLI 命令行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D562CE3-5815-4C9F-B217-0446495D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2142" y="5759768"/>
            <a:ext cx="314867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studymate init / plan / quiz / grade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A5EC261C-7FBE-4BA1-A788-A6584B69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576060"/>
            <a:ext cx="2194963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StudyMate Agent · 功能介绍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A3D44343-D85D-4BEF-AFB8-A0AD0EDF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5760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04127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A6CEBF-102D-4C5D-B88C-DD6E58B3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3B8CE7-C928-4CE9-8DFA-AD75C181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57200"/>
            <a:ext cx="1143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79BD983-8ADA-4E92-A0AE-D92337B0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018" y="549592"/>
            <a:ext cx="104416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03 核心闭环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4864DF0-34FA-4489-BB17-0D488A18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917258"/>
            <a:ext cx="6977992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2B2A26"/>
                </a:solidFill>
                <a:latin typeface="Verdana"/>
                <a:ea typeface="Verdana"/>
                <a:cs typeface="Verdana"/>
              </a:rPr>
              <a:t>学习 → 测验 → 批改 → 错题 → 再学习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3DC7247-9AFA-4E77-99FB-40ACB18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694" y="1427798"/>
            <a:ext cx="1032329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八步构成可执行的闭环,错题最终回流为</a:t>
            </a:r>
            <a:r>
              <a:rPr sz="19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新的学习任务</a:t>
            </a: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—— 这是「学了不忘」的机械保证。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79179DE5-C53F-4165-93D5-00F3CC12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0750" y="2857500"/>
            <a:ext cx="9096375" cy="2190750"/>
          </a:xfrm>
          <a:custGeom xmlns:a="http://schemas.openxmlformats.org/drawingml/2006/main">
            <a:rect l="l" t="t" r="r" b="b"/>
            <a:pathLst>
              <a:path w="9096375" h="2190750">
                <a:moveTo>
                  <a:pt x="0" y="0"/>
                </a:moveTo>
                <a:lnTo>
                  <a:pt x="8001000" y="0"/>
                </a:lnTo>
                <a:cubicBezTo>
                  <a:pt x="8605959" y="0"/>
                  <a:pt x="9096375" y="490416"/>
                  <a:pt x="9096375" y="1095375"/>
                </a:cubicBezTo>
                <a:cubicBezTo>
                  <a:pt x="9096375" y="1700334"/>
                  <a:pt x="8605959" y="2190750"/>
                  <a:pt x="8001000" y="2190750"/>
                </a:cubicBezTo>
                <a:lnTo>
                  <a:pt x="0" y="2190750"/>
                </a:lnTo>
              </a:path>
            </a:pathLst>
          </a:custGeom>
          <a:noFill xmlns:a="http://schemas.openxmlformats.org/drawingml/2006/main"/>
          <a:ln xmlns:a="http://schemas.openxmlformats.org/drawingml/2006/main" w="228600">
            <a:solidFill>
              <a:srgbClr val="E6EFE9"/>
            </a:solidFill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67B5F7B-31E3-47F6-B612-0C8452F1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0750" y="2857500"/>
            <a:ext cx="9096375" cy="2190750"/>
          </a:xfrm>
          <a:custGeom xmlns:a="http://schemas.openxmlformats.org/drawingml/2006/main">
            <a:rect l="l" t="t" r="r" b="b"/>
            <a:pathLst>
              <a:path w="9096375" h="2190750">
                <a:moveTo>
                  <a:pt x="0" y="0"/>
                </a:moveTo>
                <a:lnTo>
                  <a:pt x="8001000" y="0"/>
                </a:lnTo>
                <a:cubicBezTo>
                  <a:pt x="8605959" y="0"/>
                  <a:pt x="9096375" y="490416"/>
                  <a:pt x="9096375" y="1095375"/>
                </a:cubicBezTo>
                <a:cubicBezTo>
                  <a:pt x="9096375" y="1700334"/>
                  <a:pt x="8605959" y="2190750"/>
                  <a:pt x="8001000" y="2190750"/>
                </a:cubicBezTo>
                <a:lnTo>
                  <a:pt x="0" y="2190750"/>
                </a:lnTo>
              </a:path>
            </a:pathLst>
          </a:custGeom>
          <a:noFill xmlns:a="http://schemas.openxmlformats.org/drawingml/2006/main"/>
          <a:ln xmlns:a="http://schemas.openxmlformats.org/drawingml/2006/main" w="23812">
            <a:solidFill>
              <a:srgbClr val="7BA88F">
                <a:alpha val="40000"/>
              </a:srgbClr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688D19D-DE14-45B2-B7BB-941F7738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66900" y="3067050"/>
            <a:ext cx="990600" cy="1981200"/>
          </a:xfrm>
          <a:custGeom xmlns:a="http://schemas.openxmlformats.org/drawingml/2006/main">
            <a:rect l="l" t="t" r="r" b="b"/>
            <a:pathLst>
              <a:path w="990600" h="1981200">
                <a:moveTo>
                  <a:pt x="0" y="1981200"/>
                </a:moveTo>
                <a:cubicBezTo>
                  <a:pt x="547093" y="1981200"/>
                  <a:pt x="990600" y="1537693"/>
                  <a:pt x="990600" y="990600"/>
                </a:cubicBezTo>
                <a:cubicBezTo>
                  <a:pt x="990600" y="443507"/>
                  <a:pt x="547093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49B6E"/>
            </a:solidFill>
            <a:tailEnd type="triangle" w="lg" len="lg"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9F19C22-1B5E-42FD-AB3F-353DA0BF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230195" y="2804802"/>
            <a:ext cx="195057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D49B6E"/>
                </a:solidFill>
                <a:latin typeface="Arial"/>
                <a:ea typeface="Arial"/>
                <a:cs typeface="Arial"/>
              </a:rPr>
              <a:t>错题回流 · 计划再生成</a:t>
            </a:r>
          </a:p>
        </p:txBody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EEC41671-7F9D-4E53-B92F-E6EEE666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66900" y="2533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15141985-36C3-4B92-9B2E-D92FF526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9149" y="2730500"/>
            <a:ext cx="203202" cy="254000"/>
          </a:xfrm>
          <a:custGeom xmlns:a="http://schemas.openxmlformats.org/drawingml/2006/main">
            <a:rect l="l" t="t" r="r" b="b"/>
            <a:pathLst>
              <a:path w="203202" h="254000">
                <a:moveTo>
                  <a:pt x="101601" y="0"/>
                </a:moveTo>
                <a:lnTo>
                  <a:pt x="103087" y="89"/>
                </a:lnTo>
                <a:cubicBezTo>
                  <a:pt x="108922" y="777"/>
                  <a:pt x="113524" y="5379"/>
                  <a:pt x="114212" y="11214"/>
                </a:cubicBezTo>
                <a:lnTo>
                  <a:pt x="114301" y="12700"/>
                </a:lnTo>
                <a:lnTo>
                  <a:pt x="114301" y="63500"/>
                </a:lnTo>
                <a:lnTo>
                  <a:pt x="114364" y="65405"/>
                </a:lnTo>
                <a:cubicBezTo>
                  <a:pt x="115303" y="77900"/>
                  <a:pt x="125215" y="87844"/>
                  <a:pt x="137707" y="88824"/>
                </a:cubicBezTo>
                <a:lnTo>
                  <a:pt x="139701" y="88900"/>
                </a:lnTo>
                <a:lnTo>
                  <a:pt x="190501" y="88900"/>
                </a:lnTo>
                <a:lnTo>
                  <a:pt x="191987" y="88989"/>
                </a:lnTo>
                <a:cubicBezTo>
                  <a:pt x="197822" y="89677"/>
                  <a:pt x="202424" y="94278"/>
                  <a:pt x="203112" y="100114"/>
                </a:cubicBezTo>
                <a:lnTo>
                  <a:pt x="203201" y="101600"/>
                </a:lnTo>
                <a:lnTo>
                  <a:pt x="203201" y="215899"/>
                </a:lnTo>
                <a:cubicBezTo>
                  <a:pt x="203202" y="236074"/>
                  <a:pt x="187476" y="252752"/>
                  <a:pt x="167336" y="253936"/>
                </a:cubicBezTo>
                <a:lnTo>
                  <a:pt x="165101" y="253999"/>
                </a:lnTo>
                <a:lnTo>
                  <a:pt x="38101" y="253999"/>
                </a:lnTo>
                <a:cubicBezTo>
                  <a:pt x="17926" y="254000"/>
                  <a:pt x="1248" y="238275"/>
                  <a:pt x="65" y="218135"/>
                </a:cubicBezTo>
                <a:lnTo>
                  <a:pt x="1" y="215899"/>
                </a:lnTo>
                <a:lnTo>
                  <a:pt x="1" y="38100"/>
                </a:lnTo>
                <a:cubicBezTo>
                  <a:pt x="0" y="17925"/>
                  <a:pt x="15726" y="1247"/>
                  <a:pt x="35866" y="63"/>
                </a:cubicBezTo>
                <a:lnTo>
                  <a:pt x="38101" y="0"/>
                </a:lnTo>
                <a:close/>
                <a:moveTo>
                  <a:pt x="101601" y="114300"/>
                </a:moveTo>
                <a:lnTo>
                  <a:pt x="100458" y="114351"/>
                </a:lnTo>
                <a:lnTo>
                  <a:pt x="99721" y="114439"/>
                </a:lnTo>
                <a:lnTo>
                  <a:pt x="98223" y="114757"/>
                </a:lnTo>
                <a:lnTo>
                  <a:pt x="96889" y="115201"/>
                </a:lnTo>
                <a:lnTo>
                  <a:pt x="95454" y="115887"/>
                </a:lnTo>
                <a:lnTo>
                  <a:pt x="94044" y="116789"/>
                </a:lnTo>
                <a:cubicBezTo>
                  <a:pt x="93540" y="117164"/>
                  <a:pt x="93065" y="117576"/>
                  <a:pt x="92622" y="118021"/>
                </a:cubicBezTo>
                <a:lnTo>
                  <a:pt x="60872" y="149771"/>
                </a:lnTo>
                <a:cubicBezTo>
                  <a:pt x="55914" y="154730"/>
                  <a:pt x="55914" y="162769"/>
                  <a:pt x="60872" y="167728"/>
                </a:cubicBezTo>
                <a:lnTo>
                  <a:pt x="62066" y="168783"/>
                </a:lnTo>
                <a:cubicBezTo>
                  <a:pt x="67122" y="172704"/>
                  <a:pt x="74305" y="172253"/>
                  <a:pt x="78830" y="167728"/>
                </a:cubicBezTo>
                <a:lnTo>
                  <a:pt x="88901" y="157657"/>
                </a:lnTo>
                <a:lnTo>
                  <a:pt x="88901" y="203199"/>
                </a:lnTo>
                <a:cubicBezTo>
                  <a:pt x="88901" y="210213"/>
                  <a:pt x="94587" y="215899"/>
                  <a:pt x="101601" y="215899"/>
                </a:cubicBezTo>
                <a:cubicBezTo>
                  <a:pt x="108615" y="215899"/>
                  <a:pt x="114301" y="210213"/>
                  <a:pt x="114301" y="203199"/>
                </a:cubicBezTo>
                <a:lnTo>
                  <a:pt x="114301" y="157670"/>
                </a:lnTo>
                <a:lnTo>
                  <a:pt x="124372" y="167728"/>
                </a:lnTo>
                <a:cubicBezTo>
                  <a:pt x="129355" y="172541"/>
                  <a:pt x="137276" y="172473"/>
                  <a:pt x="142175" y="167574"/>
                </a:cubicBezTo>
                <a:cubicBezTo>
                  <a:pt x="147074" y="162675"/>
                  <a:pt x="147143" y="154754"/>
                  <a:pt x="142330" y="149771"/>
                </a:cubicBezTo>
                <a:lnTo>
                  <a:pt x="110580" y="118021"/>
                </a:lnTo>
                <a:lnTo>
                  <a:pt x="109538" y="117094"/>
                </a:lnTo>
                <a:lnTo>
                  <a:pt x="108218" y="116154"/>
                </a:lnTo>
                <a:lnTo>
                  <a:pt x="106973" y="115494"/>
                </a:lnTo>
                <a:lnTo>
                  <a:pt x="105576" y="114935"/>
                </a:lnTo>
                <a:lnTo>
                  <a:pt x="104154" y="114554"/>
                </a:lnTo>
                <a:lnTo>
                  <a:pt x="102553" y="1143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44F3ACB-2D3E-49BC-BEEE-1C6B6A11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37" y="2743187"/>
            <a:ext cx="50813" cy="50813"/>
          </a:xfrm>
          <a:custGeom xmlns:a="http://schemas.openxmlformats.org/drawingml/2006/main">
            <a:rect l="l" t="t" r="r" b="b"/>
            <a:pathLst>
              <a:path w="50813" h="50813">
                <a:moveTo>
                  <a:pt x="50813" y="50813"/>
                </a:moveTo>
                <a:lnTo>
                  <a:pt x="13" y="508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CEEB373-6FDE-4ECC-90E2-0CA7961F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609" y="3310890"/>
            <a:ext cx="125228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① 导入材料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3A2E2CE-EC85-4D8A-8129-6E495FF2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9077" y="3645218"/>
            <a:ext cx="142334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PDF / Markdown</a:t>
            </a:r>
          </a:p>
        </p:txBody>
      </p:sp>
      <p:sp>
        <p:nvSpPr>
          <p:cNvPr id="21" name="Ellipse 21">
            <a:extLst xmlns:a="http://schemas.openxmlformats.org/drawingml/2006/main">
              <a:ext uri="{FF2B5EF4-FFF2-40B4-BE49-F238E27FC236}">
                <a16:creationId xmlns:a16="http://schemas.microsoft.com/office/drawing/2014/main" id="{3246B1E5-263E-4977-A989-7987C4CE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3900" y="2533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820ACF9-B1B5-4F0B-95D2-02251635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3450" y="2743200"/>
            <a:ext cx="101600" cy="88900"/>
          </a:xfrm>
          <a:custGeom xmlns:a="http://schemas.openxmlformats.org/drawingml/2006/main">
            <a:rect l="l" t="t" r="r" b="b"/>
            <a:pathLst>
              <a:path w="101600" h="88900">
                <a:moveTo>
                  <a:pt x="63500" y="0"/>
                </a:moveTo>
                <a:cubicBezTo>
                  <a:pt x="84542" y="0"/>
                  <a:pt x="101600" y="17058"/>
                  <a:pt x="101600" y="38100"/>
                </a:cubicBezTo>
                <a:lnTo>
                  <a:pt x="101600" y="50800"/>
                </a:lnTo>
                <a:cubicBezTo>
                  <a:pt x="101600" y="71842"/>
                  <a:pt x="84542" y="88900"/>
                  <a:pt x="63500" y="88900"/>
                </a:cubicBezTo>
                <a:lnTo>
                  <a:pt x="38100" y="88900"/>
                </a:lnTo>
                <a:cubicBezTo>
                  <a:pt x="17058" y="88900"/>
                  <a:pt x="0" y="71842"/>
                  <a:pt x="0" y="50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7712473-1ED3-4A26-80E4-D4D159D5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3450" y="2857500"/>
            <a:ext cx="101600" cy="114300"/>
          </a:xfrm>
          <a:custGeom xmlns:a="http://schemas.openxmlformats.org/drawingml/2006/main">
            <a:rect l="l" t="t" r="r" b="b"/>
            <a:pathLst>
              <a:path w="101600" h="114300">
                <a:moveTo>
                  <a:pt x="63500" y="0"/>
                </a:moveTo>
                <a:cubicBezTo>
                  <a:pt x="84542" y="0"/>
                  <a:pt x="101600" y="17058"/>
                  <a:pt x="101600" y="38100"/>
                </a:cubicBezTo>
                <a:lnTo>
                  <a:pt x="101600" y="76200"/>
                </a:lnTo>
                <a:cubicBezTo>
                  <a:pt x="101600" y="97242"/>
                  <a:pt x="84542" y="114300"/>
                  <a:pt x="63500" y="114300"/>
                </a:cubicBezTo>
                <a:lnTo>
                  <a:pt x="38100" y="114300"/>
                </a:lnTo>
                <a:cubicBezTo>
                  <a:pt x="17058" y="114300"/>
                  <a:pt x="0" y="97242"/>
                  <a:pt x="0" y="762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D1A6B15-6EB6-4876-8177-0E8039A1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0450" y="2743200"/>
            <a:ext cx="101600" cy="114300"/>
          </a:xfrm>
          <a:custGeom xmlns:a="http://schemas.openxmlformats.org/drawingml/2006/main">
            <a:rect l="l" t="t" r="r" b="b"/>
            <a:pathLst>
              <a:path w="101600" h="114300">
                <a:moveTo>
                  <a:pt x="63500" y="0"/>
                </a:moveTo>
                <a:cubicBezTo>
                  <a:pt x="84542" y="0"/>
                  <a:pt x="101600" y="17058"/>
                  <a:pt x="101600" y="38100"/>
                </a:cubicBezTo>
                <a:lnTo>
                  <a:pt x="101600" y="76200"/>
                </a:lnTo>
                <a:cubicBezTo>
                  <a:pt x="101600" y="97242"/>
                  <a:pt x="84542" y="114300"/>
                  <a:pt x="63500" y="114300"/>
                </a:cubicBezTo>
                <a:lnTo>
                  <a:pt x="38100" y="114300"/>
                </a:lnTo>
                <a:cubicBezTo>
                  <a:pt x="17058" y="114300"/>
                  <a:pt x="0" y="97242"/>
                  <a:pt x="0" y="762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DE38958-7331-4582-B2E5-AEB9525E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0450" y="2882900"/>
            <a:ext cx="101600" cy="88900"/>
          </a:xfrm>
          <a:custGeom xmlns:a="http://schemas.openxmlformats.org/drawingml/2006/main">
            <a:rect l="l" t="t" r="r" b="b"/>
            <a:pathLst>
              <a:path w="101600" h="88900">
                <a:moveTo>
                  <a:pt x="63500" y="0"/>
                </a:moveTo>
                <a:cubicBezTo>
                  <a:pt x="84542" y="0"/>
                  <a:pt x="101600" y="17058"/>
                  <a:pt x="101600" y="38100"/>
                </a:cubicBezTo>
                <a:lnTo>
                  <a:pt x="101600" y="50800"/>
                </a:lnTo>
                <a:cubicBezTo>
                  <a:pt x="101600" y="71842"/>
                  <a:pt x="84542" y="88900"/>
                  <a:pt x="63500" y="88900"/>
                </a:cubicBezTo>
                <a:lnTo>
                  <a:pt x="38100" y="88900"/>
                </a:lnTo>
                <a:cubicBezTo>
                  <a:pt x="17058" y="88900"/>
                  <a:pt x="0" y="71842"/>
                  <a:pt x="0" y="50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DC754D27-B5F9-41DA-8031-FA1E0043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1609" y="3310890"/>
            <a:ext cx="125228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② 语义切片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BCBFB96-52ED-408E-BCDC-8C3928BB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14812" y="3645218"/>
            <a:ext cx="12858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按标题层级分块</a:t>
            </a:r>
          </a:p>
        </p:txBody>
      </p:sp>
      <p:sp>
        <p:nvSpPr>
          <p:cNvPr id="30" name="Ellipse 30">
            <a:extLst xmlns:a="http://schemas.openxmlformats.org/drawingml/2006/main">
              <a:ext uri="{FF2B5EF4-FFF2-40B4-BE49-F238E27FC236}">
                <a16:creationId xmlns:a16="http://schemas.microsoft.com/office/drawing/2014/main" id="{827F4D2A-D9C1-4EB2-852F-25A8616D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0900" y="2533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0917AA0D-BC33-418F-8EFC-89D98AEC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97750" y="2730500"/>
            <a:ext cx="253999" cy="253999"/>
          </a:xfrm>
          <a:custGeom xmlns:a="http://schemas.openxmlformats.org/drawingml/2006/main">
            <a:rect l="l" t="t" r="r" b="b"/>
            <a:pathLst>
              <a:path w="253999" h="253999">
                <a:moveTo>
                  <a:pt x="12700" y="0"/>
                </a:moveTo>
                <a:cubicBezTo>
                  <a:pt x="19714" y="0"/>
                  <a:pt x="25400" y="5686"/>
                  <a:pt x="25400" y="12700"/>
                </a:cubicBezTo>
                <a:lnTo>
                  <a:pt x="25400" y="228599"/>
                </a:lnTo>
                <a:lnTo>
                  <a:pt x="241299" y="228599"/>
                </a:lnTo>
                <a:cubicBezTo>
                  <a:pt x="247738" y="228600"/>
                  <a:pt x="253157" y="233419"/>
                  <a:pt x="253910" y="239814"/>
                </a:cubicBezTo>
                <a:lnTo>
                  <a:pt x="253999" y="241299"/>
                </a:lnTo>
                <a:cubicBezTo>
                  <a:pt x="253999" y="248313"/>
                  <a:pt x="248313" y="253999"/>
                  <a:pt x="241299" y="253999"/>
                </a:cubicBezTo>
                <a:lnTo>
                  <a:pt x="12700" y="253999"/>
                </a:lnTo>
                <a:cubicBezTo>
                  <a:pt x="5686" y="253999"/>
                  <a:pt x="0" y="248313"/>
                  <a:pt x="0" y="241299"/>
                </a:cubicBezTo>
                <a:lnTo>
                  <a:pt x="0" y="12700"/>
                </a:lnTo>
                <a:cubicBezTo>
                  <a:pt x="0" y="5686"/>
                  <a:pt x="5686" y="0"/>
                  <a:pt x="127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AC81FA4-D979-4CE7-8199-82F4937C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44384" y="2755900"/>
            <a:ext cx="209832" cy="181640"/>
          </a:xfrm>
          <a:custGeom xmlns:a="http://schemas.openxmlformats.org/drawingml/2006/main">
            <a:rect l="l" t="t" r="r" b="b"/>
            <a:pathLst>
              <a:path w="209832" h="181640">
                <a:moveTo>
                  <a:pt x="169265" y="0"/>
                </a:moveTo>
                <a:cubicBezTo>
                  <a:pt x="183853" y="33"/>
                  <a:pt x="197142" y="8393"/>
                  <a:pt x="203487" y="21529"/>
                </a:cubicBezTo>
                <a:cubicBezTo>
                  <a:pt x="209832" y="34666"/>
                  <a:pt x="208119" y="50272"/>
                  <a:pt x="199075" y="61719"/>
                </a:cubicBezTo>
                <a:cubicBezTo>
                  <a:pt x="190031" y="73166"/>
                  <a:pt x="175245" y="78444"/>
                  <a:pt x="160997" y="75311"/>
                </a:cubicBezTo>
                <a:lnTo>
                  <a:pt x="135572" y="115976"/>
                </a:lnTo>
                <a:cubicBezTo>
                  <a:pt x="147569" y="131049"/>
                  <a:pt x="146428" y="152705"/>
                  <a:pt x="132913" y="166433"/>
                </a:cubicBezTo>
                <a:cubicBezTo>
                  <a:pt x="119398" y="180160"/>
                  <a:pt x="97762" y="181640"/>
                  <a:pt x="82504" y="169880"/>
                </a:cubicBezTo>
                <a:cubicBezTo>
                  <a:pt x="67246" y="158121"/>
                  <a:pt x="63166" y="136822"/>
                  <a:pt x="72999" y="120256"/>
                </a:cubicBezTo>
                <a:lnTo>
                  <a:pt x="55499" y="99238"/>
                </a:lnTo>
                <a:cubicBezTo>
                  <a:pt x="38100" y="105680"/>
                  <a:pt x="18590" y="98653"/>
                  <a:pt x="9295" y="82596"/>
                </a:cubicBezTo>
                <a:cubicBezTo>
                  <a:pt x="0" y="66540"/>
                  <a:pt x="3622" y="46122"/>
                  <a:pt x="17874" y="34242"/>
                </a:cubicBezTo>
                <a:cubicBezTo>
                  <a:pt x="32125" y="22363"/>
                  <a:pt x="52862" y="22477"/>
                  <a:pt x="66982" y="34511"/>
                </a:cubicBezTo>
                <a:cubicBezTo>
                  <a:pt x="81103" y="46546"/>
                  <a:pt x="84502" y="67002"/>
                  <a:pt x="75031" y="82956"/>
                </a:cubicBezTo>
                <a:lnTo>
                  <a:pt x="92532" y="103962"/>
                </a:lnTo>
                <a:cubicBezTo>
                  <a:pt x="99408" y="101412"/>
                  <a:pt x="106875" y="100905"/>
                  <a:pt x="114033" y="102501"/>
                </a:cubicBezTo>
                <a:lnTo>
                  <a:pt x="139458" y="61823"/>
                </a:lnTo>
                <a:cubicBezTo>
                  <a:pt x="130350" y="50378"/>
                  <a:pt x="128599" y="34729"/>
                  <a:pt x="134951" y="21554"/>
                </a:cubicBezTo>
                <a:cubicBezTo>
                  <a:pt x="141304" y="8378"/>
                  <a:pt x="154638" y="2"/>
                  <a:pt x="16926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48D0D63B-87A9-4F09-B54D-AF9B3942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98609" y="3310890"/>
            <a:ext cx="125228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③ 概念图谱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BDCA5E7A-1CDA-40A2-8B06-D46FA7E9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8182" y="3645218"/>
            <a:ext cx="131313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概念 + 前置依赖</a:t>
            </a:r>
          </a:p>
        </p:txBody>
      </p:sp>
      <p:sp>
        <p:nvSpPr>
          <p:cNvPr id="37" name="Ellipse 37">
            <a:extLst xmlns:a="http://schemas.openxmlformats.org/drawingml/2006/main">
              <a:ext uri="{FF2B5EF4-FFF2-40B4-BE49-F238E27FC236}">
                <a16:creationId xmlns:a16="http://schemas.microsoft.com/office/drawing/2014/main" id="{10A9B469-2884-4592-8949-19C5E8B7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67900" y="2533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3158B218-E199-4EDE-9751-54EAC5B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7449" y="2730142"/>
            <a:ext cx="228602" cy="254358"/>
          </a:xfrm>
          <a:custGeom xmlns:a="http://schemas.openxmlformats.org/drawingml/2006/main">
            <a:rect l="l" t="t" r="r" b="b"/>
            <a:pathLst>
              <a:path w="228602" h="254358">
                <a:moveTo>
                  <a:pt x="165101" y="358"/>
                </a:moveTo>
                <a:cubicBezTo>
                  <a:pt x="171539" y="359"/>
                  <a:pt x="176958" y="5178"/>
                  <a:pt x="177712" y="11572"/>
                </a:cubicBezTo>
                <a:lnTo>
                  <a:pt x="177801" y="13058"/>
                </a:lnTo>
                <a:lnTo>
                  <a:pt x="177801" y="25758"/>
                </a:lnTo>
                <a:lnTo>
                  <a:pt x="190501" y="25758"/>
                </a:lnTo>
                <a:cubicBezTo>
                  <a:pt x="210675" y="25757"/>
                  <a:pt x="227353" y="41483"/>
                  <a:pt x="228537" y="61623"/>
                </a:cubicBezTo>
                <a:lnTo>
                  <a:pt x="228601" y="63858"/>
                </a:lnTo>
                <a:lnTo>
                  <a:pt x="228601" y="216257"/>
                </a:lnTo>
                <a:cubicBezTo>
                  <a:pt x="228602" y="236432"/>
                  <a:pt x="212876" y="253110"/>
                  <a:pt x="192736" y="254294"/>
                </a:cubicBezTo>
                <a:lnTo>
                  <a:pt x="190501" y="254357"/>
                </a:lnTo>
                <a:lnTo>
                  <a:pt x="38101" y="254357"/>
                </a:lnTo>
                <a:cubicBezTo>
                  <a:pt x="17926" y="254358"/>
                  <a:pt x="1248" y="238632"/>
                  <a:pt x="65" y="218493"/>
                </a:cubicBezTo>
                <a:lnTo>
                  <a:pt x="1" y="216257"/>
                </a:lnTo>
                <a:lnTo>
                  <a:pt x="1" y="63858"/>
                </a:lnTo>
                <a:cubicBezTo>
                  <a:pt x="0" y="43683"/>
                  <a:pt x="15726" y="27005"/>
                  <a:pt x="35866" y="25821"/>
                </a:cubicBezTo>
                <a:lnTo>
                  <a:pt x="38101" y="25758"/>
                </a:lnTo>
                <a:lnTo>
                  <a:pt x="50801" y="25758"/>
                </a:lnTo>
                <a:lnTo>
                  <a:pt x="50801" y="13058"/>
                </a:lnTo>
                <a:cubicBezTo>
                  <a:pt x="50808" y="6338"/>
                  <a:pt x="56049" y="788"/>
                  <a:pt x="62757" y="394"/>
                </a:cubicBezTo>
                <a:cubicBezTo>
                  <a:pt x="69465" y="0"/>
                  <a:pt x="75318" y="4900"/>
                  <a:pt x="76112" y="11572"/>
                </a:cubicBezTo>
                <a:lnTo>
                  <a:pt x="76201" y="13058"/>
                </a:lnTo>
                <a:lnTo>
                  <a:pt x="76201" y="25758"/>
                </a:lnTo>
                <a:lnTo>
                  <a:pt x="152401" y="25758"/>
                </a:lnTo>
                <a:lnTo>
                  <a:pt x="152401" y="13058"/>
                </a:lnTo>
                <a:cubicBezTo>
                  <a:pt x="152401" y="6044"/>
                  <a:pt x="158087" y="358"/>
                  <a:pt x="165101" y="358"/>
                </a:cubicBezTo>
                <a:moveTo>
                  <a:pt x="203201" y="101958"/>
                </a:moveTo>
                <a:lnTo>
                  <a:pt x="25401" y="101958"/>
                </a:lnTo>
                <a:lnTo>
                  <a:pt x="25401" y="211495"/>
                </a:lnTo>
                <a:cubicBezTo>
                  <a:pt x="25401" y="220448"/>
                  <a:pt x="30303" y="227827"/>
                  <a:pt x="36615" y="228843"/>
                </a:cubicBezTo>
                <a:lnTo>
                  <a:pt x="38101" y="228957"/>
                </a:lnTo>
                <a:lnTo>
                  <a:pt x="190501" y="228957"/>
                </a:lnTo>
                <a:cubicBezTo>
                  <a:pt x="197016" y="228957"/>
                  <a:pt x="202388" y="222226"/>
                  <a:pt x="203112" y="213527"/>
                </a:cubicBezTo>
                <a:lnTo>
                  <a:pt x="203201" y="211495"/>
                </a:lnTo>
                <a:close/>
                <a:moveTo>
                  <a:pt x="88901" y="152757"/>
                </a:moveTo>
                <a:cubicBezTo>
                  <a:pt x="95915" y="152757"/>
                  <a:pt x="101601" y="158443"/>
                  <a:pt x="101601" y="165457"/>
                </a:cubicBezTo>
                <a:lnTo>
                  <a:pt x="101601" y="190857"/>
                </a:lnTo>
                <a:cubicBezTo>
                  <a:pt x="101601" y="197871"/>
                  <a:pt x="95915" y="203557"/>
                  <a:pt x="88901" y="203557"/>
                </a:cubicBezTo>
                <a:lnTo>
                  <a:pt x="63501" y="203557"/>
                </a:lnTo>
                <a:cubicBezTo>
                  <a:pt x="56487" y="203557"/>
                  <a:pt x="50801" y="197871"/>
                  <a:pt x="50801" y="190857"/>
                </a:cubicBezTo>
                <a:lnTo>
                  <a:pt x="50801" y="165457"/>
                </a:lnTo>
                <a:cubicBezTo>
                  <a:pt x="50801" y="158443"/>
                  <a:pt x="56487" y="152757"/>
                  <a:pt x="63501" y="15275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4CF693E-0F69-4CF1-9830-1EFF6106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65609" y="3310890"/>
            <a:ext cx="125228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④ 生成计划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4DD605B-50B2-4678-8FEA-2652978A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48812" y="3645218"/>
            <a:ext cx="12858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三阶段复习路线</a:t>
            </a:r>
          </a:p>
        </p:txBody>
      </p:sp>
      <p:sp>
        <p:nvSpPr>
          <p:cNvPr id="42" name="Ellipse 42">
            <a:extLst xmlns:a="http://schemas.openxmlformats.org/drawingml/2006/main">
              <a:ext uri="{FF2B5EF4-FFF2-40B4-BE49-F238E27FC236}">
                <a16:creationId xmlns:a16="http://schemas.microsoft.com/office/drawing/2014/main" id="{7A2964FF-8069-4CDB-8808-2C007CB9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67900" y="47244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06B10FC-201D-4219-AEA0-270877BD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0008" y="4939063"/>
            <a:ext cx="78528" cy="59623"/>
          </a:xfrm>
          <a:custGeom xmlns:a="http://schemas.openxmlformats.org/drawingml/2006/main">
            <a:rect l="l" t="t" r="r" b="b"/>
            <a:pathLst>
              <a:path w="78528" h="59623">
                <a:moveTo>
                  <a:pt x="73571" y="4958"/>
                </a:moveTo>
                <a:cubicBezTo>
                  <a:pt x="78528" y="9917"/>
                  <a:pt x="78528" y="17956"/>
                  <a:pt x="73571" y="22916"/>
                </a:cubicBezTo>
                <a:lnTo>
                  <a:pt x="41821" y="54666"/>
                </a:lnTo>
                <a:cubicBezTo>
                  <a:pt x="36861" y="59623"/>
                  <a:pt x="28822" y="59623"/>
                  <a:pt x="23863" y="54666"/>
                </a:cubicBezTo>
                <a:lnTo>
                  <a:pt x="4813" y="35616"/>
                </a:lnTo>
                <a:cubicBezTo>
                  <a:pt x="0" y="30632"/>
                  <a:pt x="69" y="22711"/>
                  <a:pt x="4968" y="17813"/>
                </a:cubicBezTo>
                <a:cubicBezTo>
                  <a:pt x="9866" y="12914"/>
                  <a:pt x="17787" y="12845"/>
                  <a:pt x="22771" y="17658"/>
                </a:cubicBezTo>
                <a:lnTo>
                  <a:pt x="32842" y="27729"/>
                </a:lnTo>
                <a:lnTo>
                  <a:pt x="55613" y="4958"/>
                </a:lnTo>
                <a:cubicBezTo>
                  <a:pt x="60572" y="0"/>
                  <a:pt x="68611" y="0"/>
                  <a:pt x="73571" y="495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9181CE8C-7669-4581-B95D-C5F89DB3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0008" y="5015263"/>
            <a:ext cx="78528" cy="59623"/>
          </a:xfrm>
          <a:custGeom xmlns:a="http://schemas.openxmlformats.org/drawingml/2006/main">
            <a:rect l="l" t="t" r="r" b="b"/>
            <a:pathLst>
              <a:path w="78528" h="59623">
                <a:moveTo>
                  <a:pt x="73571" y="4958"/>
                </a:moveTo>
                <a:cubicBezTo>
                  <a:pt x="78528" y="9917"/>
                  <a:pt x="78528" y="17956"/>
                  <a:pt x="73571" y="22916"/>
                </a:cubicBezTo>
                <a:lnTo>
                  <a:pt x="41821" y="54666"/>
                </a:lnTo>
                <a:cubicBezTo>
                  <a:pt x="36861" y="59623"/>
                  <a:pt x="28822" y="59623"/>
                  <a:pt x="23863" y="54666"/>
                </a:cubicBezTo>
                <a:lnTo>
                  <a:pt x="4813" y="35616"/>
                </a:lnTo>
                <a:cubicBezTo>
                  <a:pt x="0" y="30632"/>
                  <a:pt x="69" y="22711"/>
                  <a:pt x="4968" y="17813"/>
                </a:cubicBezTo>
                <a:cubicBezTo>
                  <a:pt x="9866" y="12914"/>
                  <a:pt x="17787" y="12845"/>
                  <a:pt x="22771" y="17658"/>
                </a:cubicBezTo>
                <a:lnTo>
                  <a:pt x="32842" y="27729"/>
                </a:lnTo>
                <a:lnTo>
                  <a:pt x="55613" y="4958"/>
                </a:lnTo>
                <a:cubicBezTo>
                  <a:pt x="60572" y="0"/>
                  <a:pt x="68611" y="0"/>
                  <a:pt x="73571" y="495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605CA681-FDD4-40DD-8D5F-C14F5F1C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0008" y="5091463"/>
            <a:ext cx="78528" cy="59623"/>
          </a:xfrm>
          <a:custGeom xmlns:a="http://schemas.openxmlformats.org/drawingml/2006/main">
            <a:rect l="l" t="t" r="r" b="b"/>
            <a:pathLst>
              <a:path w="78528" h="59623">
                <a:moveTo>
                  <a:pt x="73571" y="4958"/>
                </a:moveTo>
                <a:cubicBezTo>
                  <a:pt x="78528" y="9917"/>
                  <a:pt x="78528" y="17956"/>
                  <a:pt x="73571" y="22916"/>
                </a:cubicBezTo>
                <a:lnTo>
                  <a:pt x="41821" y="54666"/>
                </a:lnTo>
                <a:cubicBezTo>
                  <a:pt x="36861" y="59623"/>
                  <a:pt x="28822" y="59623"/>
                  <a:pt x="23863" y="54666"/>
                </a:cubicBezTo>
                <a:lnTo>
                  <a:pt x="4813" y="35616"/>
                </a:lnTo>
                <a:cubicBezTo>
                  <a:pt x="0" y="30632"/>
                  <a:pt x="69" y="22711"/>
                  <a:pt x="4968" y="17813"/>
                </a:cubicBezTo>
                <a:cubicBezTo>
                  <a:pt x="9866" y="12914"/>
                  <a:pt x="17787" y="12845"/>
                  <a:pt x="22771" y="17658"/>
                </a:cubicBezTo>
                <a:lnTo>
                  <a:pt x="32842" y="27729"/>
                </a:lnTo>
                <a:lnTo>
                  <a:pt x="55613" y="4958"/>
                </a:lnTo>
                <a:cubicBezTo>
                  <a:pt x="60572" y="0"/>
                  <a:pt x="68611" y="0"/>
                  <a:pt x="73571" y="495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5C3D127-777C-4A02-BA74-CE71C780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66350" y="4959350"/>
            <a:ext cx="139700" cy="25400"/>
          </a:xfrm>
          <a:custGeom xmlns:a="http://schemas.openxmlformats.org/drawingml/2006/main">
            <a:rect l="l" t="t" r="r" b="b"/>
            <a:pathLst>
              <a:path w="139700" h="25400">
                <a:moveTo>
                  <a:pt x="139700" y="12700"/>
                </a:moveTo>
                <a:cubicBezTo>
                  <a:pt x="139700" y="19714"/>
                  <a:pt x="134014" y="25400"/>
                  <a:pt x="127000" y="25400"/>
                </a:cubicBezTo>
                <a:lnTo>
                  <a:pt x="12700" y="25400"/>
                </a:lnTo>
                <a:cubicBezTo>
                  <a:pt x="5686" y="25400"/>
                  <a:pt x="0" y="19714"/>
                  <a:pt x="0" y="12700"/>
                </a:cubicBezTo>
                <a:cubicBezTo>
                  <a:pt x="0" y="5686"/>
                  <a:pt x="5686" y="0"/>
                  <a:pt x="12700" y="0"/>
                </a:cubicBezTo>
                <a:lnTo>
                  <a:pt x="127000" y="0"/>
                </a:lnTo>
                <a:cubicBezTo>
                  <a:pt x="134014" y="0"/>
                  <a:pt x="139700" y="5686"/>
                  <a:pt x="139700" y="1270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964262DC-725F-4317-88C7-BAF9DFDC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66350" y="5035550"/>
            <a:ext cx="139700" cy="25400"/>
          </a:xfrm>
          <a:custGeom xmlns:a="http://schemas.openxmlformats.org/drawingml/2006/main">
            <a:rect l="l" t="t" r="r" b="b"/>
            <a:pathLst>
              <a:path w="139700" h="25400">
                <a:moveTo>
                  <a:pt x="139700" y="12700"/>
                </a:moveTo>
                <a:cubicBezTo>
                  <a:pt x="139700" y="19714"/>
                  <a:pt x="134014" y="25400"/>
                  <a:pt x="127000" y="25400"/>
                </a:cubicBezTo>
                <a:lnTo>
                  <a:pt x="12700" y="25400"/>
                </a:lnTo>
                <a:cubicBezTo>
                  <a:pt x="5686" y="25400"/>
                  <a:pt x="0" y="19714"/>
                  <a:pt x="0" y="12700"/>
                </a:cubicBezTo>
                <a:cubicBezTo>
                  <a:pt x="0" y="5686"/>
                  <a:pt x="5686" y="0"/>
                  <a:pt x="12700" y="0"/>
                </a:cubicBezTo>
                <a:lnTo>
                  <a:pt x="127000" y="0"/>
                </a:lnTo>
                <a:cubicBezTo>
                  <a:pt x="134014" y="0"/>
                  <a:pt x="139700" y="5686"/>
                  <a:pt x="139700" y="1270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E0B9CDE9-CEB5-40E7-9C46-ACC50708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66350" y="5111749"/>
            <a:ext cx="139700" cy="25400"/>
          </a:xfrm>
          <a:custGeom xmlns:a="http://schemas.openxmlformats.org/drawingml/2006/main">
            <a:rect l="l" t="t" r="r" b="b"/>
            <a:pathLst>
              <a:path w="139700" h="25400">
                <a:moveTo>
                  <a:pt x="139700" y="12700"/>
                </a:moveTo>
                <a:cubicBezTo>
                  <a:pt x="139700" y="19714"/>
                  <a:pt x="134014" y="25400"/>
                  <a:pt x="127000" y="25400"/>
                </a:cubicBezTo>
                <a:lnTo>
                  <a:pt x="12700" y="25400"/>
                </a:lnTo>
                <a:cubicBezTo>
                  <a:pt x="5686" y="25400"/>
                  <a:pt x="0" y="19714"/>
                  <a:pt x="0" y="12700"/>
                </a:cubicBezTo>
                <a:cubicBezTo>
                  <a:pt x="0" y="5686"/>
                  <a:pt x="5686" y="0"/>
                  <a:pt x="12700" y="0"/>
                </a:cubicBezTo>
                <a:lnTo>
                  <a:pt x="127000" y="0"/>
                </a:lnTo>
                <a:cubicBezTo>
                  <a:pt x="134014" y="0"/>
                  <a:pt x="139700" y="5686"/>
                  <a:pt x="139700" y="1270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23CE2C16-523C-4383-B11D-9897CC30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65609" y="4301490"/>
            <a:ext cx="125228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⑤ 今日任务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C7C3838-FF23-4369-AF11-ED2740D6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48812" y="4064318"/>
            <a:ext cx="12858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未完成自动顺延</a:t>
            </a:r>
          </a:p>
        </p:txBody>
      </p:sp>
      <p:sp>
        <p:nvSpPr>
          <p:cNvPr id="53" name="Ellipse 53">
            <a:extLst xmlns:a="http://schemas.openxmlformats.org/drawingml/2006/main">
              <a:ext uri="{FF2B5EF4-FFF2-40B4-BE49-F238E27FC236}">
                <a16:creationId xmlns:a16="http://schemas.microsoft.com/office/drawing/2014/main" id="{119F1190-B381-4D94-9273-8F8BAF36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0900" y="47244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79E463CA-904C-4E09-838B-F9742700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3147" y="4921250"/>
            <a:ext cx="203205" cy="253999"/>
          </a:xfrm>
          <a:custGeom xmlns:a="http://schemas.openxmlformats.org/drawingml/2006/main">
            <a:rect l="l" t="t" r="r" b="b"/>
            <a:pathLst>
              <a:path w="203205" h="253999">
                <a:moveTo>
                  <a:pt x="177764" y="27559"/>
                </a:moveTo>
                <a:cubicBezTo>
                  <a:pt x="193009" y="32931"/>
                  <a:pt x="203205" y="47337"/>
                  <a:pt x="203202" y="63500"/>
                </a:cubicBezTo>
                <a:lnTo>
                  <a:pt x="203202" y="215899"/>
                </a:lnTo>
                <a:cubicBezTo>
                  <a:pt x="203202" y="236941"/>
                  <a:pt x="186144" y="253999"/>
                  <a:pt x="165102" y="253999"/>
                </a:cubicBezTo>
                <a:lnTo>
                  <a:pt x="38103" y="253999"/>
                </a:lnTo>
                <a:cubicBezTo>
                  <a:pt x="17061" y="253999"/>
                  <a:pt x="3" y="236941"/>
                  <a:pt x="3" y="215899"/>
                </a:cubicBezTo>
                <a:lnTo>
                  <a:pt x="3" y="63500"/>
                </a:lnTo>
                <a:cubicBezTo>
                  <a:pt x="0" y="47337"/>
                  <a:pt x="10196" y="32931"/>
                  <a:pt x="25441" y="27559"/>
                </a:cubicBezTo>
                <a:cubicBezTo>
                  <a:pt x="26598" y="54754"/>
                  <a:pt x="48983" y="76204"/>
                  <a:pt x="76203" y="76200"/>
                </a:cubicBezTo>
                <a:lnTo>
                  <a:pt x="127002" y="76200"/>
                </a:lnTo>
                <a:cubicBezTo>
                  <a:pt x="153078" y="76202"/>
                  <a:pt x="174921" y="56461"/>
                  <a:pt x="177548" y="30518"/>
                </a:cubicBezTo>
                <a:close/>
                <a:moveTo>
                  <a:pt x="63630" y="165100"/>
                </a:moveTo>
                <a:lnTo>
                  <a:pt x="63503" y="165100"/>
                </a:lnTo>
                <a:cubicBezTo>
                  <a:pt x="56783" y="165107"/>
                  <a:pt x="51232" y="170347"/>
                  <a:pt x="50839" y="177055"/>
                </a:cubicBezTo>
                <a:cubicBezTo>
                  <a:pt x="50445" y="183763"/>
                  <a:pt x="55344" y="189617"/>
                  <a:pt x="62017" y="190411"/>
                </a:cubicBezTo>
                <a:lnTo>
                  <a:pt x="63630" y="190500"/>
                </a:lnTo>
                <a:cubicBezTo>
                  <a:pt x="70644" y="190500"/>
                  <a:pt x="76330" y="184814"/>
                  <a:pt x="76330" y="177800"/>
                </a:cubicBezTo>
                <a:cubicBezTo>
                  <a:pt x="76330" y="170786"/>
                  <a:pt x="70644" y="165100"/>
                  <a:pt x="63630" y="165100"/>
                </a:cubicBezTo>
                <a:moveTo>
                  <a:pt x="139702" y="165100"/>
                </a:moveTo>
                <a:lnTo>
                  <a:pt x="114302" y="165100"/>
                </a:lnTo>
                <a:cubicBezTo>
                  <a:pt x="107288" y="165100"/>
                  <a:pt x="101603" y="170786"/>
                  <a:pt x="101603" y="177800"/>
                </a:cubicBezTo>
                <a:cubicBezTo>
                  <a:pt x="101603" y="184814"/>
                  <a:pt x="107288" y="190500"/>
                  <a:pt x="114302" y="190500"/>
                </a:cubicBezTo>
                <a:lnTo>
                  <a:pt x="139702" y="190500"/>
                </a:lnTo>
                <a:cubicBezTo>
                  <a:pt x="146716" y="190500"/>
                  <a:pt x="152402" y="184814"/>
                  <a:pt x="152402" y="177800"/>
                </a:cubicBezTo>
                <a:cubicBezTo>
                  <a:pt x="152402" y="170786"/>
                  <a:pt x="146716" y="165100"/>
                  <a:pt x="139702" y="165100"/>
                </a:cubicBezTo>
                <a:moveTo>
                  <a:pt x="63630" y="114300"/>
                </a:moveTo>
                <a:lnTo>
                  <a:pt x="63503" y="114300"/>
                </a:lnTo>
                <a:cubicBezTo>
                  <a:pt x="56783" y="114307"/>
                  <a:pt x="51232" y="119547"/>
                  <a:pt x="50839" y="126255"/>
                </a:cubicBezTo>
                <a:cubicBezTo>
                  <a:pt x="50445" y="132963"/>
                  <a:pt x="55344" y="138817"/>
                  <a:pt x="62017" y="139611"/>
                </a:cubicBezTo>
                <a:lnTo>
                  <a:pt x="63630" y="139700"/>
                </a:lnTo>
                <a:cubicBezTo>
                  <a:pt x="70644" y="139700"/>
                  <a:pt x="76330" y="134014"/>
                  <a:pt x="76330" y="127000"/>
                </a:cubicBezTo>
                <a:cubicBezTo>
                  <a:pt x="76330" y="119986"/>
                  <a:pt x="70644" y="114300"/>
                  <a:pt x="63630" y="114300"/>
                </a:cubicBezTo>
                <a:moveTo>
                  <a:pt x="139702" y="114300"/>
                </a:moveTo>
                <a:lnTo>
                  <a:pt x="114302" y="114300"/>
                </a:lnTo>
                <a:cubicBezTo>
                  <a:pt x="107288" y="114300"/>
                  <a:pt x="101603" y="119986"/>
                  <a:pt x="101603" y="127000"/>
                </a:cubicBezTo>
                <a:cubicBezTo>
                  <a:pt x="101603" y="134014"/>
                  <a:pt x="107288" y="139700"/>
                  <a:pt x="114302" y="139700"/>
                </a:cubicBezTo>
                <a:lnTo>
                  <a:pt x="139702" y="139700"/>
                </a:lnTo>
                <a:cubicBezTo>
                  <a:pt x="146716" y="139700"/>
                  <a:pt x="152402" y="134014"/>
                  <a:pt x="152402" y="127000"/>
                </a:cubicBezTo>
                <a:cubicBezTo>
                  <a:pt x="152402" y="119986"/>
                  <a:pt x="146716" y="114300"/>
                  <a:pt x="139702" y="114300"/>
                </a:cubicBezTo>
                <a:moveTo>
                  <a:pt x="127002" y="0"/>
                </a:moveTo>
                <a:cubicBezTo>
                  <a:pt x="141030" y="0"/>
                  <a:pt x="152402" y="11372"/>
                  <a:pt x="152402" y="25400"/>
                </a:cubicBezTo>
                <a:cubicBezTo>
                  <a:pt x="152402" y="39428"/>
                  <a:pt x="141030" y="50800"/>
                  <a:pt x="127002" y="50800"/>
                </a:cubicBezTo>
                <a:lnTo>
                  <a:pt x="76203" y="50800"/>
                </a:lnTo>
                <a:cubicBezTo>
                  <a:pt x="62175" y="50800"/>
                  <a:pt x="50803" y="39428"/>
                  <a:pt x="50803" y="25400"/>
                </a:cubicBezTo>
                <a:cubicBezTo>
                  <a:pt x="50803" y="11372"/>
                  <a:pt x="62175" y="0"/>
                  <a:pt x="7620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F09D978C-5F81-4D3A-80A1-7EF2960E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98609" y="4301490"/>
            <a:ext cx="125228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⑥ 自动出题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EF92C87D-0341-4891-A127-C8002B9E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7314" y="4064318"/>
            <a:ext cx="149487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当日 + 到期薄弱点</a:t>
            </a:r>
          </a:p>
        </p:txBody>
      </p:sp>
      <p:sp>
        <p:nvSpPr>
          <p:cNvPr id="58" name="Ellipse 58">
            <a:extLst xmlns:a="http://schemas.openxmlformats.org/drawingml/2006/main">
              <a:ext uri="{FF2B5EF4-FFF2-40B4-BE49-F238E27FC236}">
                <a16:creationId xmlns:a16="http://schemas.microsoft.com/office/drawing/2014/main" id="{930740B4-AC56-45B9-8434-B8049F86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3900" y="47244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1C3C318A-8770-4E5E-B3EE-64A6CE91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6147" y="4921250"/>
            <a:ext cx="203205" cy="253999"/>
          </a:xfrm>
          <a:custGeom xmlns:a="http://schemas.openxmlformats.org/drawingml/2006/main">
            <a:rect l="l" t="t" r="r" b="b"/>
            <a:pathLst>
              <a:path w="203205" h="253999">
                <a:moveTo>
                  <a:pt x="177764" y="27559"/>
                </a:moveTo>
                <a:cubicBezTo>
                  <a:pt x="193009" y="32931"/>
                  <a:pt x="203205" y="47337"/>
                  <a:pt x="203202" y="63500"/>
                </a:cubicBezTo>
                <a:lnTo>
                  <a:pt x="203202" y="215899"/>
                </a:lnTo>
                <a:cubicBezTo>
                  <a:pt x="203202" y="236941"/>
                  <a:pt x="186144" y="253999"/>
                  <a:pt x="165102" y="253999"/>
                </a:cubicBezTo>
                <a:lnTo>
                  <a:pt x="38103" y="253999"/>
                </a:lnTo>
                <a:cubicBezTo>
                  <a:pt x="17061" y="253999"/>
                  <a:pt x="3" y="236941"/>
                  <a:pt x="3" y="215899"/>
                </a:cubicBezTo>
                <a:lnTo>
                  <a:pt x="3" y="63500"/>
                </a:lnTo>
                <a:cubicBezTo>
                  <a:pt x="0" y="47337"/>
                  <a:pt x="10196" y="32931"/>
                  <a:pt x="25441" y="27559"/>
                </a:cubicBezTo>
                <a:cubicBezTo>
                  <a:pt x="26598" y="54754"/>
                  <a:pt x="48983" y="76204"/>
                  <a:pt x="76203" y="76200"/>
                </a:cubicBezTo>
                <a:lnTo>
                  <a:pt x="127002" y="76200"/>
                </a:lnTo>
                <a:cubicBezTo>
                  <a:pt x="153078" y="76202"/>
                  <a:pt x="174921" y="56461"/>
                  <a:pt x="177548" y="30518"/>
                </a:cubicBezTo>
                <a:close/>
                <a:moveTo>
                  <a:pt x="130724" y="118021"/>
                </a:moveTo>
                <a:lnTo>
                  <a:pt x="88903" y="159829"/>
                </a:lnTo>
                <a:lnTo>
                  <a:pt x="72481" y="143421"/>
                </a:lnTo>
                <a:cubicBezTo>
                  <a:pt x="69293" y="140119"/>
                  <a:pt x="64571" y="138795"/>
                  <a:pt x="60131" y="139957"/>
                </a:cubicBezTo>
                <a:cubicBezTo>
                  <a:pt x="55690" y="141120"/>
                  <a:pt x="52223" y="144587"/>
                  <a:pt x="51060" y="149028"/>
                </a:cubicBezTo>
                <a:cubicBezTo>
                  <a:pt x="49898" y="153468"/>
                  <a:pt x="51222" y="158190"/>
                  <a:pt x="54524" y="161378"/>
                </a:cubicBezTo>
                <a:lnTo>
                  <a:pt x="79924" y="186778"/>
                </a:lnTo>
                <a:cubicBezTo>
                  <a:pt x="84883" y="191736"/>
                  <a:pt x="92922" y="191736"/>
                  <a:pt x="97881" y="186778"/>
                </a:cubicBezTo>
                <a:lnTo>
                  <a:pt x="148681" y="135979"/>
                </a:lnTo>
                <a:cubicBezTo>
                  <a:pt x="153494" y="130995"/>
                  <a:pt x="153425" y="123074"/>
                  <a:pt x="148527" y="118176"/>
                </a:cubicBezTo>
                <a:cubicBezTo>
                  <a:pt x="143628" y="113277"/>
                  <a:pt x="135707" y="113208"/>
                  <a:pt x="130724" y="118021"/>
                </a:cubicBezTo>
                <a:moveTo>
                  <a:pt x="127002" y="0"/>
                </a:moveTo>
                <a:cubicBezTo>
                  <a:pt x="141030" y="0"/>
                  <a:pt x="152402" y="11372"/>
                  <a:pt x="152402" y="25400"/>
                </a:cubicBezTo>
                <a:cubicBezTo>
                  <a:pt x="152402" y="39428"/>
                  <a:pt x="141030" y="50800"/>
                  <a:pt x="127002" y="50800"/>
                </a:cubicBezTo>
                <a:lnTo>
                  <a:pt x="76203" y="50800"/>
                </a:lnTo>
                <a:cubicBezTo>
                  <a:pt x="62175" y="50800"/>
                  <a:pt x="50803" y="39428"/>
                  <a:pt x="50803" y="25400"/>
                </a:cubicBezTo>
                <a:cubicBezTo>
                  <a:pt x="50803" y="11372"/>
                  <a:pt x="62175" y="0"/>
                  <a:pt x="7620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64D9D5B2-0FA0-49A3-8F36-ED022695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1609" y="4301490"/>
            <a:ext cx="125228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⑦ 即时批改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D714EB72-D0A9-40E1-AF32-44712972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14812" y="4064318"/>
            <a:ext cx="12858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服务端权威判分</a:t>
            </a:r>
          </a:p>
        </p:txBody>
      </p:sp>
      <p:sp>
        <p:nvSpPr>
          <p:cNvPr id="63" name="Ellipse 63">
            <a:extLst xmlns:a="http://schemas.openxmlformats.org/drawingml/2006/main">
              <a:ext uri="{FF2B5EF4-FFF2-40B4-BE49-F238E27FC236}">
                <a16:creationId xmlns:a16="http://schemas.microsoft.com/office/drawing/2014/main" id="{04D92A11-D098-4F44-9E25-416BA9EB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66900" y="47244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9B6E"/>
          </a:solidFill>
          <a:ln xmlns:a="http://schemas.openxmlformats.org/drawingml/2006/main">
            <a:noFill/>
          </a:ln>
        </p:spPr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342532C7-3B9C-446E-A7D7-04758203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63750" y="4921250"/>
            <a:ext cx="254054" cy="255207"/>
          </a:xfrm>
          <a:custGeom xmlns:a="http://schemas.openxmlformats.org/drawingml/2006/main">
            <a:rect l="l" t="t" r="r" b="b"/>
            <a:pathLst>
              <a:path w="254054" h="255207">
                <a:moveTo>
                  <a:pt x="127000" y="0"/>
                </a:moveTo>
                <a:cubicBezTo>
                  <a:pt x="197142" y="0"/>
                  <a:pt x="253999" y="56858"/>
                  <a:pt x="253999" y="127000"/>
                </a:cubicBezTo>
                <a:cubicBezTo>
                  <a:pt x="254054" y="196377"/>
                  <a:pt x="198425" y="252959"/>
                  <a:pt x="129057" y="254083"/>
                </a:cubicBezTo>
                <a:cubicBezTo>
                  <a:pt x="59690" y="255207"/>
                  <a:pt x="2256" y="200457"/>
                  <a:pt x="63" y="131114"/>
                </a:cubicBezTo>
                <a:lnTo>
                  <a:pt x="0" y="127000"/>
                </a:lnTo>
                <a:lnTo>
                  <a:pt x="51" y="123444"/>
                </a:lnTo>
                <a:cubicBezTo>
                  <a:pt x="1930" y="54953"/>
                  <a:pt x="58039" y="0"/>
                  <a:pt x="127000" y="0"/>
                </a:cubicBezTo>
                <a:close/>
                <a:moveTo>
                  <a:pt x="127127" y="165100"/>
                </a:moveTo>
                <a:lnTo>
                  <a:pt x="125514" y="165188"/>
                </a:lnTo>
                <a:cubicBezTo>
                  <a:pt x="119125" y="165948"/>
                  <a:pt x="114314" y="171366"/>
                  <a:pt x="114314" y="177800"/>
                </a:cubicBezTo>
                <a:cubicBezTo>
                  <a:pt x="114314" y="184233"/>
                  <a:pt x="119125" y="189651"/>
                  <a:pt x="125514" y="190411"/>
                </a:cubicBezTo>
                <a:lnTo>
                  <a:pt x="127000" y="190500"/>
                </a:lnTo>
                <a:lnTo>
                  <a:pt x="128613" y="190411"/>
                </a:lnTo>
                <a:cubicBezTo>
                  <a:pt x="135001" y="189651"/>
                  <a:pt x="139812" y="184233"/>
                  <a:pt x="139812" y="177800"/>
                </a:cubicBezTo>
                <a:cubicBezTo>
                  <a:pt x="139812" y="171366"/>
                  <a:pt x="135001" y="165948"/>
                  <a:pt x="128613" y="165188"/>
                </a:cubicBezTo>
                <a:lnTo>
                  <a:pt x="127127" y="165100"/>
                </a:lnTo>
                <a:close/>
                <a:moveTo>
                  <a:pt x="127000" y="63500"/>
                </a:moveTo>
                <a:cubicBezTo>
                  <a:pt x="120561" y="63501"/>
                  <a:pt x="115142" y="68320"/>
                  <a:pt x="114389" y="74714"/>
                </a:cubicBezTo>
                <a:lnTo>
                  <a:pt x="114300" y="76200"/>
                </a:lnTo>
                <a:lnTo>
                  <a:pt x="114300" y="127000"/>
                </a:lnTo>
                <a:lnTo>
                  <a:pt x="114389" y="128486"/>
                </a:lnTo>
                <a:cubicBezTo>
                  <a:pt x="115149" y="134874"/>
                  <a:pt x="120566" y="139685"/>
                  <a:pt x="127000" y="139685"/>
                </a:cubicBezTo>
                <a:cubicBezTo>
                  <a:pt x="133433" y="139685"/>
                  <a:pt x="138851" y="134874"/>
                  <a:pt x="139611" y="128486"/>
                </a:cubicBezTo>
                <a:lnTo>
                  <a:pt x="139700" y="127000"/>
                </a:lnTo>
                <a:lnTo>
                  <a:pt x="139700" y="76200"/>
                </a:lnTo>
                <a:lnTo>
                  <a:pt x="139611" y="74714"/>
                </a:lnTo>
                <a:cubicBezTo>
                  <a:pt x="138857" y="68320"/>
                  <a:pt x="133438" y="63501"/>
                  <a:pt x="127000" y="635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9E0F51ED-0A91-4C2E-9A77-26A1051D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4609" y="4301490"/>
            <a:ext cx="125228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⑧ 错题回流</a:t>
            </a:r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BCE6469B-E950-4999-A9C5-85AE368A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3314" y="4064318"/>
            <a:ext cx="149487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画像 + 掌握度更新</a:t>
            </a:r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BFFCDA6F-6DF9-405C-B505-F3F31D7F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576060"/>
            <a:ext cx="2194963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StudyMate Agent · 功能介绍</a:t>
            </a:r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10099C65-FA73-4ECF-BA4A-9B95A29D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5760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172286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7DA5572-E860-4C43-9CFE-AE2A47B6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E5DA295-7892-4313-B502-74127E31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57200"/>
            <a:ext cx="1143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90FA82D-7FCE-4CD2-A175-26BBF051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018" y="549592"/>
            <a:ext cx="104416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04 记忆引擎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1D0867D-5FDB-40C4-9D46-438F3904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917258"/>
            <a:ext cx="6265583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2B2A26"/>
                </a:solidFill>
                <a:latin typeface="Verdana"/>
                <a:ea typeface="Verdana"/>
                <a:cs typeface="Verdana"/>
              </a:rPr>
              <a:t>每个概念都有下一次见面的时间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5FFAAD7-EE6F-4C88-8933-A728FD9B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694" y="1427798"/>
            <a:ext cx="6635039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复习不靠自觉,靠调度 —— 答错</a:t>
            </a:r>
            <a:r>
              <a:rPr sz="19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提前再见</a:t>
            </a: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,答对</a:t>
            </a:r>
            <a:r>
              <a:rPr sz="19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推后重逢</a:t>
            </a: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7AFE5EC-74C4-45AD-A821-5C6CC366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694" y="2075498"/>
            <a:ext cx="2553569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SM-2 初始复习间隔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FDB3779F-A862-4AE6-9DCB-D8096E67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9230" y="2140268"/>
            <a:ext cx="251002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真实批改后由 SM-2 动态接管</a:t>
            </a:r>
          </a:p>
        </p:txBody>
      </p:sp>
      <p:sp>
        <p:nvSpPr>
          <p:cNvPr id="10" name="Line 10">
            <a:extLst xmlns:a="http://schemas.openxmlformats.org/drawingml/2006/main">
              <a:ext uri="{FF2B5EF4-FFF2-40B4-BE49-F238E27FC236}">
                <a16:creationId xmlns:a16="http://schemas.microsoft.com/office/drawing/2014/main" id="{D0F98848-A099-4401-90D2-78C7F981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4000" y="3048000"/>
            <a:ext cx="7429500" cy="9525"/>
          </a:xfrm>
          <a:custGeom xmlns:a="http://schemas.openxmlformats.org/drawingml/2006/main">
            <a:rect l="l" t="t" r="r" b="b"/>
            <a:pathLst>
              <a:path w="7429500" h="9525">
                <a:moveTo>
                  <a:pt x="0" y="0"/>
                </a:moveTo>
                <a:lnTo>
                  <a:pt x="742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7BA88F"/>
            </a:solidFill>
          </a:ln>
        </p:spPr>
      </p:sp>
      <p:sp>
        <p:nvSpPr>
          <p:cNvPr id="11" name="Line 11">
            <a:extLst xmlns:a="http://schemas.openxmlformats.org/drawingml/2006/main">
              <a:ext uri="{FF2B5EF4-FFF2-40B4-BE49-F238E27FC236}">
                <a16:creationId xmlns:a16="http://schemas.microsoft.com/office/drawing/2014/main" id="{B88DC7A4-5178-47FB-9125-4B570769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0" y="3048000"/>
            <a:ext cx="1905000" cy="9525"/>
          </a:xfrm>
          <a:custGeom xmlns:a="http://schemas.openxmlformats.org/drawingml/2006/main"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7BA88F">
                <a:alpha val="35000"/>
              </a:srgbClr>
            </a:solidFill>
          </a:ln>
        </p:spPr>
      </p:sp>
      <p:sp>
        <p:nvSpPr>
          <p:cNvPr id="12" name="Line 12">
            <a:extLst xmlns:a="http://schemas.openxmlformats.org/drawingml/2006/main">
              <a:ext uri="{FF2B5EF4-FFF2-40B4-BE49-F238E27FC236}">
                <a16:creationId xmlns:a16="http://schemas.microsoft.com/office/drawing/2014/main" id="{4B25E9FE-2C5E-4C09-A3C1-D87E88B5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0" y="3048000"/>
            <a:ext cx="1905000" cy="9525"/>
          </a:xfrm>
          <a:custGeom xmlns:a="http://schemas.openxmlformats.org/drawingml/2006/main"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2">
            <a:solidFill>
              <a:srgbClr val="D49B6E"/>
            </a:solidFill>
          </a:ln>
        </p:spPr>
      </p:sp>
      <p:sp>
        <p:nvSpPr>
          <p:cNvPr id="13" name="Ellipse 13">
            <a:extLst xmlns:a="http://schemas.openxmlformats.org/drawingml/2006/main">
              <a:ext uri="{FF2B5EF4-FFF2-40B4-BE49-F238E27FC236}">
                <a16:creationId xmlns:a16="http://schemas.microsoft.com/office/drawing/2014/main" id="{A47F8DAD-97F8-41B3-AE1E-68895278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" y="2819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>
              <a:alpha val="15000"/>
            </a:srgbClr>
          </a:solidFill>
          <a:ln xmlns:a="http://schemas.openxmlformats.org/drawingml/2006/main">
            <a:noFill/>
          </a:ln>
        </p:spPr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779A7483-8081-44B5-B27E-EE41F069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1125" y="2905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4AADF3D-8EEB-44C8-AB07-DE7BFF1D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6091" y="2484120"/>
            <a:ext cx="615818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6B9580"/>
                </a:solidFill>
                <a:latin typeface="Verdana"/>
                <a:ea typeface="Verdana"/>
                <a:cs typeface="Verdana"/>
              </a:rPr>
              <a:t>D+1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64A9179E-5A55-4C8D-86BD-494908E6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668" y="3340418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首日复习</a:t>
            </a:r>
          </a:p>
        </p:txBody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7044A16F-76BD-41FC-A8DE-6FC5692E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5150" y="2819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>
              <a:alpha val="15000"/>
            </a:srgbClr>
          </a:solidFill>
          <a:ln xmlns:a="http://schemas.openxmlformats.org/drawingml/2006/main">
            <a:noFill/>
          </a:ln>
        </p:spPr>
      </p:sp>
      <p:sp>
        <p:nvSpPr>
          <p:cNvPr id="19" name="Ellipse 19">
            <a:extLst xmlns:a="http://schemas.openxmlformats.org/drawingml/2006/main">
              <a:ext uri="{FF2B5EF4-FFF2-40B4-BE49-F238E27FC236}">
                <a16:creationId xmlns:a16="http://schemas.microsoft.com/office/drawing/2014/main" id="{D617BEA9-4AD5-4E01-A9A3-4E596988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0875" y="2905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FEAA787-A9DC-4328-AA02-870059E5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5841" y="2484120"/>
            <a:ext cx="615818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6B9580"/>
                </a:solidFill>
                <a:latin typeface="Verdana"/>
                <a:ea typeface="Verdana"/>
                <a:cs typeface="Verdana"/>
              </a:rPr>
              <a:t>D+3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CBAFC61C-99DB-46C6-B2E7-254A3C24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63418" y="3340418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短期巩固</a:t>
            </a:r>
          </a:p>
        </p:txBody>
      </p:sp>
      <p:sp>
        <p:nvSpPr>
          <p:cNvPr id="23" name="Ellipse 23">
            <a:extLst xmlns:a="http://schemas.openxmlformats.org/drawingml/2006/main">
              <a:ext uri="{FF2B5EF4-FFF2-40B4-BE49-F238E27FC236}">
                <a16:creationId xmlns:a16="http://schemas.microsoft.com/office/drawing/2014/main" id="{310B692F-31AA-4E24-B44A-29C58C7D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4900" y="2819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>
              <a:alpha val="15000"/>
            </a:srgbClr>
          </a:solidFill>
          <a:ln xmlns:a="http://schemas.openxmlformats.org/drawingml/2006/main">
            <a:noFill/>
          </a:ln>
        </p:spPr>
      </p:sp>
      <p:sp>
        <p:nvSpPr>
          <p:cNvPr id="24" name="Ellipse 24">
            <a:extLst xmlns:a="http://schemas.openxmlformats.org/drawingml/2006/main">
              <a:ext uri="{FF2B5EF4-FFF2-40B4-BE49-F238E27FC236}">
                <a16:creationId xmlns:a16="http://schemas.microsoft.com/office/drawing/2014/main" id="{BBEEC5AB-F25D-418D-A9A9-10D354C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0625" y="2905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E5D9EBC5-6964-49B1-ADAB-1F7E0BDC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5591" y="2484120"/>
            <a:ext cx="615818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6B9580"/>
                </a:solidFill>
                <a:latin typeface="Verdana"/>
                <a:ea typeface="Verdana"/>
                <a:cs typeface="Verdana"/>
              </a:rPr>
              <a:t>D+7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3F7B1906-A172-45FC-AA29-893F361A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3168" y="3340418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周度重现</a:t>
            </a:r>
          </a:p>
        </p:txBody>
      </p:sp>
      <p:sp>
        <p:nvSpPr>
          <p:cNvPr id="28" name="Ellipse 28">
            <a:extLst xmlns:a="http://schemas.openxmlformats.org/drawingml/2006/main">
              <a:ext uri="{FF2B5EF4-FFF2-40B4-BE49-F238E27FC236}">
                <a16:creationId xmlns:a16="http://schemas.microsoft.com/office/drawing/2014/main" id="{159CC6E7-5CAD-4A66-8306-AF4E3949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4650" y="2819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>
              <a:alpha val="15000"/>
            </a:srgbClr>
          </a:solidFill>
          <a:ln xmlns:a="http://schemas.openxmlformats.org/drawingml/2006/main">
            <a:noFill/>
          </a:ln>
        </p:spPr>
      </p:sp>
      <p:sp>
        <p:nvSpPr>
          <p:cNvPr id="29" name="Ellipse 29">
            <a:extLst xmlns:a="http://schemas.openxmlformats.org/drawingml/2006/main">
              <a:ext uri="{FF2B5EF4-FFF2-40B4-BE49-F238E27FC236}">
                <a16:creationId xmlns:a16="http://schemas.microsoft.com/office/drawing/2014/main" id="{7BB6BFEF-3586-480B-81B1-1C13D841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0375" y="2905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974C7F9-C84A-4CA4-8DC5-292DC899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6769" y="2484120"/>
            <a:ext cx="812963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6B9580"/>
                </a:solidFill>
                <a:latin typeface="Verdana"/>
                <a:ea typeface="Verdana"/>
                <a:cs typeface="Verdana"/>
              </a:rPr>
              <a:t>D+15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C178A910-DF66-4E7C-B156-7F3C3AE8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82918" y="3340418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半月检验</a:t>
            </a:r>
          </a:p>
        </p:txBody>
      </p:sp>
      <p:sp>
        <p:nvSpPr>
          <p:cNvPr id="33" name="Ellipse 33">
            <a:extLst xmlns:a="http://schemas.openxmlformats.org/drawingml/2006/main">
              <a:ext uri="{FF2B5EF4-FFF2-40B4-BE49-F238E27FC236}">
                <a16:creationId xmlns:a16="http://schemas.microsoft.com/office/drawing/2014/main" id="{091BD838-E579-44B8-847B-8780CEE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4400" y="2819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>
              <a:alpha val="15000"/>
            </a:srgbClr>
          </a:solidFill>
          <a:ln xmlns:a="http://schemas.openxmlformats.org/drawingml/2006/main">
            <a:noFill/>
          </a:ln>
        </p:spPr>
      </p:sp>
      <p:sp>
        <p:nvSpPr>
          <p:cNvPr id="34" name="Ellipse 34">
            <a:extLst xmlns:a="http://schemas.openxmlformats.org/drawingml/2006/main">
              <a:ext uri="{FF2B5EF4-FFF2-40B4-BE49-F238E27FC236}">
                <a16:creationId xmlns:a16="http://schemas.microsoft.com/office/drawing/2014/main" id="{A0547733-6393-4770-A6E1-00F2FD3A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20125" y="2905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D974C258-52F0-44F8-83E3-7F1F4DFE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6519" y="2484120"/>
            <a:ext cx="812963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6B9580"/>
                </a:solidFill>
                <a:latin typeface="Verdana"/>
                <a:ea typeface="Verdana"/>
                <a:cs typeface="Verdana"/>
              </a:rPr>
              <a:t>D+30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482DA2D0-3425-409F-81DC-2432F638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2668" y="3340418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月度锁定</a:t>
            </a:r>
          </a:p>
        </p:txBody>
      </p:sp>
      <p:sp>
        <p:nvSpPr>
          <p:cNvPr id="38" name="Ellipse 38">
            <a:extLst xmlns:a="http://schemas.openxmlformats.org/drawingml/2006/main">
              <a:ext uri="{FF2B5EF4-FFF2-40B4-BE49-F238E27FC236}">
                <a16:creationId xmlns:a16="http://schemas.microsoft.com/office/drawing/2014/main" id="{DE362865-9AA0-420B-9271-9B69A9F3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91800" y="2781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9B6E">
              <a:alpha val="18000"/>
            </a:srgbClr>
          </a:solidFill>
          <a:ln xmlns:a="http://schemas.openxmlformats.org/drawingml/2006/main">
            <a:noFill/>
          </a:ln>
        </p:spPr>
      </p:sp>
      <p:sp>
        <p:nvSpPr>
          <p:cNvPr id="39" name="Ellipse 39">
            <a:extLst xmlns:a="http://schemas.openxmlformats.org/drawingml/2006/main">
              <a:ext uri="{FF2B5EF4-FFF2-40B4-BE49-F238E27FC236}">
                <a16:creationId xmlns:a16="http://schemas.microsoft.com/office/drawing/2014/main" id="{1111C0F4-91CE-4458-B650-474BFA44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87050" y="2876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9B6E"/>
          </a:solidFill>
          <a:ln xmlns:a="http://schemas.openxmlformats.org/drawingml/2006/main">
            <a:noFill/>
          </a:ln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D7FBD34E-F798-4937-B9DB-C123FE55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2960" y="2494598"/>
            <a:ext cx="571081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50" b="1">
                <a:solidFill>
                  <a:srgbClr val="D49B6E"/>
                </a:solidFill>
                <a:latin typeface="Arial"/>
                <a:ea typeface="Arial"/>
                <a:cs typeface="Arial"/>
              </a:rPr>
              <a:t>动态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AB04323D-2715-4A47-A5C8-CCE9A252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08362" y="3340418"/>
            <a:ext cx="130027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SM-2 接管调度</a:t>
            </a:r>
          </a:p>
        </p:txBody>
      </p:sp>
      <p:sp>
        <p:nvSpPr>
          <p:cNvPr id="44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4B6CEE50-8CFA-4C27-968B-1E4F46EF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191000"/>
            <a:ext cx="3505200" cy="201930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45" name="Ellipse 45">
            <a:extLst xmlns:a="http://schemas.openxmlformats.org/drawingml/2006/main">
              <a:ext uri="{FF2B5EF4-FFF2-40B4-BE49-F238E27FC236}">
                <a16:creationId xmlns:a16="http://schemas.microsoft.com/office/drawing/2014/main" id="{2C08BBDB-8221-4879-A74B-64CEB19D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4495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D4C4790-8458-4B76-9493-62B39CF9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550" y="4672839"/>
            <a:ext cx="333852" cy="334399"/>
          </a:xfrm>
          <a:custGeom xmlns:a="http://schemas.openxmlformats.org/drawingml/2006/main">
            <a:rect l="l" t="t" r="r" b="b"/>
            <a:pathLst>
              <a:path w="333852" h="334399">
                <a:moveTo>
                  <a:pt x="238125" y="28384"/>
                </a:moveTo>
                <a:cubicBezTo>
                  <a:pt x="304283" y="66582"/>
                  <a:pt x="333852" y="146484"/>
                  <a:pt x="308499" y="218548"/>
                </a:cubicBezTo>
                <a:cubicBezTo>
                  <a:pt x="283147" y="290612"/>
                  <a:pt x="210062" y="334399"/>
                  <a:pt x="134561" y="322760"/>
                </a:cubicBezTo>
                <a:cubicBezTo>
                  <a:pt x="59059" y="311122"/>
                  <a:pt x="2554" y="247358"/>
                  <a:pt x="79" y="171005"/>
                </a:cubicBezTo>
                <a:lnTo>
                  <a:pt x="0" y="165861"/>
                </a:lnTo>
                <a:lnTo>
                  <a:pt x="79" y="160718"/>
                </a:lnTo>
                <a:cubicBezTo>
                  <a:pt x="1888" y="104949"/>
                  <a:pt x="32843" y="54223"/>
                  <a:pt x="81612" y="27112"/>
                </a:cubicBezTo>
                <a:cubicBezTo>
                  <a:pt x="130381" y="0"/>
                  <a:pt x="189803" y="483"/>
                  <a:pt x="238125" y="28384"/>
                </a:cubicBezTo>
                <a:close/>
                <a:moveTo>
                  <a:pt x="158750" y="70611"/>
                </a:moveTo>
                <a:cubicBezTo>
                  <a:pt x="150702" y="70612"/>
                  <a:pt x="143928" y="76636"/>
                  <a:pt x="142986" y="84629"/>
                </a:cubicBezTo>
                <a:lnTo>
                  <a:pt x="142875" y="86486"/>
                </a:lnTo>
                <a:lnTo>
                  <a:pt x="142875" y="165861"/>
                </a:lnTo>
                <a:lnTo>
                  <a:pt x="143018" y="167941"/>
                </a:lnTo>
                <a:cubicBezTo>
                  <a:pt x="143380" y="170695"/>
                  <a:pt x="144458" y="173306"/>
                  <a:pt x="146146" y="175513"/>
                </a:cubicBezTo>
                <a:lnTo>
                  <a:pt x="147527" y="177101"/>
                </a:lnTo>
                <a:lnTo>
                  <a:pt x="195152" y="224726"/>
                </a:lnTo>
                <a:lnTo>
                  <a:pt x="196644" y="226028"/>
                </a:lnTo>
                <a:cubicBezTo>
                  <a:pt x="202371" y="230471"/>
                  <a:pt x="210380" y="230471"/>
                  <a:pt x="216107" y="226028"/>
                </a:cubicBezTo>
                <a:lnTo>
                  <a:pt x="217599" y="224710"/>
                </a:lnTo>
                <a:lnTo>
                  <a:pt x="218917" y="223218"/>
                </a:lnTo>
                <a:cubicBezTo>
                  <a:pt x="223360" y="217491"/>
                  <a:pt x="223360" y="209482"/>
                  <a:pt x="218917" y="203755"/>
                </a:cubicBezTo>
                <a:lnTo>
                  <a:pt x="217599" y="202263"/>
                </a:lnTo>
                <a:lnTo>
                  <a:pt x="174625" y="159273"/>
                </a:lnTo>
                <a:lnTo>
                  <a:pt x="174625" y="86486"/>
                </a:lnTo>
                <a:lnTo>
                  <a:pt x="174514" y="84629"/>
                </a:lnTo>
                <a:cubicBezTo>
                  <a:pt x="173573" y="76636"/>
                  <a:pt x="166799" y="70612"/>
                  <a:pt x="158750" y="70611"/>
                </a:cubicBezTo>
                <a:close/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203B9C1F-2413-4A2C-8EDD-3AB0E36C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594" y="5390198"/>
            <a:ext cx="1397984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到期日排队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A7FD2E0B-D7C2-452E-A607-194F5795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3356" y="5730240"/>
            <a:ext cx="232257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概念按 SM-2 到期日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3AAA5689-F8D7-479F-BA61-D4009C1F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3356" y="6015990"/>
            <a:ext cx="219913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进入今日任务队列。</a:t>
            </a:r>
          </a:p>
        </p:txBody>
      </p:sp>
      <p:sp>
        <p:nvSpPr>
          <p:cNvPr id="51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D3476FFD-7B1A-4AA1-A8B5-76E0961C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3400" y="4191000"/>
            <a:ext cx="3505200" cy="201930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52" name="Ellipse 52">
            <a:extLst xmlns:a="http://schemas.openxmlformats.org/drawingml/2006/main">
              <a:ext uri="{FF2B5EF4-FFF2-40B4-BE49-F238E27FC236}">
                <a16:creationId xmlns:a16="http://schemas.microsoft.com/office/drawing/2014/main" id="{087268ED-58B3-49B9-9BFD-549569E4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200" y="4495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98EC5344-8305-4535-9328-CFE11687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2350" y="4672839"/>
            <a:ext cx="333852" cy="334399"/>
          </a:xfrm>
          <a:custGeom xmlns:a="http://schemas.openxmlformats.org/drawingml/2006/main">
            <a:rect l="l" t="t" r="r" b="b"/>
            <a:pathLst>
              <a:path w="333852" h="334399">
                <a:moveTo>
                  <a:pt x="238125" y="28384"/>
                </a:moveTo>
                <a:cubicBezTo>
                  <a:pt x="304283" y="66582"/>
                  <a:pt x="333852" y="146484"/>
                  <a:pt x="308499" y="218548"/>
                </a:cubicBezTo>
                <a:cubicBezTo>
                  <a:pt x="283147" y="290612"/>
                  <a:pt x="210062" y="334399"/>
                  <a:pt x="134561" y="322760"/>
                </a:cubicBezTo>
                <a:cubicBezTo>
                  <a:pt x="59059" y="311122"/>
                  <a:pt x="2554" y="247358"/>
                  <a:pt x="79" y="171005"/>
                </a:cubicBezTo>
                <a:lnTo>
                  <a:pt x="0" y="165861"/>
                </a:lnTo>
                <a:lnTo>
                  <a:pt x="79" y="160718"/>
                </a:lnTo>
                <a:cubicBezTo>
                  <a:pt x="1888" y="104949"/>
                  <a:pt x="32843" y="54223"/>
                  <a:pt x="81612" y="27112"/>
                </a:cubicBezTo>
                <a:cubicBezTo>
                  <a:pt x="130381" y="0"/>
                  <a:pt x="189803" y="483"/>
                  <a:pt x="238125" y="28384"/>
                </a:cubicBezTo>
                <a:close/>
                <a:moveTo>
                  <a:pt x="233474" y="91138"/>
                </a:moveTo>
                <a:cubicBezTo>
                  <a:pt x="227275" y="84940"/>
                  <a:pt x="217226" y="84940"/>
                  <a:pt x="211027" y="91138"/>
                </a:cubicBezTo>
                <a:lnTo>
                  <a:pt x="169910" y="132254"/>
                </a:lnTo>
                <a:lnTo>
                  <a:pt x="168593" y="133746"/>
                </a:lnTo>
                <a:lnTo>
                  <a:pt x="167513" y="135334"/>
                </a:lnTo>
                <a:cubicBezTo>
                  <a:pt x="158327" y="132699"/>
                  <a:pt x="148443" y="134341"/>
                  <a:pt x="140601" y="139802"/>
                </a:cubicBezTo>
                <a:cubicBezTo>
                  <a:pt x="132760" y="145264"/>
                  <a:pt x="127793" y="153966"/>
                  <a:pt x="127080" y="163496"/>
                </a:cubicBezTo>
                <a:lnTo>
                  <a:pt x="127000" y="165861"/>
                </a:lnTo>
                <a:lnTo>
                  <a:pt x="127080" y="168243"/>
                </a:lnTo>
                <a:cubicBezTo>
                  <a:pt x="127989" y="180326"/>
                  <a:pt x="135698" y="190838"/>
                  <a:pt x="146949" y="195338"/>
                </a:cubicBezTo>
                <a:cubicBezTo>
                  <a:pt x="158200" y="199839"/>
                  <a:pt x="171031" y="197542"/>
                  <a:pt x="180023" y="189419"/>
                </a:cubicBezTo>
                <a:cubicBezTo>
                  <a:pt x="189015" y="181296"/>
                  <a:pt x="192600" y="168763"/>
                  <a:pt x="189262" y="157114"/>
                </a:cubicBezTo>
                <a:cubicBezTo>
                  <a:pt x="190393" y="156446"/>
                  <a:pt x="191433" y="155635"/>
                  <a:pt x="192358" y="154701"/>
                </a:cubicBezTo>
                <a:lnTo>
                  <a:pt x="233474" y="113585"/>
                </a:lnTo>
                <a:lnTo>
                  <a:pt x="234792" y="112093"/>
                </a:lnTo>
                <a:cubicBezTo>
                  <a:pt x="239694" y="105773"/>
                  <a:pt x="239129" y="96793"/>
                  <a:pt x="233474" y="91138"/>
                </a:cubicBezTo>
                <a:close/>
                <a:moveTo>
                  <a:pt x="158750" y="70611"/>
                </a:moveTo>
                <a:cubicBezTo>
                  <a:pt x="133488" y="70611"/>
                  <a:pt x="109261" y="80646"/>
                  <a:pt x="91398" y="98509"/>
                </a:cubicBezTo>
                <a:cubicBezTo>
                  <a:pt x="73535" y="116372"/>
                  <a:pt x="63500" y="140599"/>
                  <a:pt x="63500" y="165861"/>
                </a:cubicBezTo>
                <a:cubicBezTo>
                  <a:pt x="63500" y="174629"/>
                  <a:pt x="70608" y="181736"/>
                  <a:pt x="79375" y="181736"/>
                </a:cubicBezTo>
                <a:cubicBezTo>
                  <a:pt x="88143" y="181736"/>
                  <a:pt x="95250" y="174629"/>
                  <a:pt x="95250" y="165861"/>
                </a:cubicBezTo>
                <a:cubicBezTo>
                  <a:pt x="95250" y="130791"/>
                  <a:pt x="123680" y="102361"/>
                  <a:pt x="158750" y="102361"/>
                </a:cubicBezTo>
                <a:cubicBezTo>
                  <a:pt x="167518" y="102361"/>
                  <a:pt x="174625" y="95254"/>
                  <a:pt x="174625" y="86486"/>
                </a:cubicBezTo>
                <a:cubicBezTo>
                  <a:pt x="174625" y="77719"/>
                  <a:pt x="167518" y="70611"/>
                  <a:pt x="158750" y="70611"/>
                </a:cubicBezTo>
                <a:close/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0130F7A0-68B6-47F2-B88F-A2C36643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6394" y="5390198"/>
            <a:ext cx="1519679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掌握度 EMA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CC663810-2188-492E-9632-177E648A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7156" y="5730240"/>
            <a:ext cx="20900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指数滑动平均更新,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971FD5A7-2495-44C4-9A7F-E2C43527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7156" y="6015990"/>
            <a:ext cx="292608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答对稳步升、答错显著降。</a:t>
            </a:r>
          </a:p>
        </p:txBody>
      </p:sp>
      <p:sp>
        <p:nvSpPr>
          <p:cNvPr id="58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2737A563-8090-421B-949F-B0922BA3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7200" y="4191000"/>
            <a:ext cx="3505200" cy="201930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59" name="Ellipse 59">
            <a:extLst xmlns:a="http://schemas.openxmlformats.org/drawingml/2006/main">
              <a:ext uri="{FF2B5EF4-FFF2-40B4-BE49-F238E27FC236}">
                <a16:creationId xmlns:a16="http://schemas.microsoft.com/office/drawing/2014/main" id="{BDE891E2-C523-406D-BEA5-6E1FDD35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0" y="4495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D1D65957-3BD3-463C-926C-6914936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2025" y="4695825"/>
            <a:ext cx="95244" cy="286198"/>
          </a:xfrm>
          <a:custGeom xmlns:a="http://schemas.openxmlformats.org/drawingml/2006/main">
            <a:rect l="l" t="t" r="r" b="b"/>
            <a:pathLst>
              <a:path w="95244" h="286198">
                <a:moveTo>
                  <a:pt x="47625" y="0"/>
                </a:moveTo>
                <a:cubicBezTo>
                  <a:pt x="55673" y="1"/>
                  <a:pt x="62447" y="6025"/>
                  <a:pt x="63389" y="14018"/>
                </a:cubicBezTo>
                <a:lnTo>
                  <a:pt x="63500" y="15875"/>
                </a:lnTo>
                <a:lnTo>
                  <a:pt x="63500" y="66215"/>
                </a:lnTo>
                <a:cubicBezTo>
                  <a:pt x="82526" y="72949"/>
                  <a:pt x="95244" y="90942"/>
                  <a:pt x="95244" y="111125"/>
                </a:cubicBezTo>
                <a:cubicBezTo>
                  <a:pt x="95244" y="131308"/>
                  <a:pt x="82526" y="149301"/>
                  <a:pt x="63500" y="156036"/>
                </a:cubicBezTo>
                <a:lnTo>
                  <a:pt x="63500" y="269876"/>
                </a:lnTo>
                <a:cubicBezTo>
                  <a:pt x="63491" y="278275"/>
                  <a:pt x="56940" y="285213"/>
                  <a:pt x="48555" y="285706"/>
                </a:cubicBezTo>
                <a:cubicBezTo>
                  <a:pt x="40171" y="286198"/>
                  <a:pt x="32853" y="280074"/>
                  <a:pt x="31861" y="271733"/>
                </a:cubicBezTo>
                <a:lnTo>
                  <a:pt x="31750" y="269876"/>
                </a:lnTo>
                <a:lnTo>
                  <a:pt x="31750" y="156052"/>
                </a:lnTo>
                <a:cubicBezTo>
                  <a:pt x="13681" y="149655"/>
                  <a:pt x="1203" y="133055"/>
                  <a:pt x="79" y="113919"/>
                </a:cubicBezTo>
                <a:lnTo>
                  <a:pt x="0" y="111125"/>
                </a:lnTo>
                <a:lnTo>
                  <a:pt x="79" y="108331"/>
                </a:lnTo>
                <a:cubicBezTo>
                  <a:pt x="1203" y="89196"/>
                  <a:pt x="13681" y="72596"/>
                  <a:pt x="31750" y="66199"/>
                </a:cubicBezTo>
                <a:lnTo>
                  <a:pt x="31750" y="15875"/>
                </a:lnTo>
                <a:cubicBezTo>
                  <a:pt x="31750" y="7107"/>
                  <a:pt x="38858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13A047A-1479-4272-B109-B7FDEECB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7275" y="4695825"/>
            <a:ext cx="95244" cy="286198"/>
          </a:xfrm>
          <a:custGeom xmlns:a="http://schemas.openxmlformats.org/drawingml/2006/main">
            <a:rect l="l" t="t" r="r" b="b"/>
            <a:pathLst>
              <a:path w="95244" h="286198">
                <a:moveTo>
                  <a:pt x="47625" y="0"/>
                </a:moveTo>
                <a:cubicBezTo>
                  <a:pt x="55673" y="1"/>
                  <a:pt x="62447" y="6025"/>
                  <a:pt x="63389" y="14018"/>
                </a:cubicBezTo>
                <a:lnTo>
                  <a:pt x="63500" y="15875"/>
                </a:lnTo>
                <a:lnTo>
                  <a:pt x="63500" y="161465"/>
                </a:lnTo>
                <a:cubicBezTo>
                  <a:pt x="82526" y="168200"/>
                  <a:pt x="95244" y="186192"/>
                  <a:pt x="95244" y="206375"/>
                </a:cubicBezTo>
                <a:cubicBezTo>
                  <a:pt x="95244" y="226558"/>
                  <a:pt x="82526" y="244551"/>
                  <a:pt x="63500" y="251286"/>
                </a:cubicBezTo>
                <a:lnTo>
                  <a:pt x="63500" y="269876"/>
                </a:lnTo>
                <a:cubicBezTo>
                  <a:pt x="63491" y="278275"/>
                  <a:pt x="56940" y="285213"/>
                  <a:pt x="48555" y="285706"/>
                </a:cubicBezTo>
                <a:cubicBezTo>
                  <a:pt x="40171" y="286198"/>
                  <a:pt x="32853" y="280074"/>
                  <a:pt x="31861" y="271733"/>
                </a:cubicBezTo>
                <a:lnTo>
                  <a:pt x="31750" y="269876"/>
                </a:lnTo>
                <a:lnTo>
                  <a:pt x="31750" y="251302"/>
                </a:lnTo>
                <a:cubicBezTo>
                  <a:pt x="13681" y="244905"/>
                  <a:pt x="1203" y="228305"/>
                  <a:pt x="79" y="209169"/>
                </a:cubicBezTo>
                <a:lnTo>
                  <a:pt x="0" y="206375"/>
                </a:lnTo>
                <a:lnTo>
                  <a:pt x="79" y="203581"/>
                </a:lnTo>
                <a:cubicBezTo>
                  <a:pt x="1203" y="184446"/>
                  <a:pt x="13681" y="167846"/>
                  <a:pt x="31750" y="161449"/>
                </a:cubicBezTo>
                <a:lnTo>
                  <a:pt x="31750" y="15875"/>
                </a:lnTo>
                <a:cubicBezTo>
                  <a:pt x="31750" y="7107"/>
                  <a:pt x="38858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62" name="Freeform 62">
            <a:extLst xmlns:a="http://schemas.openxmlformats.org/drawingml/2006/main">
              <a:ext uri="{FF2B5EF4-FFF2-40B4-BE49-F238E27FC236}">
                <a16:creationId xmlns:a16="http://schemas.microsoft.com/office/drawing/2014/main" id="{3CB91A33-4C59-416B-B3F4-9C0BBDCE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2525" y="4695825"/>
            <a:ext cx="95244" cy="286198"/>
          </a:xfrm>
          <a:custGeom xmlns:a="http://schemas.openxmlformats.org/drawingml/2006/main">
            <a:rect l="l" t="t" r="r" b="b"/>
            <a:pathLst>
              <a:path w="95244" h="286198">
                <a:moveTo>
                  <a:pt x="47625" y="0"/>
                </a:moveTo>
                <a:cubicBezTo>
                  <a:pt x="55673" y="1"/>
                  <a:pt x="62447" y="6025"/>
                  <a:pt x="63389" y="14018"/>
                </a:cubicBezTo>
                <a:lnTo>
                  <a:pt x="63500" y="15875"/>
                </a:lnTo>
                <a:lnTo>
                  <a:pt x="63500" y="18590"/>
                </a:lnTo>
                <a:cubicBezTo>
                  <a:pt x="82526" y="25324"/>
                  <a:pt x="95244" y="43317"/>
                  <a:pt x="95244" y="63500"/>
                </a:cubicBezTo>
                <a:cubicBezTo>
                  <a:pt x="95244" y="83683"/>
                  <a:pt x="82526" y="101676"/>
                  <a:pt x="63500" y="108411"/>
                </a:cubicBezTo>
                <a:lnTo>
                  <a:pt x="63500" y="269876"/>
                </a:lnTo>
                <a:cubicBezTo>
                  <a:pt x="63491" y="278275"/>
                  <a:pt x="56940" y="285213"/>
                  <a:pt x="48555" y="285706"/>
                </a:cubicBezTo>
                <a:cubicBezTo>
                  <a:pt x="40171" y="286198"/>
                  <a:pt x="32853" y="280074"/>
                  <a:pt x="31861" y="271733"/>
                </a:cubicBezTo>
                <a:lnTo>
                  <a:pt x="31750" y="269876"/>
                </a:lnTo>
                <a:lnTo>
                  <a:pt x="31750" y="108426"/>
                </a:lnTo>
                <a:cubicBezTo>
                  <a:pt x="13681" y="102030"/>
                  <a:pt x="1203" y="85429"/>
                  <a:pt x="79" y="66294"/>
                </a:cubicBezTo>
                <a:lnTo>
                  <a:pt x="0" y="63500"/>
                </a:lnTo>
                <a:lnTo>
                  <a:pt x="79" y="60706"/>
                </a:lnTo>
                <a:cubicBezTo>
                  <a:pt x="1203" y="41571"/>
                  <a:pt x="13681" y="24971"/>
                  <a:pt x="31750" y="18574"/>
                </a:cubicBezTo>
                <a:lnTo>
                  <a:pt x="31750" y="15875"/>
                </a:lnTo>
                <a:cubicBezTo>
                  <a:pt x="31750" y="7107"/>
                  <a:pt x="38858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F12FC200-1E94-4736-889D-54C8CE7C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0194" y="5390198"/>
            <a:ext cx="1673619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计划自动调整</a:t>
            </a: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625BC222-008F-4EF7-936F-E7B34B1D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0956" y="5730240"/>
            <a:ext cx="195681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薄弱概念自动插入</a:t>
            </a:r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A7A9C644-25DE-47F4-8EAD-D7A6590B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0956" y="6015990"/>
            <a:ext cx="257472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复习任务,未完成顺延。</a:t>
            </a:r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3A948387-6480-4AB2-B4A5-C50F1D56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576060"/>
            <a:ext cx="2194963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StudyMate Agent · 功能介绍</a:t>
            </a:r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CFE3D8F0-2CAE-45FA-97D7-627AF879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5760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94079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0016BB-75BE-41A1-90B0-DA74F001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94DBFE2-34B6-49CE-8F6E-33970F40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57200"/>
            <a:ext cx="1143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E1448FD-1C6A-445B-AF54-19CA433F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018" y="549592"/>
            <a:ext cx="104416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05 备考搭子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8BB1B7D-FF54-4EC1-A2CD-27307FC5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917258"/>
            <a:ext cx="7156094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2B2A26"/>
                </a:solidFill>
                <a:latin typeface="Verdana"/>
                <a:ea typeface="Verdana"/>
                <a:cs typeface="Verdana"/>
              </a:rPr>
              <a:t>会说话、会记住、会在关键时刻出现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399E003-D6AA-409F-9F9D-79A02853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694" y="1427798"/>
            <a:ext cx="8684578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搭子不是装饰 —— </a:t>
            </a:r>
            <a:r>
              <a:rPr sz="19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跨会话记忆 + 关键时刻介入</a:t>
            </a: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,把「坚持」变成系统行为。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D1C6807-AEB2-461D-90C2-B624B2B8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943100"/>
            <a:ext cx="1714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DE39A79-2648-45FE-92D9-D42FE8C9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282" y="2073592"/>
            <a:ext cx="131313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B2A26"/>
                </a:solidFill>
                <a:latin typeface="Arial"/>
                <a:ea typeface="Arial"/>
                <a:cs typeface="Arial"/>
              </a:rPr>
              <a:t>芽团 · 温柔阳光</a:t>
            </a:r>
          </a:p>
        </p:txBody>
      </p:sp>
      <p:sp>
        <p:nvSpPr>
          <p:cNvPr id="1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7A24975-5C28-4437-BBB8-22F08731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8400" y="1943100"/>
            <a:ext cx="1714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8CF016E-B20A-473C-A1D6-DBCC9ACA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39082" y="2073592"/>
            <a:ext cx="131313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B2A26"/>
                </a:solidFill>
                <a:latin typeface="Arial"/>
                <a:ea typeface="Arial"/>
                <a:cs typeface="Arial"/>
              </a:rPr>
              <a:t>晴川 · 高冷学霸</a:t>
            </a:r>
          </a:p>
        </p:txBody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3D4E35B-B026-4BD2-AFA6-7EA60449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1943100"/>
            <a:ext cx="1714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3A7077F7-0768-46CE-B028-5AE344F2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7882" y="2073592"/>
            <a:ext cx="131313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B2A26"/>
                </a:solidFill>
                <a:latin typeface="Arial"/>
                <a:ea typeface="Arial"/>
                <a:cs typeface="Arial"/>
              </a:rPr>
              <a:t>凛川 · 元气少女</a:t>
            </a:r>
          </a:p>
        </p:txBody>
      </p:sp>
      <p:sp>
        <p:nvSpPr>
          <p:cNvPr id="1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5C9152A-99DD-4547-9D4B-019DAB13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1943100"/>
            <a:ext cx="1714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4EBCEEC-8BC4-4E8D-882F-3265F98B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6682" y="2073592"/>
            <a:ext cx="131313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B2A26"/>
                </a:solidFill>
                <a:latin typeface="Arial"/>
                <a:ea typeface="Arial"/>
                <a:cs typeface="Arial"/>
              </a:rPr>
              <a:t>柚宁 · 治愈萌系</a:t>
            </a:r>
          </a:p>
        </p:txBody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DD4E04F-7929-4CA8-B568-24AD822B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628900"/>
            <a:ext cx="35433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6D685F88-0194-48FB-83C2-D1D72388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895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B75A14A-1192-4F9C-B2F6-80852665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0428" y="3068506"/>
            <a:ext cx="297160" cy="261881"/>
          </a:xfrm>
          <a:custGeom xmlns:a="http://schemas.openxmlformats.org/drawingml/2006/main">
            <a:rect l="l" t="t" r="r" b="b"/>
            <a:pathLst>
              <a:path w="297160" h="261881">
                <a:moveTo>
                  <a:pt x="77035" y="4364"/>
                </a:moveTo>
                <a:cubicBezTo>
                  <a:pt x="102648" y="0"/>
                  <a:pt x="128859" y="7488"/>
                  <a:pt x="148301" y="24724"/>
                </a:cubicBezTo>
                <a:lnTo>
                  <a:pt x="148830" y="25195"/>
                </a:lnTo>
                <a:lnTo>
                  <a:pt x="149315" y="24767"/>
                </a:lnTo>
                <a:cubicBezTo>
                  <a:pt x="167848" y="8502"/>
                  <a:pt x="192487" y="1006"/>
                  <a:pt x="216938" y="4193"/>
                </a:cubicBezTo>
                <a:lnTo>
                  <a:pt x="220453" y="4707"/>
                </a:lnTo>
                <a:cubicBezTo>
                  <a:pt x="251490" y="10066"/>
                  <a:pt x="277089" y="32014"/>
                  <a:pt x="287125" y="61869"/>
                </a:cubicBezTo>
                <a:cubicBezTo>
                  <a:pt x="297160" y="91724"/>
                  <a:pt x="290015" y="124678"/>
                  <a:pt x="268516" y="147696"/>
                </a:cubicBezTo>
                <a:lnTo>
                  <a:pt x="265944" y="150340"/>
                </a:lnTo>
                <a:lnTo>
                  <a:pt x="265258" y="150925"/>
                </a:lnTo>
                <a:lnTo>
                  <a:pt x="158817" y="256353"/>
                </a:lnTo>
                <a:cubicBezTo>
                  <a:pt x="153737" y="261381"/>
                  <a:pt x="145723" y="261881"/>
                  <a:pt x="140057" y="257524"/>
                </a:cubicBezTo>
                <a:lnTo>
                  <a:pt x="138714" y="256353"/>
                </a:lnTo>
                <a:lnTo>
                  <a:pt x="31658" y="150311"/>
                </a:lnTo>
                <a:cubicBezTo>
                  <a:pt x="8532" y="127810"/>
                  <a:pt x="0" y="94230"/>
                  <a:pt x="9580" y="63419"/>
                </a:cubicBezTo>
                <a:cubicBezTo>
                  <a:pt x="19159" y="32608"/>
                  <a:pt x="45228" y="9786"/>
                  <a:pt x="77035" y="4364"/>
                </a:cubicBezTo>
                <a:close/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FBBC4C9-2FAF-4839-9C46-2CE62CB5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2694" y="2932748"/>
            <a:ext cx="1397984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跨会话记忆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C12B1E1-11E8-493F-B0BA-CBF7BA4F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5742" y="3321368"/>
            <a:ext cx="183108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回忆、约定、关系等级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B3A14E4-02E0-4A75-853D-99157DB4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5742" y="3569018"/>
            <a:ext cx="12858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全部持久化保存</a:t>
            </a:r>
          </a:p>
        </p:txBody>
      </p:sp>
      <p:sp>
        <p:nvSpPr>
          <p:cNvPr id="24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D461005-ACA1-4E0A-93E6-8EF001CD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3400" y="2628900"/>
            <a:ext cx="35433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25" name="Ellipse 25">
            <a:extLst xmlns:a="http://schemas.openxmlformats.org/drawingml/2006/main">
              <a:ext uri="{FF2B5EF4-FFF2-40B4-BE49-F238E27FC236}">
                <a16:creationId xmlns:a16="http://schemas.microsoft.com/office/drawing/2014/main" id="{DA2C1471-29D5-409E-AD91-CFEA5664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200" y="2895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33CE335-232D-4034-9ED1-B6686548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5395" y="3059597"/>
            <a:ext cx="315654" cy="282621"/>
          </a:xfrm>
          <a:custGeom xmlns:a="http://schemas.openxmlformats.org/drawingml/2006/main">
            <a:rect l="l" t="t" r="r" b="b"/>
            <a:pathLst>
              <a:path w="315654" h="282621">
                <a:moveTo>
                  <a:pt x="69323" y="39505"/>
                </a:moveTo>
                <a:cubicBezTo>
                  <a:pt x="125030" y="0"/>
                  <a:pt x="204597" y="3229"/>
                  <a:pt x="256103" y="47149"/>
                </a:cubicBezTo>
                <a:cubicBezTo>
                  <a:pt x="308496" y="91854"/>
                  <a:pt x="315654" y="164849"/>
                  <a:pt x="272563" y="217141"/>
                </a:cubicBezTo>
                <a:cubicBezTo>
                  <a:pt x="231972" y="266390"/>
                  <a:pt x="158763" y="282621"/>
                  <a:pt x="97812" y="257218"/>
                </a:cubicBezTo>
                <a:lnTo>
                  <a:pt x="94483" y="255775"/>
                </a:lnTo>
                <a:lnTo>
                  <a:pt x="31990" y="269076"/>
                </a:lnTo>
                <a:lnTo>
                  <a:pt x="31418" y="269162"/>
                </a:lnTo>
                <a:lnTo>
                  <a:pt x="30918" y="269262"/>
                </a:lnTo>
                <a:lnTo>
                  <a:pt x="30661" y="269262"/>
                </a:lnTo>
                <a:lnTo>
                  <a:pt x="30347" y="269334"/>
                </a:lnTo>
                <a:lnTo>
                  <a:pt x="29804" y="269334"/>
                </a:lnTo>
                <a:lnTo>
                  <a:pt x="29332" y="269391"/>
                </a:lnTo>
                <a:lnTo>
                  <a:pt x="29032" y="269377"/>
                </a:lnTo>
                <a:lnTo>
                  <a:pt x="28704" y="269391"/>
                </a:lnTo>
                <a:lnTo>
                  <a:pt x="28232" y="269348"/>
                </a:lnTo>
                <a:lnTo>
                  <a:pt x="27732" y="269348"/>
                </a:lnTo>
                <a:lnTo>
                  <a:pt x="27418" y="269291"/>
                </a:lnTo>
                <a:lnTo>
                  <a:pt x="27103" y="269262"/>
                </a:lnTo>
                <a:lnTo>
                  <a:pt x="26603" y="269162"/>
                </a:lnTo>
                <a:lnTo>
                  <a:pt x="26118" y="269091"/>
                </a:lnTo>
                <a:lnTo>
                  <a:pt x="25889" y="269034"/>
                </a:lnTo>
                <a:lnTo>
                  <a:pt x="25546" y="268962"/>
                </a:lnTo>
                <a:lnTo>
                  <a:pt x="24846" y="268734"/>
                </a:lnTo>
                <a:lnTo>
                  <a:pt x="24503" y="268662"/>
                </a:lnTo>
                <a:lnTo>
                  <a:pt x="24346" y="268591"/>
                </a:lnTo>
                <a:lnTo>
                  <a:pt x="24032" y="268491"/>
                </a:lnTo>
                <a:lnTo>
                  <a:pt x="23389" y="268205"/>
                </a:lnTo>
                <a:lnTo>
                  <a:pt x="22960" y="268034"/>
                </a:lnTo>
                <a:lnTo>
                  <a:pt x="22803" y="267948"/>
                </a:lnTo>
                <a:lnTo>
                  <a:pt x="22603" y="267862"/>
                </a:lnTo>
                <a:lnTo>
                  <a:pt x="22160" y="267605"/>
                </a:lnTo>
                <a:lnTo>
                  <a:pt x="21517" y="267262"/>
                </a:lnTo>
                <a:lnTo>
                  <a:pt x="21288" y="267105"/>
                </a:lnTo>
                <a:lnTo>
                  <a:pt x="20760" y="266733"/>
                </a:lnTo>
                <a:lnTo>
                  <a:pt x="20188" y="266348"/>
                </a:lnTo>
                <a:lnTo>
                  <a:pt x="20160" y="266290"/>
                </a:lnTo>
                <a:lnTo>
                  <a:pt x="19974" y="266162"/>
                </a:lnTo>
                <a:lnTo>
                  <a:pt x="19360" y="265590"/>
                </a:lnTo>
                <a:lnTo>
                  <a:pt x="19002" y="265305"/>
                </a:lnTo>
                <a:lnTo>
                  <a:pt x="18917" y="265205"/>
                </a:lnTo>
                <a:lnTo>
                  <a:pt x="18117" y="264319"/>
                </a:lnTo>
                <a:lnTo>
                  <a:pt x="17931" y="264119"/>
                </a:lnTo>
                <a:lnTo>
                  <a:pt x="17774" y="263919"/>
                </a:lnTo>
                <a:lnTo>
                  <a:pt x="17216" y="263119"/>
                </a:lnTo>
                <a:lnTo>
                  <a:pt x="17016" y="262847"/>
                </a:lnTo>
                <a:lnTo>
                  <a:pt x="16945" y="262704"/>
                </a:lnTo>
                <a:lnTo>
                  <a:pt x="16345" y="261661"/>
                </a:lnTo>
                <a:lnTo>
                  <a:pt x="16245" y="261490"/>
                </a:lnTo>
                <a:lnTo>
                  <a:pt x="16188" y="261376"/>
                </a:lnTo>
                <a:lnTo>
                  <a:pt x="16088" y="261204"/>
                </a:lnTo>
                <a:lnTo>
                  <a:pt x="15888" y="260661"/>
                </a:lnTo>
                <a:lnTo>
                  <a:pt x="15602" y="260061"/>
                </a:lnTo>
                <a:lnTo>
                  <a:pt x="15545" y="259832"/>
                </a:lnTo>
                <a:lnTo>
                  <a:pt x="15488" y="259690"/>
                </a:lnTo>
                <a:lnTo>
                  <a:pt x="15245" y="258818"/>
                </a:lnTo>
                <a:lnTo>
                  <a:pt x="15145" y="258561"/>
                </a:lnTo>
                <a:lnTo>
                  <a:pt x="15116" y="258347"/>
                </a:lnTo>
                <a:lnTo>
                  <a:pt x="15045" y="258075"/>
                </a:lnTo>
                <a:lnTo>
                  <a:pt x="14973" y="257604"/>
                </a:lnTo>
                <a:lnTo>
                  <a:pt x="14859" y="257004"/>
                </a:lnTo>
                <a:lnTo>
                  <a:pt x="14830" y="256561"/>
                </a:lnTo>
                <a:lnTo>
                  <a:pt x="14788" y="256418"/>
                </a:lnTo>
                <a:lnTo>
                  <a:pt x="14788" y="256189"/>
                </a:lnTo>
                <a:lnTo>
                  <a:pt x="14730" y="255418"/>
                </a:lnTo>
                <a:lnTo>
                  <a:pt x="14745" y="254903"/>
                </a:lnTo>
                <a:lnTo>
                  <a:pt x="14759" y="254575"/>
                </a:lnTo>
                <a:lnTo>
                  <a:pt x="14788" y="253817"/>
                </a:lnTo>
                <a:lnTo>
                  <a:pt x="14845" y="253460"/>
                </a:lnTo>
                <a:lnTo>
                  <a:pt x="14845" y="253189"/>
                </a:lnTo>
                <a:lnTo>
                  <a:pt x="14959" y="252689"/>
                </a:lnTo>
                <a:lnTo>
                  <a:pt x="15030" y="252203"/>
                </a:lnTo>
                <a:lnTo>
                  <a:pt x="15102" y="251917"/>
                </a:lnTo>
                <a:lnTo>
                  <a:pt x="15159" y="251631"/>
                </a:lnTo>
                <a:lnTo>
                  <a:pt x="15416" y="250774"/>
                </a:lnTo>
                <a:lnTo>
                  <a:pt x="15459" y="250588"/>
                </a:lnTo>
                <a:lnTo>
                  <a:pt x="31890" y="201297"/>
                </a:lnTo>
                <a:lnTo>
                  <a:pt x="31575" y="200768"/>
                </a:lnTo>
                <a:cubicBezTo>
                  <a:pt x="0" y="147233"/>
                  <a:pt x="14302" y="80882"/>
                  <a:pt x="66051" y="41905"/>
                </a:cubicBezTo>
                <a:close/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EB0C7C62-6AF1-4DD8-9DC3-3FF67F10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6494" y="2932748"/>
            <a:ext cx="1397984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人设化对话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CEF7FC7-A216-4E4B-81DD-08727396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9542" y="3321368"/>
            <a:ext cx="12858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结合学习上下文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BD647F88-D617-4B3F-899A-8D3A2987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9542" y="3569018"/>
            <a:ext cx="164934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进行角色扮演多轮聊</a:t>
            </a:r>
          </a:p>
        </p:txBody>
      </p:sp>
      <p:sp>
        <p:nvSpPr>
          <p:cNvPr id="31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DA703F14-5CA3-444D-8DFE-1A15ECD6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533900"/>
            <a:ext cx="35433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32" name="Ellipse 32">
            <a:extLst xmlns:a="http://schemas.openxmlformats.org/drawingml/2006/main">
              <a:ext uri="{FF2B5EF4-FFF2-40B4-BE49-F238E27FC236}">
                <a16:creationId xmlns:a16="http://schemas.microsoft.com/office/drawing/2014/main" id="{FC948327-B40F-416C-9D3A-A1E6036B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4800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0579624-04A6-44B7-BFA9-F5C8A882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8737" y="5205412"/>
            <a:ext cx="101284" cy="42876"/>
          </a:xfrm>
          <a:custGeom xmlns:a="http://schemas.openxmlformats.org/drawingml/2006/main">
            <a:rect l="l" t="t" r="r" b="b"/>
            <a:pathLst>
              <a:path w="101284" h="42876">
                <a:moveTo>
                  <a:pt x="82396" y="0"/>
                </a:moveTo>
                <a:cubicBezTo>
                  <a:pt x="94755" y="0"/>
                  <a:pt x="101284" y="14630"/>
                  <a:pt x="93040" y="23832"/>
                </a:cubicBezTo>
                <a:cubicBezTo>
                  <a:pt x="82208" y="35953"/>
                  <a:pt x="66719" y="42876"/>
                  <a:pt x="50463" y="42862"/>
                </a:cubicBezTo>
                <a:cubicBezTo>
                  <a:pt x="34208" y="42876"/>
                  <a:pt x="18718" y="35953"/>
                  <a:pt x="7887" y="23832"/>
                </a:cubicBezTo>
                <a:cubicBezTo>
                  <a:pt x="0" y="15030"/>
                  <a:pt x="5629" y="1272"/>
                  <a:pt x="16945" y="100"/>
                </a:cubicBezTo>
                <a:lnTo>
                  <a:pt x="18517" y="14"/>
                </a:lnTo>
                <a:lnTo>
                  <a:pt x="82396" y="14"/>
                </a:lnTo>
                <a:close/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3DE905D7-DAB3-46FB-9941-25F93778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083" y="4962525"/>
            <a:ext cx="267748" cy="228600"/>
          </a:xfrm>
          <a:custGeom xmlns:a="http://schemas.openxmlformats.org/drawingml/2006/main">
            <a:rect l="l" t="t" r="r" b="b"/>
            <a:pathLst>
              <a:path w="267748" h="228600">
                <a:moveTo>
                  <a:pt x="134117" y="0"/>
                </a:moveTo>
                <a:cubicBezTo>
                  <a:pt x="153519" y="0"/>
                  <a:pt x="169921" y="12902"/>
                  <a:pt x="175193" y="30590"/>
                </a:cubicBezTo>
                <a:lnTo>
                  <a:pt x="175851" y="33033"/>
                </a:lnTo>
                <a:lnTo>
                  <a:pt x="175965" y="33647"/>
                </a:lnTo>
                <a:cubicBezTo>
                  <a:pt x="207914" y="51671"/>
                  <a:pt x="229292" y="83913"/>
                  <a:pt x="233458" y="120358"/>
                </a:cubicBezTo>
                <a:lnTo>
                  <a:pt x="233858" y="124458"/>
                </a:lnTo>
                <a:lnTo>
                  <a:pt x="234129" y="128588"/>
                </a:lnTo>
                <a:lnTo>
                  <a:pt x="234129" y="170464"/>
                </a:lnTo>
                <a:lnTo>
                  <a:pt x="234429" y="172407"/>
                </a:lnTo>
                <a:cubicBezTo>
                  <a:pt x="236386" y="182935"/>
                  <a:pt x="242211" y="192349"/>
                  <a:pt x="250760" y="198796"/>
                </a:cubicBezTo>
                <a:lnTo>
                  <a:pt x="253146" y="200468"/>
                </a:lnTo>
                <a:lnTo>
                  <a:pt x="255460" y="201882"/>
                </a:lnTo>
                <a:cubicBezTo>
                  <a:pt x="267748" y="208840"/>
                  <a:pt x="263461" y="227114"/>
                  <a:pt x="250074" y="228514"/>
                </a:cubicBezTo>
                <a:lnTo>
                  <a:pt x="248417" y="228600"/>
                </a:lnTo>
                <a:lnTo>
                  <a:pt x="19817" y="228600"/>
                </a:lnTo>
                <a:cubicBezTo>
                  <a:pt x="5129" y="228600"/>
                  <a:pt x="0" y="209112"/>
                  <a:pt x="12773" y="201882"/>
                </a:cubicBezTo>
                <a:cubicBezTo>
                  <a:pt x="23793" y="195646"/>
                  <a:pt x="31492" y="184856"/>
                  <a:pt x="33804" y="172407"/>
                </a:cubicBezTo>
                <a:lnTo>
                  <a:pt x="34104" y="170364"/>
                </a:lnTo>
                <a:lnTo>
                  <a:pt x="34119" y="127930"/>
                </a:lnTo>
                <a:cubicBezTo>
                  <a:pt x="35887" y="90038"/>
                  <a:pt x="56340" y="55493"/>
                  <a:pt x="88711" y="35719"/>
                </a:cubicBezTo>
                <a:lnTo>
                  <a:pt x="92254" y="33633"/>
                </a:lnTo>
                <a:lnTo>
                  <a:pt x="92397" y="33018"/>
                </a:lnTo>
                <a:cubicBezTo>
                  <a:pt x="96537" y="15519"/>
                  <a:pt x="111150" y="2458"/>
                  <a:pt x="129002" y="300"/>
                </a:cubicBezTo>
                <a:lnTo>
                  <a:pt x="131602" y="57"/>
                </a:lnTo>
                <a:lnTo>
                  <a:pt x="134117" y="0"/>
                </a:lnTo>
                <a:close/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770D4601-2A9E-44F6-85CF-103C1D83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2694" y="4837748"/>
            <a:ext cx="1673619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关键时刻介入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BD9B4243-1EE0-4E7D-8EB4-BF9A1911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5742" y="5226368"/>
            <a:ext cx="201282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出分、连击里程碑、薄弱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56F6676B-D760-4E09-B1ED-CD18962A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5742" y="5474018"/>
            <a:ext cx="167661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预警等 8 个触发时机</a:t>
            </a:r>
          </a:p>
        </p:txBody>
      </p:sp>
      <p:sp>
        <p:nvSpPr>
          <p:cNvPr id="40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0DE0729E-9CAF-4734-83FF-8F488698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3400" y="4533900"/>
            <a:ext cx="35433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41" name="Ellipse 41">
            <a:extLst xmlns:a="http://schemas.openxmlformats.org/drawingml/2006/main">
              <a:ext uri="{FF2B5EF4-FFF2-40B4-BE49-F238E27FC236}">
                <a16:creationId xmlns:a16="http://schemas.microsoft.com/office/drawing/2014/main" id="{A4355A36-F337-4ABA-8BF5-0C6352CE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200" y="4800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8D8"/>
          </a:solidFill>
          <a:ln xmlns:a="http://schemas.openxmlformats.org/drawingml/2006/main">
            <a:noFill/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809C424B-8821-4198-AED6-E276FD25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8700" y="4943508"/>
            <a:ext cx="228600" cy="304767"/>
          </a:xfrm>
          <a:custGeom xmlns:a="http://schemas.openxmlformats.org/drawingml/2006/main">
            <a:rect l="l" t="t" r="r" b="b"/>
            <a:pathLst>
              <a:path w="228600" h="304767">
                <a:moveTo>
                  <a:pt x="85725" y="19017"/>
                </a:moveTo>
                <a:cubicBezTo>
                  <a:pt x="85725" y="6444"/>
                  <a:pt x="100813" y="0"/>
                  <a:pt x="109899" y="8701"/>
                </a:cubicBezTo>
                <a:cubicBezTo>
                  <a:pt x="137874" y="35504"/>
                  <a:pt x="154134" y="94355"/>
                  <a:pt x="134903" y="139003"/>
                </a:cubicBezTo>
                <a:lnTo>
                  <a:pt x="133760" y="141489"/>
                </a:lnTo>
                <a:lnTo>
                  <a:pt x="133931" y="141532"/>
                </a:lnTo>
                <a:cubicBezTo>
                  <a:pt x="142861" y="143432"/>
                  <a:pt x="151119" y="135388"/>
                  <a:pt x="166835" y="110485"/>
                </a:cubicBezTo>
                <a:lnTo>
                  <a:pt x="168835" y="107285"/>
                </a:lnTo>
                <a:cubicBezTo>
                  <a:pt x="171185" y="103502"/>
                  <a:pt x="175164" y="101032"/>
                  <a:pt x="179596" y="100603"/>
                </a:cubicBezTo>
                <a:cubicBezTo>
                  <a:pt x="184029" y="100174"/>
                  <a:pt x="188407" y="101837"/>
                  <a:pt x="191438" y="105099"/>
                </a:cubicBezTo>
                <a:cubicBezTo>
                  <a:pt x="210498" y="125601"/>
                  <a:pt x="228600" y="167635"/>
                  <a:pt x="228600" y="194681"/>
                </a:cubicBezTo>
                <a:cubicBezTo>
                  <a:pt x="228600" y="255618"/>
                  <a:pt x="177294" y="304767"/>
                  <a:pt x="114300" y="304767"/>
                </a:cubicBezTo>
                <a:cubicBezTo>
                  <a:pt x="51306" y="304767"/>
                  <a:pt x="0" y="255618"/>
                  <a:pt x="0" y="194667"/>
                </a:cubicBezTo>
                <a:cubicBezTo>
                  <a:pt x="0" y="162492"/>
                  <a:pt x="14602" y="127287"/>
                  <a:pt x="37605" y="104642"/>
                </a:cubicBezTo>
                <a:lnTo>
                  <a:pt x="46249" y="96226"/>
                </a:lnTo>
                <a:cubicBezTo>
                  <a:pt x="49692" y="92854"/>
                  <a:pt x="52449" y="90083"/>
                  <a:pt x="55078" y="87311"/>
                </a:cubicBezTo>
                <a:cubicBezTo>
                  <a:pt x="75509" y="65708"/>
                  <a:pt x="85725" y="45534"/>
                  <a:pt x="85725" y="19017"/>
                </a:cubicBezTo>
              </a:path>
            </a:pathLst>
          </a:custGeom>
          <a:solidFill xmlns:a="http://schemas.openxmlformats.org/drawingml/2006/main">
            <a:srgbClr val="D49B6E"/>
          </a:solidFill>
          <a:ln xmlns:a="http://schemas.openxmlformats.org/drawingml/2006/main">
            <a:noFill/>
          </a:ln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E9E0D3E5-AF7E-4823-8348-53A1FD5A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6494" y="4837748"/>
            <a:ext cx="112235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连续打卡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F2E4A923-C2A6-405A-870C-E1F7127F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9542" y="5226368"/>
            <a:ext cx="149487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streak 天数累积,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FA0527A4-2662-43B4-83E4-0F997A65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9542" y="5474018"/>
            <a:ext cx="183108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活跃度随坚持自动升级</a:t>
            </a:r>
          </a:p>
        </p:txBody>
      </p:sp>
      <p:sp>
        <p:nvSpPr>
          <p:cNvPr id="47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4E3A25E6-9F1E-4D7F-ABCF-D02F1378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2628900"/>
            <a:ext cx="327660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E5D8"/>
            </a:solidFill>
          </a:ln>
        </p:spPr>
      </p:sp>
      <p:pic>
        <p:nvPicPr>
          <p:cNvPr id="96" name="Imag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247c67c8e40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343900" y="2762250"/>
            <a:ext cx="3200400" cy="2000250"/>
          </a:xfrm>
          <a:prstGeom xmlns:a="http://schemas.openxmlformats.org/drawingml/2006/main" prst="rect">
            <a:avLst/>
          </a:prstGeom>
        </p:spPr>
      </p:pic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ACD99B09-A6DC-4004-AEDF-B0F93A23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98942" y="5054918"/>
            <a:ext cx="265798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搭子对话:上下文感知的角色聊天</a:t>
            </a:r>
          </a:p>
        </p:txBody>
      </p:sp>
      <p:sp>
        <p:nvSpPr>
          <p:cNvPr id="50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0BCEAFAC-65AA-4070-8510-B485EFA8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5524500"/>
            <a:ext cx="32766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BFAC0429-326C-4A27-88CA-091900BB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442" y="5683568"/>
            <a:ext cx="229451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B9580"/>
                </a:solidFill>
                <a:latin typeface="Arial"/>
                <a:ea typeface="Arial"/>
                <a:cs typeface="Arial"/>
              </a:rPr>
              <a:t>「今天的错题我已经记下了,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A0FE9A58-D5EF-41E6-AD54-3B0FB240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9442" y="5931218"/>
            <a:ext cx="219456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B9580"/>
                </a:solidFill>
                <a:latin typeface="Arial"/>
                <a:ea typeface="Arial"/>
                <a:cs typeface="Arial"/>
              </a:rPr>
              <a:t>明天安排你再复习一遍。」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7098E951-35A1-4B0F-926E-1448764B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576060"/>
            <a:ext cx="2194963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StudyMate Agent · 功能介绍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2BA84ECA-B65F-4F18-B1E9-CB534A7B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5760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19899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DE71F75-69A8-46C5-98F1-5A922A9E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1512288-9016-4F92-8114-8675FC34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19100"/>
            <a:ext cx="1143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EEA7902-F20D-450A-8E78-39F5B61A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018" y="511492"/>
            <a:ext cx="104416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06 产品界面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E6345F3-6BCC-427F-8F9B-5C65E7DB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841058"/>
            <a:ext cx="4284195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2B2A26"/>
                </a:solidFill>
                <a:latin typeface="Verdana"/>
                <a:ea typeface="Verdana"/>
                <a:cs typeface="Verdana"/>
              </a:rPr>
              <a:t>两种入口,同一套闭环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D1BE5B3-7BE6-4FBB-A322-EB32A2AA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694" y="1351598"/>
            <a:ext cx="11005746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Web 给学习者</a:t>
            </a:r>
            <a:r>
              <a:rPr sz="19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完整可视化闭环</a:t>
            </a: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,CLI 给评审</a:t>
            </a:r>
            <a:r>
              <a:rPr sz="19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可复现的自动化路径</a:t>
            </a: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 —— 同一 Agent 层,两种皮。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937B994-C54F-4C9C-95B4-DFD391AB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742" y="1816418"/>
            <a:ext cx="452670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/studio 学习会话 · 材料 → 回忆 → 测验 → 反馈 → 复盘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08DF343-67C2-4B46-BA34-49BDE255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057400"/>
            <a:ext cx="5181600" cy="32385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E5D8"/>
            </a:solidFill>
          </a:ln>
        </p:spPr>
      </p:sp>
      <p:pic>
        <p:nvPicPr>
          <p:cNvPr id="42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39bfe19dd44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70560" y="2095500"/>
            <a:ext cx="5059680" cy="3162300"/>
          </a:xfrm>
          <a:prstGeom xmlns:a="http://schemas.openxmlformats.org/drawingml/2006/main" prst="rect">
            <a:avLst/>
          </a:prstGeom>
        </p:spPr>
      </p:pic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C25B73-7BDD-4260-B38F-7728A03B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5342" y="1816418"/>
            <a:ext cx="29470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首页 Lobby · 考试项目与今日进度</a:t>
            </a:r>
          </a:p>
        </p:txBody>
      </p:sp>
      <p:sp>
        <p:nvSpPr>
          <p:cNvPr id="13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547FA85-B889-4231-B164-AA58FF9A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2200" y="2057400"/>
            <a:ext cx="5181600" cy="32385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E5D8"/>
            </a:solidFill>
          </a:ln>
        </p:spPr>
      </p:sp>
      <p:pic>
        <p:nvPicPr>
          <p:cNvPr id="45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6fc8c187f43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33160" y="2095500"/>
            <a:ext cx="5059680" cy="3162300"/>
          </a:xfrm>
          <a:prstGeom xmlns:a="http://schemas.openxmlformats.org/drawingml/2006/main" prst="rect">
            <a:avLst/>
          </a:prstGeom>
        </p:spPr>
      </p:pic>
      <p:sp>
        <p:nvSpPr>
          <p:cNvPr id="16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A584C38-7733-4EDB-A56D-1A6AAC33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4864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pic>
        <p:nvPicPr>
          <p:cNvPr id="47" name="Imag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08f7640e048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70560" y="5524500"/>
            <a:ext cx="1402080" cy="876300"/>
          </a:xfrm>
          <a:prstGeom xmlns:a="http://schemas.openxmlformats.org/drawingml/2006/main" prst="rect">
            <a:avLst/>
          </a:prstGeom>
        </p:spPr>
      </p:pic>
      <p:sp>
        <p:nvSpPr>
          <p:cNvPr id="18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8DBEF3C-E86C-4E43-826C-33B063C9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86000" y="54864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pic>
        <p:nvPicPr>
          <p:cNvPr id="49" name="Imag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9bf8026e146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346960" y="5524500"/>
            <a:ext cx="1402080" cy="876300"/>
          </a:xfrm>
          <a:prstGeom xmlns:a="http://schemas.openxmlformats.org/drawingml/2006/main" prst="rect">
            <a:avLst/>
          </a:prstGeom>
        </p:spPr>
      </p:pic>
      <p:sp>
        <p:nvSpPr>
          <p:cNvPr id="2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3F894E9-ABBF-4B57-86F1-168A0A90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2400" y="54864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pic>
        <p:nvPicPr>
          <p:cNvPr id="51" name="Imag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4406549e44f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3360" y="5524500"/>
            <a:ext cx="1402080" cy="876300"/>
          </a:xfrm>
          <a:prstGeom xmlns:a="http://schemas.openxmlformats.org/drawingml/2006/main" prst="rect">
            <a:avLst/>
          </a:prstGeom>
        </p:spPr>
      </p:pic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9CFA74B-8A20-4934-ADF1-33396A69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8800" y="54864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pic>
        <p:nvPicPr>
          <p:cNvPr id="53" name="Imag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fa21e9b7245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699760" y="5524500"/>
            <a:ext cx="1402080" cy="876300"/>
          </a:xfrm>
          <a:prstGeom xmlns:a="http://schemas.openxmlformats.org/drawingml/2006/main" prst="rect">
            <a:avLst/>
          </a:prstGeom>
        </p:spPr>
      </p:pic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F1485A9D-EB41-47E9-A997-A7BB8645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0094" y="5618798"/>
            <a:ext cx="1673619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还有更多界面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F5922BE-62A7-4556-AAAB-DBCE00F1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3142" y="5988368"/>
            <a:ext cx="359540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测验 · 计划 · 成长趋势 · Ambient 深色主题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781DFD59-43F2-40CC-BCD5-3DDB62AB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614160"/>
            <a:ext cx="2194963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StudyMate Agent · 功能介绍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3B2F647F-9168-44A8-BDD9-45E775B0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6141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54264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BB69074-C345-40F0-B6AA-6B078B99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BDFDC68-B904-4D15-81A8-63E0D6BA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19100"/>
            <a:ext cx="1333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02D993D-3F0B-40E5-9763-018E58CE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268" y="511492"/>
            <a:ext cx="104416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07 技术架构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83DAE5C-1137-475C-8EC1-46DB7145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841058"/>
            <a:ext cx="6515030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2B2A26"/>
                </a:solidFill>
                <a:latin typeface="Verdana"/>
                <a:ea typeface="Verdana"/>
                <a:cs typeface="Verdana"/>
              </a:rPr>
              <a:t>LLM 出决策,TypeScript 管流程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8CFAC0A-E4D7-42E5-903D-A0BD69F5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694" y="1351598"/>
            <a:ext cx="10617350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每一步都是</a:t>
            </a:r>
            <a:r>
              <a:rPr sz="19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结构化 JSON 决策 + 确定性代码路由</a:t>
            </a: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,全链路事件留痕 —— 智能但可审计。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373F7F4-6439-49BA-B60C-BF9D1187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1790700"/>
            <a:ext cx="381000" cy="9906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6F6C996-638A-4101-8E16-1AC0E95C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842" y="2184082"/>
            <a:ext cx="27331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1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27D8EAD-8845-4B08-84D9-53ADA100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1790700"/>
            <a:ext cx="8763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EFE9"/>
          </a:solidFill>
          <a:ln xmlns:a="http://schemas.openxmlformats.org/drawingml/2006/main" w="14288">
            <a:solidFill>
              <a:srgbClr val="7BA88F"/>
            </a:solidFill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AC8735-FE12-4890-AA29-ACCC5E47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042" y="1911668"/>
            <a:ext cx="180455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spc="75">
                <a:solidFill>
                  <a:srgbClr val="6B9580"/>
                </a:solidFill>
                <a:latin typeface="Arial"/>
                <a:ea typeface="Arial"/>
                <a:cs typeface="Arial"/>
              </a:rPr>
              <a:t>UI 层 · 使用者入口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6ED3DD70-05EC-44F8-AEAF-97F34365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1425" y="2252002"/>
            <a:ext cx="309851" cy="257835"/>
          </a:xfrm>
          <a:custGeom xmlns:a="http://schemas.openxmlformats.org/drawingml/2006/main">
            <a:rect l="l" t="t" r="r" b="b"/>
            <a:pathLst>
              <a:path w="309851" h="257835">
                <a:moveTo>
                  <a:pt x="154925" y="3"/>
                </a:moveTo>
                <a:cubicBezTo>
                  <a:pt x="215690" y="0"/>
                  <a:pt x="269808" y="38431"/>
                  <a:pt x="289829" y="95802"/>
                </a:cubicBezTo>
                <a:cubicBezTo>
                  <a:pt x="309851" y="153173"/>
                  <a:pt x="291395" y="216931"/>
                  <a:pt x="243822" y="254735"/>
                </a:cubicBezTo>
                <a:cubicBezTo>
                  <a:pt x="241295" y="256743"/>
                  <a:pt x="238163" y="257835"/>
                  <a:pt x="234935" y="257835"/>
                </a:cubicBezTo>
                <a:lnTo>
                  <a:pt x="74915" y="257835"/>
                </a:lnTo>
                <a:cubicBezTo>
                  <a:pt x="71688" y="257835"/>
                  <a:pt x="68556" y="256743"/>
                  <a:pt x="66029" y="254735"/>
                </a:cubicBezTo>
                <a:cubicBezTo>
                  <a:pt x="18456" y="216931"/>
                  <a:pt x="0" y="153173"/>
                  <a:pt x="20021" y="95802"/>
                </a:cubicBezTo>
                <a:cubicBezTo>
                  <a:pt x="40043" y="38431"/>
                  <a:pt x="94161" y="0"/>
                  <a:pt x="154925" y="3"/>
                </a:cubicBezTo>
                <a:moveTo>
                  <a:pt x="215033" y="83428"/>
                </a:moveTo>
                <a:cubicBezTo>
                  <a:pt x="209454" y="77850"/>
                  <a:pt x="200410" y="77850"/>
                  <a:pt x="194830" y="83428"/>
                </a:cubicBezTo>
                <a:lnTo>
                  <a:pt x="162312" y="115918"/>
                </a:lnTo>
                <a:cubicBezTo>
                  <a:pt x="154016" y="113712"/>
                  <a:pt x="145168" y="115347"/>
                  <a:pt x="138208" y="120372"/>
                </a:cubicBezTo>
                <a:cubicBezTo>
                  <a:pt x="131248" y="125397"/>
                  <a:pt x="126911" y="133281"/>
                  <a:pt x="126393" y="141849"/>
                </a:cubicBezTo>
                <a:lnTo>
                  <a:pt x="126350" y="143535"/>
                </a:lnTo>
                <a:cubicBezTo>
                  <a:pt x="126371" y="154626"/>
                  <a:pt x="132807" y="164704"/>
                  <a:pt x="142862" y="169386"/>
                </a:cubicBezTo>
                <a:cubicBezTo>
                  <a:pt x="152916" y="174069"/>
                  <a:pt x="164771" y="172510"/>
                  <a:pt x="173274" y="165389"/>
                </a:cubicBezTo>
                <a:cubicBezTo>
                  <a:pt x="181776" y="158267"/>
                  <a:pt x="185390" y="146868"/>
                  <a:pt x="182543" y="136149"/>
                </a:cubicBezTo>
                <a:lnTo>
                  <a:pt x="215033" y="103630"/>
                </a:lnTo>
                <a:cubicBezTo>
                  <a:pt x="220611" y="98051"/>
                  <a:pt x="220611" y="89007"/>
                  <a:pt x="215033" y="83428"/>
                </a:cubicBezTo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26F26CB-99B2-4019-ACB3-E51AF3ED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1244" y="2170748"/>
            <a:ext cx="1466113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Web 仪表盘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BCEE191-BAA7-428F-ACBD-EF46454B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4292" y="2502218"/>
            <a:ext cx="315644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React 18 + Vite · /studio · /growth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F87DB29-C8B8-4778-8178-AA2C24C9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1149" y="2238375"/>
            <a:ext cx="228603" cy="285751"/>
          </a:xfrm>
          <a:custGeom xmlns:a="http://schemas.openxmlformats.org/drawingml/2006/main">
            <a:rect l="l" t="t" r="r" b="b"/>
            <a:pathLst>
              <a:path w="228603" h="285751">
                <a:moveTo>
                  <a:pt x="114301" y="0"/>
                </a:moveTo>
                <a:lnTo>
                  <a:pt x="115973" y="100"/>
                </a:lnTo>
                <a:cubicBezTo>
                  <a:pt x="122538" y="874"/>
                  <a:pt x="127715" y="6051"/>
                  <a:pt x="128489" y="12616"/>
                </a:cubicBezTo>
                <a:lnTo>
                  <a:pt x="128589" y="14288"/>
                </a:lnTo>
                <a:lnTo>
                  <a:pt x="128589" y="71438"/>
                </a:lnTo>
                <a:lnTo>
                  <a:pt x="128660" y="73581"/>
                </a:lnTo>
                <a:cubicBezTo>
                  <a:pt x="129717" y="87638"/>
                  <a:pt x="140867" y="98825"/>
                  <a:pt x="154921" y="99927"/>
                </a:cubicBezTo>
                <a:lnTo>
                  <a:pt x="157164" y="100012"/>
                </a:lnTo>
                <a:lnTo>
                  <a:pt x="214314" y="100012"/>
                </a:lnTo>
                <a:lnTo>
                  <a:pt x="215985" y="100113"/>
                </a:lnTo>
                <a:cubicBezTo>
                  <a:pt x="222550" y="100887"/>
                  <a:pt x="227727" y="106063"/>
                  <a:pt x="228501" y="112628"/>
                </a:cubicBezTo>
                <a:lnTo>
                  <a:pt x="228601" y="114300"/>
                </a:lnTo>
                <a:lnTo>
                  <a:pt x="228601" y="242888"/>
                </a:lnTo>
                <a:cubicBezTo>
                  <a:pt x="228603" y="265584"/>
                  <a:pt x="210911" y="284347"/>
                  <a:pt x="188253" y="285679"/>
                </a:cubicBezTo>
                <a:lnTo>
                  <a:pt x="185739" y="285750"/>
                </a:lnTo>
                <a:lnTo>
                  <a:pt x="42864" y="285750"/>
                </a:lnTo>
                <a:cubicBezTo>
                  <a:pt x="20167" y="285751"/>
                  <a:pt x="1404" y="268060"/>
                  <a:pt x="73" y="245402"/>
                </a:cubicBezTo>
                <a:lnTo>
                  <a:pt x="1" y="242888"/>
                </a:lnTo>
                <a:lnTo>
                  <a:pt x="1" y="42862"/>
                </a:lnTo>
                <a:cubicBezTo>
                  <a:pt x="0" y="20166"/>
                  <a:pt x="17692" y="1403"/>
                  <a:pt x="40349" y="71"/>
                </a:cubicBezTo>
                <a:lnTo>
                  <a:pt x="42864" y="0"/>
                </a:lnTo>
                <a:close/>
                <a:moveTo>
                  <a:pt x="92113" y="158677"/>
                </a:moveTo>
                <a:cubicBezTo>
                  <a:pt x="85058" y="155154"/>
                  <a:pt x="76483" y="158012"/>
                  <a:pt x="72953" y="165063"/>
                </a:cubicBezTo>
                <a:lnTo>
                  <a:pt x="58666" y="193638"/>
                </a:lnTo>
                <a:cubicBezTo>
                  <a:pt x="56657" y="197659"/>
                  <a:pt x="56657" y="202391"/>
                  <a:pt x="58666" y="206412"/>
                </a:cubicBezTo>
                <a:lnTo>
                  <a:pt x="72953" y="234987"/>
                </a:lnTo>
                <a:cubicBezTo>
                  <a:pt x="76483" y="242038"/>
                  <a:pt x="85058" y="244896"/>
                  <a:pt x="92113" y="241373"/>
                </a:cubicBezTo>
                <a:lnTo>
                  <a:pt x="93570" y="240544"/>
                </a:lnTo>
                <a:cubicBezTo>
                  <a:pt x="99621" y="236566"/>
                  <a:pt x="101739" y="228690"/>
                  <a:pt x="98499" y="222213"/>
                </a:cubicBezTo>
                <a:lnTo>
                  <a:pt x="87412" y="200025"/>
                </a:lnTo>
                <a:lnTo>
                  <a:pt x="98499" y="177837"/>
                </a:lnTo>
                <a:cubicBezTo>
                  <a:pt x="102022" y="170782"/>
                  <a:pt x="99164" y="162207"/>
                  <a:pt x="92113" y="158677"/>
                </a:cubicBezTo>
                <a:moveTo>
                  <a:pt x="155649" y="165063"/>
                </a:moveTo>
                <a:cubicBezTo>
                  <a:pt x="152119" y="158012"/>
                  <a:pt x="143544" y="155154"/>
                  <a:pt x="136490" y="158677"/>
                </a:cubicBezTo>
                <a:lnTo>
                  <a:pt x="135032" y="159506"/>
                </a:lnTo>
                <a:cubicBezTo>
                  <a:pt x="128981" y="163484"/>
                  <a:pt x="126863" y="171360"/>
                  <a:pt x="130103" y="177837"/>
                </a:cubicBezTo>
                <a:lnTo>
                  <a:pt x="141162" y="200025"/>
                </a:lnTo>
                <a:lnTo>
                  <a:pt x="130089" y="222213"/>
                </a:lnTo>
                <a:cubicBezTo>
                  <a:pt x="126852" y="229221"/>
                  <a:pt x="129766" y="237532"/>
                  <a:pt x="136670" y="240984"/>
                </a:cubicBezTo>
                <a:cubicBezTo>
                  <a:pt x="143574" y="244436"/>
                  <a:pt x="151971" y="241780"/>
                  <a:pt x="155635" y="234987"/>
                </a:cubicBezTo>
                <a:lnTo>
                  <a:pt x="169923" y="206412"/>
                </a:lnTo>
                <a:cubicBezTo>
                  <a:pt x="171932" y="202391"/>
                  <a:pt x="171932" y="197659"/>
                  <a:pt x="169923" y="193638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B8C94DF-D07B-45E3-BBB7-08E9EE58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8298" y="2252648"/>
            <a:ext cx="57164" cy="57164"/>
          </a:xfrm>
          <a:custGeom xmlns:a="http://schemas.openxmlformats.org/drawingml/2006/main">
            <a:rect l="l" t="t" r="r" b="b"/>
            <a:pathLst>
              <a:path w="57164" h="57164">
                <a:moveTo>
                  <a:pt x="57164" y="57164"/>
                </a:moveTo>
                <a:lnTo>
                  <a:pt x="14" y="57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5F7CF017-CFF7-4597-9B2F-4133DD99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0344" y="2170748"/>
            <a:ext cx="1388623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CLI 命令行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DCE4B73-22C1-41EA-A7E1-5420065C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3392" y="2502218"/>
            <a:ext cx="321875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Commander · init→ingest→plan→grade</a:t>
            </a:r>
          </a:p>
        </p:txBody>
      </p:sp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798B055-C4A3-49D0-BCCC-E818CC39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2971800"/>
            <a:ext cx="381000" cy="9906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3BCCE062-0A27-4A2C-90C2-6D8AB481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842" y="3365182"/>
            <a:ext cx="27331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2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5ED320D-DB10-4275-B4DC-CF4062A7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971800"/>
            <a:ext cx="8763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EFE9"/>
          </a:solidFill>
          <a:ln xmlns:a="http://schemas.openxmlformats.org/drawingml/2006/main" w="14288">
            <a:solidFill>
              <a:srgbClr val="6B9580"/>
            </a:solidFill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EF203BB-4D76-4C91-87CE-4EC7C550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042" y="3092768"/>
            <a:ext cx="192611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spc="75">
                <a:solidFill>
                  <a:srgbClr val="6B9580"/>
                </a:solidFill>
                <a:latin typeface="Arial"/>
                <a:ea typeface="Arial"/>
                <a:cs typeface="Arial"/>
              </a:rPr>
              <a:t>API 层 · 服务端权威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B9DCB55F-6CA5-4A44-97E2-52797FD4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3473" y="3413075"/>
            <a:ext cx="300850" cy="302024"/>
          </a:xfrm>
          <a:custGeom xmlns:a="http://schemas.openxmlformats.org/drawingml/2006/main">
            <a:rect l="l" t="t" r="r" b="b"/>
            <a:pathLst>
              <a:path w="300850" h="302024">
                <a:moveTo>
                  <a:pt x="214314" y="25545"/>
                </a:moveTo>
                <a:cubicBezTo>
                  <a:pt x="274362" y="60214"/>
                  <a:pt x="300850" y="132991"/>
                  <a:pt x="277135" y="198146"/>
                </a:cubicBezTo>
                <a:cubicBezTo>
                  <a:pt x="253420" y="263301"/>
                  <a:pt x="186348" y="302024"/>
                  <a:pt x="118064" y="289983"/>
                </a:cubicBezTo>
                <a:cubicBezTo>
                  <a:pt x="49781" y="277941"/>
                  <a:pt x="0" y="218612"/>
                  <a:pt x="2" y="149275"/>
                </a:cubicBezTo>
                <a:lnTo>
                  <a:pt x="73" y="144646"/>
                </a:lnTo>
                <a:cubicBezTo>
                  <a:pt x="1701" y="94454"/>
                  <a:pt x="29560" y="48801"/>
                  <a:pt x="73452" y="24400"/>
                </a:cubicBezTo>
                <a:cubicBezTo>
                  <a:pt x="117344" y="0"/>
                  <a:pt x="170824" y="435"/>
                  <a:pt x="214314" y="25545"/>
                </a:cubicBezTo>
                <a:moveTo>
                  <a:pt x="124403" y="110599"/>
                </a:moveTo>
                <a:cubicBezTo>
                  <a:pt x="118824" y="105021"/>
                  <a:pt x="109780" y="105021"/>
                  <a:pt x="104200" y="110599"/>
                </a:cubicBezTo>
                <a:lnTo>
                  <a:pt x="75625" y="139174"/>
                </a:lnTo>
                <a:cubicBezTo>
                  <a:pt x="70048" y="144753"/>
                  <a:pt x="70048" y="153797"/>
                  <a:pt x="75625" y="159376"/>
                </a:cubicBezTo>
                <a:lnTo>
                  <a:pt x="104200" y="187951"/>
                </a:lnTo>
                <a:cubicBezTo>
                  <a:pt x="109780" y="193529"/>
                  <a:pt x="118824" y="193529"/>
                  <a:pt x="124403" y="187951"/>
                </a:cubicBezTo>
                <a:lnTo>
                  <a:pt x="125589" y="186608"/>
                </a:lnTo>
                <a:cubicBezTo>
                  <a:pt x="130001" y="180921"/>
                  <a:pt x="129493" y="172839"/>
                  <a:pt x="124403" y="167749"/>
                </a:cubicBezTo>
                <a:lnTo>
                  <a:pt x="105944" y="149275"/>
                </a:lnTo>
                <a:lnTo>
                  <a:pt x="124403" y="130801"/>
                </a:lnTo>
                <a:cubicBezTo>
                  <a:pt x="129981" y="125222"/>
                  <a:pt x="129981" y="116178"/>
                  <a:pt x="124403" y="110599"/>
                </a:cubicBezTo>
                <a:moveTo>
                  <a:pt x="181553" y="110599"/>
                </a:moveTo>
                <a:cubicBezTo>
                  <a:pt x="175974" y="105021"/>
                  <a:pt x="166930" y="105021"/>
                  <a:pt x="161350" y="110599"/>
                </a:cubicBezTo>
                <a:lnTo>
                  <a:pt x="160165" y="111942"/>
                </a:lnTo>
                <a:cubicBezTo>
                  <a:pt x="155753" y="117629"/>
                  <a:pt x="156261" y="125711"/>
                  <a:pt x="161350" y="130801"/>
                </a:cubicBezTo>
                <a:lnTo>
                  <a:pt x="179810" y="149275"/>
                </a:lnTo>
                <a:lnTo>
                  <a:pt x="161350" y="167749"/>
                </a:lnTo>
                <a:cubicBezTo>
                  <a:pt x="155936" y="173355"/>
                  <a:pt x="156013" y="182266"/>
                  <a:pt x="161525" y="187777"/>
                </a:cubicBezTo>
                <a:cubicBezTo>
                  <a:pt x="167036" y="193288"/>
                  <a:pt x="175947" y="193366"/>
                  <a:pt x="181553" y="187951"/>
                </a:cubicBezTo>
                <a:lnTo>
                  <a:pt x="210128" y="159376"/>
                </a:lnTo>
                <a:cubicBezTo>
                  <a:pt x="215706" y="153797"/>
                  <a:pt x="215706" y="144753"/>
                  <a:pt x="210128" y="139174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67207C66-91C2-4F91-B993-DF0DF934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1244" y="3351848"/>
            <a:ext cx="2055441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Express 5 REST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2B28E822-4EDE-441A-9280-ABA344CB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4292" y="3683318"/>
            <a:ext cx="421938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批改原子幂等 · 上传白名单 20MiB · 默认回环监听</a:t>
            </a:r>
          </a:p>
        </p:txBody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35BADE3-A2C5-436A-95DE-0D57EBC1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4152900"/>
            <a:ext cx="381000" cy="1219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49B6E"/>
          </a:solidFill>
          <a:ln xmlns:a="http://schemas.openxmlformats.org/drawingml/2006/main">
            <a:noFill/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5DA49E4F-BB81-4B54-BACA-D4E6CC24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842" y="4660582"/>
            <a:ext cx="27331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31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DFF4288-CB1A-476A-A84A-ED7806D5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4152900"/>
            <a:ext cx="876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6E8D8"/>
          </a:solidFill>
          <a:ln xmlns:a="http://schemas.openxmlformats.org/drawingml/2006/main" w="14288">
            <a:solidFill>
              <a:srgbClr val="D49B6E"/>
            </a:solidFill>
          </a:ln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092B556B-B0D8-4449-8770-4085D558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042" y="4273868"/>
            <a:ext cx="283694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 spc="75">
                <a:solidFill>
                  <a:srgbClr val="6B9580"/>
                </a:solidFill>
                <a:latin typeface="Arial"/>
                <a:ea typeface="Arial"/>
                <a:cs typeface="Arial"/>
              </a:rPr>
              <a:t>AGENT 层 · 8 个模块化智能体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45913F9-7F3A-4845-B8F7-9A3A4DFC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6214" y="4614862"/>
            <a:ext cx="260747" cy="257670"/>
          </a:xfrm>
          <a:custGeom xmlns:a="http://schemas.openxmlformats.org/drawingml/2006/main">
            <a:rect l="l" t="t" r="r" b="b"/>
            <a:pathLst>
              <a:path w="260747" h="257670">
                <a:moveTo>
                  <a:pt x="257209" y="179351"/>
                </a:moveTo>
                <a:cubicBezTo>
                  <a:pt x="260732" y="186406"/>
                  <a:pt x="257874" y="194981"/>
                  <a:pt x="250823" y="198511"/>
                </a:cubicBezTo>
                <a:lnTo>
                  <a:pt x="136523" y="255661"/>
                </a:lnTo>
                <a:cubicBezTo>
                  <a:pt x="132502" y="257670"/>
                  <a:pt x="127770" y="257670"/>
                  <a:pt x="123750" y="255661"/>
                </a:cubicBezTo>
                <a:lnTo>
                  <a:pt x="9450" y="198511"/>
                </a:lnTo>
                <a:cubicBezTo>
                  <a:pt x="2656" y="194847"/>
                  <a:pt x="0" y="186449"/>
                  <a:pt x="3452" y="179545"/>
                </a:cubicBezTo>
                <a:cubicBezTo>
                  <a:pt x="6904" y="172641"/>
                  <a:pt x="15215" y="169727"/>
                  <a:pt x="22223" y="172964"/>
                </a:cubicBezTo>
                <a:lnTo>
                  <a:pt x="130136" y="226885"/>
                </a:lnTo>
                <a:lnTo>
                  <a:pt x="238064" y="172950"/>
                </a:lnTo>
                <a:cubicBezTo>
                  <a:pt x="245119" y="169427"/>
                  <a:pt x="253694" y="172285"/>
                  <a:pt x="257224" y="179337"/>
                </a:cubicBezTo>
                <a:moveTo>
                  <a:pt x="257224" y="122187"/>
                </a:moveTo>
                <a:cubicBezTo>
                  <a:pt x="260747" y="129241"/>
                  <a:pt x="257888" y="137816"/>
                  <a:pt x="250837" y="141346"/>
                </a:cubicBezTo>
                <a:lnTo>
                  <a:pt x="136537" y="198496"/>
                </a:lnTo>
                <a:cubicBezTo>
                  <a:pt x="132516" y="200505"/>
                  <a:pt x="127785" y="200505"/>
                  <a:pt x="123764" y="198496"/>
                </a:cubicBezTo>
                <a:lnTo>
                  <a:pt x="9464" y="141346"/>
                </a:lnTo>
                <a:cubicBezTo>
                  <a:pt x="2670" y="137683"/>
                  <a:pt x="14" y="129285"/>
                  <a:pt x="3466" y="122381"/>
                </a:cubicBezTo>
                <a:cubicBezTo>
                  <a:pt x="6918" y="115477"/>
                  <a:pt x="15230" y="112563"/>
                  <a:pt x="22237" y="115800"/>
                </a:cubicBezTo>
                <a:lnTo>
                  <a:pt x="130136" y="169735"/>
                </a:lnTo>
                <a:lnTo>
                  <a:pt x="238064" y="115800"/>
                </a:lnTo>
                <a:cubicBezTo>
                  <a:pt x="245119" y="112277"/>
                  <a:pt x="253694" y="115135"/>
                  <a:pt x="257224" y="122187"/>
                </a:cubicBezTo>
                <a:moveTo>
                  <a:pt x="130250" y="0"/>
                </a:moveTo>
                <a:cubicBezTo>
                  <a:pt x="130784" y="0"/>
                  <a:pt x="131313" y="33"/>
                  <a:pt x="131836" y="100"/>
                </a:cubicBezTo>
                <a:lnTo>
                  <a:pt x="133422" y="386"/>
                </a:lnTo>
                <a:lnTo>
                  <a:pt x="134651" y="729"/>
                </a:lnTo>
                <a:lnTo>
                  <a:pt x="134822" y="814"/>
                </a:lnTo>
                <a:lnTo>
                  <a:pt x="134994" y="843"/>
                </a:lnTo>
                <a:lnTo>
                  <a:pt x="135408" y="1043"/>
                </a:lnTo>
                <a:lnTo>
                  <a:pt x="136123" y="1314"/>
                </a:lnTo>
                <a:lnTo>
                  <a:pt x="136351" y="1443"/>
                </a:lnTo>
                <a:lnTo>
                  <a:pt x="136523" y="1514"/>
                </a:lnTo>
                <a:lnTo>
                  <a:pt x="250823" y="58664"/>
                </a:lnTo>
                <a:cubicBezTo>
                  <a:pt x="255656" y="61087"/>
                  <a:pt x="258708" y="66031"/>
                  <a:pt x="258708" y="71438"/>
                </a:cubicBezTo>
                <a:cubicBezTo>
                  <a:pt x="258708" y="76844"/>
                  <a:pt x="255656" y="81788"/>
                  <a:pt x="250823" y="84211"/>
                </a:cubicBezTo>
                <a:lnTo>
                  <a:pt x="136523" y="141361"/>
                </a:lnTo>
                <a:cubicBezTo>
                  <a:pt x="132502" y="143370"/>
                  <a:pt x="127770" y="143370"/>
                  <a:pt x="123750" y="141361"/>
                </a:cubicBezTo>
                <a:lnTo>
                  <a:pt x="9450" y="84211"/>
                </a:lnTo>
                <a:cubicBezTo>
                  <a:pt x="4616" y="81788"/>
                  <a:pt x="1564" y="76844"/>
                  <a:pt x="1564" y="71438"/>
                </a:cubicBezTo>
                <a:cubicBezTo>
                  <a:pt x="1564" y="66031"/>
                  <a:pt x="4616" y="61087"/>
                  <a:pt x="9450" y="58664"/>
                </a:cubicBezTo>
                <a:lnTo>
                  <a:pt x="123750" y="1514"/>
                </a:lnTo>
                <a:lnTo>
                  <a:pt x="123907" y="1443"/>
                </a:lnTo>
                <a:lnTo>
                  <a:pt x="124164" y="1300"/>
                </a:lnTo>
                <a:lnTo>
                  <a:pt x="125278" y="843"/>
                </a:lnTo>
                <a:lnTo>
                  <a:pt x="125436" y="814"/>
                </a:lnTo>
                <a:lnTo>
                  <a:pt x="125621" y="729"/>
                </a:lnTo>
                <a:lnTo>
                  <a:pt x="126850" y="386"/>
                </a:lnTo>
                <a:lnTo>
                  <a:pt x="128422" y="100"/>
                </a:lnTo>
                <a:lnTo>
                  <a:pt x="129222" y="29"/>
                </a:ln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34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295A906D-E858-4101-88E5-EC1DA3FF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1150" y="4610100"/>
            <a:ext cx="952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5D8"/>
            </a:solidFill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7BFACACA-2D96-4202-95D7-89FE2A06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68805" y="4692968"/>
            <a:ext cx="3771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B2A26"/>
                </a:solidFill>
                <a:latin typeface="Arial"/>
                <a:ea typeface="Arial"/>
                <a:cs typeface="Arial"/>
              </a:rPr>
              <a:t>切片</a:t>
            </a:r>
          </a:p>
        </p:txBody>
      </p:sp>
      <p:sp>
        <p:nvSpPr>
          <p:cNvPr id="36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F98A6357-EAC6-4A2B-9C20-5F5C44D4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47950" y="4610100"/>
            <a:ext cx="952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5D8"/>
            </a:solidFill>
          </a:ln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B5C4AF56-76FE-489B-976B-9B0D6F40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35605" y="4692968"/>
            <a:ext cx="3771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B2A26"/>
                </a:solidFill>
                <a:latin typeface="Arial"/>
                <a:ea typeface="Arial"/>
                <a:cs typeface="Arial"/>
              </a:rPr>
              <a:t>概念</a:t>
            </a:r>
          </a:p>
        </p:txBody>
      </p:sp>
      <p:sp>
        <p:nvSpPr>
          <p:cNvPr id="38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A0504EF-4E11-44DC-8485-AD0AC2C9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4610100"/>
            <a:ext cx="952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5D8"/>
            </a:solidFill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0DF259E-E148-4EE1-B8E8-F881B810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2405" y="4692968"/>
            <a:ext cx="3771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B2A26"/>
                </a:solidFill>
                <a:latin typeface="Arial"/>
                <a:ea typeface="Arial"/>
                <a:cs typeface="Arial"/>
              </a:rPr>
              <a:t>计划</a:t>
            </a:r>
          </a:p>
        </p:txBody>
      </p:sp>
      <p:sp>
        <p:nvSpPr>
          <p:cNvPr id="40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78F9F9C9-8101-4780-B7D4-798EC2DB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1550" y="4610100"/>
            <a:ext cx="952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5D8"/>
            </a:solidFill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71DAB630-400D-414C-A2EB-7FFCD029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69205" y="4692968"/>
            <a:ext cx="3771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B2A26"/>
                </a:solidFill>
                <a:latin typeface="Arial"/>
                <a:ea typeface="Arial"/>
                <a:cs typeface="Arial"/>
              </a:rPr>
              <a:t>调度</a:t>
            </a:r>
          </a:p>
        </p:txBody>
      </p:sp>
      <p:sp>
        <p:nvSpPr>
          <p:cNvPr id="42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26706F33-2BC0-4AF1-9AB8-1935D6C4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48350" y="4610100"/>
            <a:ext cx="952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5D8"/>
            </a:solidFill>
          </a:ln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89935E27-7FD7-42B4-B84C-DE88F1AD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6005" y="4692968"/>
            <a:ext cx="3771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B2A26"/>
                </a:solidFill>
                <a:latin typeface="Arial"/>
                <a:ea typeface="Arial"/>
                <a:cs typeface="Arial"/>
              </a:rPr>
              <a:t>出题</a:t>
            </a:r>
          </a:p>
        </p:txBody>
      </p:sp>
      <p:sp>
        <p:nvSpPr>
          <p:cNvPr id="44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1DC128BA-333D-4AD8-B43D-FB10E072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15150" y="4610100"/>
            <a:ext cx="952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5D8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831E54B0-C09B-4923-9DB1-3AE78BA3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2805" y="4692968"/>
            <a:ext cx="3771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B2A26"/>
                </a:solidFill>
                <a:latin typeface="Arial"/>
                <a:ea typeface="Arial"/>
                <a:cs typeface="Arial"/>
              </a:rPr>
              <a:t>批改</a:t>
            </a:r>
          </a:p>
        </p:txBody>
      </p:sp>
      <p:sp>
        <p:nvSpPr>
          <p:cNvPr id="46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EF41CE82-350B-4E0A-865D-6FCCE2B6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1150" y="5029200"/>
            <a:ext cx="952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5D8"/>
            </a:solidFill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8B7420A6-336E-4E26-994C-7F51188F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7936" y="5112068"/>
            <a:ext cx="55892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B2A26"/>
                </a:solidFill>
                <a:latin typeface="Arial"/>
                <a:ea typeface="Arial"/>
                <a:cs typeface="Arial"/>
              </a:rPr>
              <a:t>掌握度</a:t>
            </a:r>
          </a:p>
        </p:txBody>
      </p:sp>
      <p:sp>
        <p:nvSpPr>
          <p:cNvPr id="48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E5D47342-11D0-467D-A2EB-BB3768F0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47950" y="5029200"/>
            <a:ext cx="952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5D8"/>
            </a:solidFill>
          </a:ln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3FDE78C4-5C48-4D08-8FD8-47BE93B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35605" y="5112068"/>
            <a:ext cx="3771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2B2A26"/>
                </a:solidFill>
                <a:latin typeface="Arial"/>
                <a:ea typeface="Arial"/>
                <a:cs typeface="Arial"/>
              </a:rPr>
              <a:t>搭子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AD89A3DC-DF79-41F1-9E84-A4B4359A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8392" y="5112068"/>
            <a:ext cx="237106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12-Factor Agents 风格编排</a:t>
            </a:r>
          </a:p>
        </p:txBody>
      </p:sp>
      <p:sp>
        <p:nvSpPr>
          <p:cNvPr id="52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56B76DDA-1C93-448B-9DBD-5EB2D24F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5562600"/>
            <a:ext cx="381000" cy="7239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7A766C"/>
          </a:solidFill>
          <a:ln xmlns:a="http://schemas.openxmlformats.org/drawingml/2006/main">
            <a:noFill/>
          </a:ln>
        </p:spPr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250FF56-1E92-43CA-98AC-EE35F654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842" y="5822632"/>
            <a:ext cx="27331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54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9674BE65-7C3F-4FD1-9DF5-34663354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5562600"/>
            <a:ext cx="8763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AE98A20-D59E-428A-B998-52C2F9BF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762" y="5977857"/>
            <a:ext cx="257175" cy="89568"/>
          </a:xfrm>
          <a:custGeom xmlns:a="http://schemas.openxmlformats.org/drawingml/2006/main">
            <a:rect l="l" t="t" r="r" b="b"/>
            <a:pathLst>
              <a:path w="257175" h="89568">
                <a:moveTo>
                  <a:pt x="0" y="0"/>
                </a:moveTo>
                <a:cubicBezTo>
                  <a:pt x="28118" y="21531"/>
                  <a:pt x="74781" y="32418"/>
                  <a:pt x="128588" y="32418"/>
                </a:cubicBezTo>
                <a:cubicBezTo>
                  <a:pt x="182308" y="32418"/>
                  <a:pt x="228957" y="21560"/>
                  <a:pt x="257175" y="243"/>
                </a:cubicBezTo>
                <a:lnTo>
                  <a:pt x="257175" y="32418"/>
                </a:lnTo>
                <a:cubicBezTo>
                  <a:pt x="257175" y="67066"/>
                  <a:pt x="201525" y="88654"/>
                  <a:pt x="132974" y="89540"/>
                </a:cubicBezTo>
                <a:lnTo>
                  <a:pt x="128588" y="89568"/>
                </a:lnTo>
                <a:cubicBezTo>
                  <a:pt x="58036" y="89568"/>
                  <a:pt x="0" y="67808"/>
                  <a:pt x="0" y="32418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B4C629BC-AB1D-466F-BAD6-BCD2E73E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762" y="5892132"/>
            <a:ext cx="257175" cy="89568"/>
          </a:xfrm>
          <a:custGeom xmlns:a="http://schemas.openxmlformats.org/drawingml/2006/main">
            <a:rect l="l" t="t" r="r" b="b"/>
            <a:pathLst>
              <a:path w="257175" h="89568">
                <a:moveTo>
                  <a:pt x="0" y="0"/>
                </a:moveTo>
                <a:cubicBezTo>
                  <a:pt x="28118" y="21531"/>
                  <a:pt x="74781" y="32418"/>
                  <a:pt x="128588" y="32418"/>
                </a:cubicBezTo>
                <a:cubicBezTo>
                  <a:pt x="182308" y="32418"/>
                  <a:pt x="228957" y="21560"/>
                  <a:pt x="257175" y="243"/>
                </a:cubicBezTo>
                <a:lnTo>
                  <a:pt x="257175" y="32418"/>
                </a:lnTo>
                <a:cubicBezTo>
                  <a:pt x="257175" y="67808"/>
                  <a:pt x="199139" y="89568"/>
                  <a:pt x="128588" y="89568"/>
                </a:cubicBezTo>
                <a:cubicBezTo>
                  <a:pt x="60036" y="89568"/>
                  <a:pt x="3286" y="69023"/>
                  <a:pt x="300" y="35347"/>
                </a:cubicBezTo>
                <a:lnTo>
                  <a:pt x="71" y="33904"/>
                </a:lnTo>
                <a:lnTo>
                  <a:pt x="0" y="32418"/>
                </a:ln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D2174FAA-670F-4CEF-A52A-B29E3B19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761" y="5781675"/>
            <a:ext cx="257176" cy="114300"/>
          </a:xfrm>
          <a:custGeom xmlns:a="http://schemas.openxmlformats.org/drawingml/2006/main">
            <a:rect l="l" t="t" r="r" b="b"/>
            <a:pathLst>
              <a:path w="257176" h="114300">
                <a:moveTo>
                  <a:pt x="128589" y="0"/>
                </a:moveTo>
                <a:cubicBezTo>
                  <a:pt x="143462" y="0"/>
                  <a:pt x="157792" y="972"/>
                  <a:pt x="171123" y="2829"/>
                </a:cubicBezTo>
                <a:lnTo>
                  <a:pt x="177823" y="3843"/>
                </a:lnTo>
                <a:cubicBezTo>
                  <a:pt x="185824" y="5177"/>
                  <a:pt x="193378" y="6834"/>
                  <a:pt x="200483" y="8815"/>
                </a:cubicBezTo>
                <a:lnTo>
                  <a:pt x="206770" y="10687"/>
                </a:lnTo>
                <a:lnTo>
                  <a:pt x="207841" y="11030"/>
                </a:lnTo>
                <a:cubicBezTo>
                  <a:pt x="211730" y="12308"/>
                  <a:pt x="215566" y="13738"/>
                  <a:pt x="219343" y="15316"/>
                </a:cubicBezTo>
                <a:lnTo>
                  <a:pt x="222186" y="16545"/>
                </a:lnTo>
                <a:cubicBezTo>
                  <a:pt x="227282" y="18850"/>
                  <a:pt x="231887" y="21374"/>
                  <a:pt x="236002" y="24117"/>
                </a:cubicBezTo>
                <a:cubicBezTo>
                  <a:pt x="237574" y="25165"/>
                  <a:pt x="239064" y="26237"/>
                  <a:pt x="240474" y="27332"/>
                </a:cubicBezTo>
                <a:cubicBezTo>
                  <a:pt x="244045" y="30103"/>
                  <a:pt x="247256" y="33309"/>
                  <a:pt x="250032" y="36876"/>
                </a:cubicBezTo>
                <a:lnTo>
                  <a:pt x="251333" y="38705"/>
                </a:lnTo>
                <a:cubicBezTo>
                  <a:pt x="251999" y="39705"/>
                  <a:pt x="252614" y="40710"/>
                  <a:pt x="253176" y="41719"/>
                </a:cubicBezTo>
                <a:lnTo>
                  <a:pt x="254176" y="43705"/>
                </a:lnTo>
                <a:cubicBezTo>
                  <a:pt x="255728" y="47039"/>
                  <a:pt x="256681" y="50516"/>
                  <a:pt x="257033" y="54135"/>
                </a:cubicBezTo>
                <a:lnTo>
                  <a:pt x="257176" y="57150"/>
                </a:lnTo>
                <a:cubicBezTo>
                  <a:pt x="257176" y="92540"/>
                  <a:pt x="199140" y="114300"/>
                  <a:pt x="128589" y="114300"/>
                </a:cubicBezTo>
                <a:cubicBezTo>
                  <a:pt x="60037" y="114300"/>
                  <a:pt x="3287" y="93755"/>
                  <a:pt x="301" y="60079"/>
                </a:cubicBezTo>
                <a:cubicBezTo>
                  <a:pt x="101" y="59116"/>
                  <a:pt x="0" y="58134"/>
                  <a:pt x="1" y="57150"/>
                </a:cubicBezTo>
                <a:lnTo>
                  <a:pt x="73" y="55664"/>
                </a:lnTo>
                <a:lnTo>
                  <a:pt x="301" y="54235"/>
                </a:lnTo>
                <a:cubicBezTo>
                  <a:pt x="3230" y="21288"/>
                  <a:pt x="57594" y="900"/>
                  <a:pt x="124131" y="29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69C89F05-4C91-41D8-B78C-833241C7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1244" y="5675948"/>
            <a:ext cx="2776157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本地存储 workspace/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2B8190B5-B591-4F43-AB8A-FD4CF00B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4292" y="6007418"/>
            <a:ext cx="653383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JSON 状态 · JSONL 事件日志(schema v2) · Markdown 报告 —— 全部留在本机</a:t>
            </a:r>
          </a:p>
        </p:txBody>
      </p:sp>
      <p:sp>
        <p:nvSpPr>
          <p:cNvPr id="62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CB6708AC-1252-4449-8AFE-61803F17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0" y="1790700"/>
            <a:ext cx="1676400" cy="4495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9CE35D87-2783-4AB6-BD77-FF7220FB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0550" y="1987868"/>
            <a:ext cx="80730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 spc="75">
                <a:solidFill>
                  <a:srgbClr val="6B9580"/>
                </a:solidFill>
                <a:latin typeface="Arial"/>
                <a:ea typeface="Arial"/>
                <a:cs typeface="Arial"/>
              </a:rPr>
              <a:t>质量保障</a:t>
            </a:r>
          </a:p>
        </p:txBody>
      </p:sp>
      <p:sp>
        <p:nvSpPr>
          <p:cNvPr id="64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E6529FDB-84A0-489A-8ADC-8AA16C6A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2362200"/>
            <a:ext cx="12954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5D8"/>
            </a:solidFill>
          </a:ln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2C3B883F-4B5E-4282-9511-14D53FE3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06100" y="2468880"/>
            <a:ext cx="876201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6B9580"/>
                </a:solidFill>
                <a:latin typeface="Verdana"/>
                <a:ea typeface="Verdana"/>
                <a:cs typeface="Verdana"/>
              </a:rPr>
              <a:t>336</a:t>
            </a:r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D578782A-12C7-42C4-96DF-7D9ACB25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3000" y="3035618"/>
            <a:ext cx="92240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自动化测试</a:t>
            </a:r>
          </a:p>
        </p:txBody>
      </p:sp>
      <p:sp>
        <p:nvSpPr>
          <p:cNvPr id="67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400C1C48-F9EC-450E-8F94-6C7D8379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3619500"/>
            <a:ext cx="12954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5D8"/>
            </a:solidFill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EA1461BD-4E6E-4A04-B8DA-53A0B879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85450" y="3872739"/>
            <a:ext cx="333852" cy="334399"/>
          </a:xfrm>
          <a:custGeom xmlns:a="http://schemas.openxmlformats.org/drawingml/2006/main">
            <a:rect l="l" t="t" r="r" b="b"/>
            <a:pathLst>
              <a:path w="333852" h="334399">
                <a:moveTo>
                  <a:pt x="238125" y="28384"/>
                </a:moveTo>
                <a:cubicBezTo>
                  <a:pt x="304283" y="66582"/>
                  <a:pt x="333852" y="146484"/>
                  <a:pt x="308499" y="218548"/>
                </a:cubicBezTo>
                <a:cubicBezTo>
                  <a:pt x="283147" y="290612"/>
                  <a:pt x="210062" y="334399"/>
                  <a:pt x="134561" y="322760"/>
                </a:cubicBezTo>
                <a:cubicBezTo>
                  <a:pt x="59059" y="311122"/>
                  <a:pt x="2554" y="247358"/>
                  <a:pt x="79" y="171005"/>
                </a:cubicBezTo>
                <a:lnTo>
                  <a:pt x="0" y="165861"/>
                </a:lnTo>
                <a:lnTo>
                  <a:pt x="79" y="160718"/>
                </a:lnTo>
                <a:cubicBezTo>
                  <a:pt x="1888" y="104949"/>
                  <a:pt x="32843" y="54223"/>
                  <a:pt x="81612" y="27112"/>
                </a:cubicBezTo>
                <a:cubicBezTo>
                  <a:pt x="130381" y="0"/>
                  <a:pt x="189803" y="483"/>
                  <a:pt x="238125" y="28384"/>
                </a:cubicBezTo>
                <a:close/>
                <a:moveTo>
                  <a:pt x="217599" y="122888"/>
                </a:moveTo>
                <a:cubicBezTo>
                  <a:pt x="211943" y="117232"/>
                  <a:pt x="202964" y="116668"/>
                  <a:pt x="196644" y="121570"/>
                </a:cubicBezTo>
                <a:lnTo>
                  <a:pt x="195152" y="122888"/>
                </a:lnTo>
                <a:lnTo>
                  <a:pt x="142875" y="175148"/>
                </a:lnTo>
                <a:lnTo>
                  <a:pt x="122349" y="154638"/>
                </a:lnTo>
                <a:lnTo>
                  <a:pt x="120857" y="153320"/>
                </a:lnTo>
                <a:cubicBezTo>
                  <a:pt x="114537" y="148421"/>
                  <a:pt x="105560" y="148988"/>
                  <a:pt x="99906" y="154642"/>
                </a:cubicBezTo>
                <a:cubicBezTo>
                  <a:pt x="94252" y="160296"/>
                  <a:pt x="93685" y="169273"/>
                  <a:pt x="98584" y="175593"/>
                </a:cubicBezTo>
                <a:lnTo>
                  <a:pt x="99902" y="177085"/>
                </a:lnTo>
                <a:lnTo>
                  <a:pt x="131652" y="208835"/>
                </a:lnTo>
                <a:lnTo>
                  <a:pt x="133144" y="210153"/>
                </a:lnTo>
                <a:cubicBezTo>
                  <a:pt x="138871" y="214596"/>
                  <a:pt x="146880" y="214596"/>
                  <a:pt x="152607" y="210153"/>
                </a:cubicBezTo>
                <a:lnTo>
                  <a:pt x="154099" y="208835"/>
                </a:lnTo>
                <a:lnTo>
                  <a:pt x="217599" y="145335"/>
                </a:lnTo>
                <a:lnTo>
                  <a:pt x="218917" y="143843"/>
                </a:lnTo>
                <a:cubicBezTo>
                  <a:pt x="223819" y="137523"/>
                  <a:pt x="223254" y="128543"/>
                  <a:pt x="217599" y="122888"/>
                </a:cubicBezTo>
                <a:close/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2B5FDA01-D4CF-4EB7-9FDE-A2815DE0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3868" y="4350068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核心覆盖</a:t>
            </a:r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0A7CDCAC-AC78-43D3-8F63-7A6A856E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51934" y="4037648"/>
            <a:ext cx="984533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50" b="1">
                <a:solidFill>
                  <a:srgbClr val="2B2A26"/>
                </a:solidFill>
                <a:latin typeface="Verdana"/>
                <a:ea typeface="Verdana"/>
                <a:cs typeface="Verdana"/>
              </a:rPr>
              <a:t>79-96%</a:t>
            </a:r>
          </a:p>
        </p:txBody>
      </p:sp>
      <p:sp>
        <p:nvSpPr>
          <p:cNvPr id="71" name="Rectangle 71">
            <a:extLst xmlns:a="http://schemas.openxmlformats.org/drawingml/2006/main">
              <a:ext uri="{FF2B5EF4-FFF2-40B4-BE49-F238E27FC236}">
                <a16:creationId xmlns:a16="http://schemas.microsoft.com/office/drawing/2014/main" id="{C4B70CF0-855F-4ABF-8BE5-5E8E251A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4876800"/>
            <a:ext cx="12954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5D8"/>
            </a:solidFill>
          </a:ln>
        </p:spPr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5B0BD7FF-B56A-4DFB-A55E-E383C167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8262" y="5137150"/>
            <a:ext cx="331862" cy="317670"/>
          </a:xfrm>
          <a:custGeom xmlns:a="http://schemas.openxmlformats.org/drawingml/2006/main">
            <a:rect l="l" t="t" r="r" b="b"/>
            <a:pathLst>
              <a:path w="331862" h="317670">
                <a:moveTo>
                  <a:pt x="165907" y="0"/>
                </a:moveTo>
                <a:lnTo>
                  <a:pt x="167780" y="111"/>
                </a:lnTo>
                <a:lnTo>
                  <a:pt x="168717" y="238"/>
                </a:lnTo>
                <a:lnTo>
                  <a:pt x="169685" y="445"/>
                </a:lnTo>
                <a:lnTo>
                  <a:pt x="171447" y="984"/>
                </a:lnTo>
                <a:cubicBezTo>
                  <a:pt x="172664" y="1433"/>
                  <a:pt x="173821" y="2030"/>
                  <a:pt x="174892" y="2762"/>
                </a:cubicBezTo>
                <a:lnTo>
                  <a:pt x="176543" y="4064"/>
                </a:lnTo>
                <a:lnTo>
                  <a:pt x="180591" y="7525"/>
                </a:lnTo>
                <a:cubicBezTo>
                  <a:pt x="212616" y="34124"/>
                  <a:pt x="253090" y="48408"/>
                  <a:pt x="294717" y="47800"/>
                </a:cubicBezTo>
                <a:lnTo>
                  <a:pt x="300146" y="47641"/>
                </a:lnTo>
                <a:cubicBezTo>
                  <a:pt x="307451" y="47308"/>
                  <a:pt x="314039" y="52008"/>
                  <a:pt x="316100" y="59023"/>
                </a:cubicBezTo>
                <a:cubicBezTo>
                  <a:pt x="331862" y="112638"/>
                  <a:pt x="325206" y="170352"/>
                  <a:pt x="297656" y="218972"/>
                </a:cubicBezTo>
                <a:cubicBezTo>
                  <a:pt x="270106" y="267592"/>
                  <a:pt x="224016" y="302961"/>
                  <a:pt x="169923" y="316993"/>
                </a:cubicBezTo>
                <a:cubicBezTo>
                  <a:pt x="167310" y="317670"/>
                  <a:pt x="164567" y="317670"/>
                  <a:pt x="161954" y="316993"/>
                </a:cubicBezTo>
                <a:cubicBezTo>
                  <a:pt x="107858" y="302964"/>
                  <a:pt x="61765" y="267597"/>
                  <a:pt x="34211" y="218976"/>
                </a:cubicBezTo>
                <a:cubicBezTo>
                  <a:pt x="6657" y="170356"/>
                  <a:pt x="0" y="112640"/>
                  <a:pt x="15761" y="59023"/>
                </a:cubicBezTo>
                <a:cubicBezTo>
                  <a:pt x="17823" y="52008"/>
                  <a:pt x="24410" y="47308"/>
                  <a:pt x="31715" y="47641"/>
                </a:cubicBezTo>
                <a:cubicBezTo>
                  <a:pt x="75172" y="49627"/>
                  <a:pt x="117806" y="35322"/>
                  <a:pt x="151270" y="7525"/>
                </a:cubicBezTo>
                <a:lnTo>
                  <a:pt x="155445" y="3953"/>
                </a:lnTo>
                <a:lnTo>
                  <a:pt x="156969" y="2762"/>
                </a:lnTo>
                <a:cubicBezTo>
                  <a:pt x="158040" y="2030"/>
                  <a:pt x="159197" y="1433"/>
                  <a:pt x="160414" y="984"/>
                </a:cubicBezTo>
                <a:lnTo>
                  <a:pt x="162192" y="445"/>
                </a:lnTo>
                <a:cubicBezTo>
                  <a:pt x="162814" y="294"/>
                  <a:pt x="163445" y="183"/>
                  <a:pt x="164081" y="111"/>
                </a:cubicBezTo>
                <a:lnTo>
                  <a:pt x="165907" y="0"/>
                </a:lnTo>
                <a:close/>
                <a:moveTo>
                  <a:pt x="224803" y="115777"/>
                </a:moveTo>
                <a:cubicBezTo>
                  <a:pt x="221825" y="112796"/>
                  <a:pt x="217785" y="111121"/>
                  <a:pt x="213571" y="111121"/>
                </a:cubicBezTo>
                <a:cubicBezTo>
                  <a:pt x="209358" y="111121"/>
                  <a:pt x="205318" y="112796"/>
                  <a:pt x="202340" y="115777"/>
                </a:cubicBezTo>
                <a:lnTo>
                  <a:pt x="150063" y="168037"/>
                </a:lnTo>
                <a:lnTo>
                  <a:pt x="129537" y="147527"/>
                </a:lnTo>
                <a:lnTo>
                  <a:pt x="128045" y="146209"/>
                </a:lnTo>
                <a:cubicBezTo>
                  <a:pt x="121423" y="141089"/>
                  <a:pt x="111963" y="141990"/>
                  <a:pt x="106427" y="148268"/>
                </a:cubicBezTo>
                <a:cubicBezTo>
                  <a:pt x="100891" y="154547"/>
                  <a:pt x="101181" y="164045"/>
                  <a:pt x="107090" y="169974"/>
                </a:cubicBezTo>
                <a:lnTo>
                  <a:pt x="138840" y="201724"/>
                </a:lnTo>
                <a:lnTo>
                  <a:pt x="140332" y="203042"/>
                </a:lnTo>
                <a:cubicBezTo>
                  <a:pt x="146652" y="207944"/>
                  <a:pt x="155631" y="207379"/>
                  <a:pt x="161287" y="201724"/>
                </a:cubicBezTo>
                <a:lnTo>
                  <a:pt x="224787" y="138224"/>
                </a:lnTo>
                <a:lnTo>
                  <a:pt x="226105" y="136732"/>
                </a:lnTo>
                <a:cubicBezTo>
                  <a:pt x="231007" y="130412"/>
                  <a:pt x="230442" y="121432"/>
                  <a:pt x="224787" y="115777"/>
                </a:cubicBezTo>
                <a:close/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6447E77B-72E6-491B-93A6-7D43C852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3000" y="5607368"/>
            <a:ext cx="92240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事件全链路</a:t>
            </a:r>
          </a:p>
        </p:txBody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73CFC83E-0800-4F6A-82F3-6B6D89CC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83953" y="5359718"/>
            <a:ext cx="112049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append-only</a:t>
            </a:r>
          </a:p>
        </p:txBody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5181D195-29B5-498A-8209-4BFA0B81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614160"/>
            <a:ext cx="2194963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StudyMate Agent · 功能介绍</a:t>
            </a:r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2EB67338-FB34-40FE-93CE-57C60390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6141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49346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7623B6E-31C5-490D-87A8-2DA66F71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>
            <a:noFill/>
          </a:ln>
        </p:spPr>
      </p:sp>
      <p:sp>
        <p:nvSpPr>
          <p:cNvPr id="3" name="Ellipse 3">
            <a:extLst xmlns:a="http://schemas.openxmlformats.org/drawingml/2006/main">
              <a:ext uri="{FF2B5EF4-FFF2-40B4-BE49-F238E27FC236}">
                <a16:creationId xmlns:a16="http://schemas.microsoft.com/office/drawing/2014/main" id="{0F3C7A5E-B6FF-42A6-A214-A60236AA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2250" y="952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>
              <a:alpha val="7000"/>
            </a:srgbClr>
          </a:solidFill>
          <a:ln xmlns:a="http://schemas.openxmlformats.org/drawingml/2006/main">
            <a:noFill/>
          </a:ln>
        </p:spPr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83EEB1D-72B7-4B03-A25E-A7C5A8E5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95300"/>
            <a:ext cx="1143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FE9"/>
          </a:solidFill>
          <a:ln xmlns:a="http://schemas.openxmlformats.org/drawingml/2006/main">
            <a:noFill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108881C-7549-4597-A832-8E9BA0C5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430" y="587692"/>
            <a:ext cx="85334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08 可复现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DDD1965-8007-4D40-A936-8D30C869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598" y="993458"/>
            <a:ext cx="5085656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2B2A26"/>
                </a:solidFill>
                <a:latin typeface="Verdana"/>
                <a:ea typeface="Verdana"/>
                <a:cs typeface="Verdana"/>
              </a:rPr>
              <a:t>clone 即跑,数据不出本机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D880391-5277-40A8-95A4-43E99A7A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694" y="1523048"/>
            <a:ext cx="10102572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评审无需任何 API Key 即可体验完整闭环 —— 三条命令,</a:t>
            </a:r>
            <a:r>
              <a:rPr sz="19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从示例数据到 </a:t>
            </a:r>
            <a:r>
              <a:rPr sz="19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336</a:t>
            </a:r>
            <a:r>
              <a:rPr sz="19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 项测试</a:t>
            </a: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1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6B48A6A-318A-4D9C-8571-968EC4CC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114550"/>
            <a:ext cx="7048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2B2A26"/>
          </a:solidFill>
          <a:ln xmlns:a="http://schemas.openxmlformats.org/drawingml/2006/main">
            <a:noFill/>
          </a:ln>
        </p:spPr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1D7B84D6-6184-490A-BCBF-8922082E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" y="2371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86"/>
          </a:solidFill>
          <a:ln xmlns:a="http://schemas.openxmlformats.org/drawingml/2006/main">
            <a:noFill/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C1A17EAF-F12E-4E3D-AA25-EC8A594F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3475" y="2371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9B6E"/>
          </a:solidFill>
          <a:ln xmlns:a="http://schemas.openxmlformats.org/drawingml/2006/main">
            <a:noFill/>
          </a:ln>
        </p:spPr>
      </p:sp>
      <p:sp>
        <p:nvSpPr>
          <p:cNvPr id="13" name="Ellipse 13">
            <a:extLst xmlns:a="http://schemas.openxmlformats.org/drawingml/2006/main">
              <a:ext uri="{FF2B5EF4-FFF2-40B4-BE49-F238E27FC236}">
                <a16:creationId xmlns:a16="http://schemas.microsoft.com/office/drawing/2014/main" id="{DD2B2527-EE39-4DAE-8555-3FB64595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0175" y="2371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9E57AF5-E11C-4D7A-9A0E-64933072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4644" y="2385060"/>
            <a:ext cx="1918411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A8A396"/>
                </a:solidFill>
                <a:latin typeface="Consolas"/>
                <a:ea typeface="Consolas"/>
                <a:cs typeface="Consolas"/>
              </a:rPr>
              <a:t>studymate-agent — bash</a:t>
            </a:r>
          </a:p>
        </p:txBody>
      </p:sp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7573C4DA-AAF3-41A8-AAB0-286B1D9C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705100"/>
            <a:ext cx="7048500" cy="9525"/>
          </a:xfrm>
          <a:custGeom xmlns:a="http://schemas.openxmlformats.org/drawingml/2006/main"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000"/>
              </a:srgbClr>
            </a:solidFill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A9AD811-DCEE-4CD3-999E-E08ADC43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256" y="2948940"/>
            <a:ext cx="15156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BA88F"/>
                </a:solidFill>
                <a:latin typeface="Consolas"/>
                <a:ea typeface="Consolas"/>
                <a:cs typeface="Consolas"/>
              </a:rPr>
              <a:t>$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9060CC4-2F4F-457B-820E-1396787C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056" y="2948940"/>
            <a:ext cx="327743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FAF8F3"/>
                </a:solidFill>
                <a:latin typeface="Consolas"/>
                <a:ea typeface="Consolas"/>
                <a:cs typeface="Consolas"/>
              </a:rPr>
              <a:t>npm install &amp;&amp; npm run demo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FD658FC-9AD2-455D-AD31-FC5EBC6E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3104" y="3299460"/>
            <a:ext cx="366443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8A396"/>
                </a:solidFill>
                <a:latin typeface="Consolas"/>
                <a:ea typeface="Consolas"/>
                <a:cs typeface="Consolas"/>
              </a:rPr>
              <a:t># 生成 CPA 会计基础示例考试数据(Mock 全流程)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C42825A-8A4B-48B6-9C88-63830BE8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256" y="3729990"/>
            <a:ext cx="15156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BA88F"/>
                </a:solidFill>
                <a:latin typeface="Consolas"/>
                <a:ea typeface="Consolas"/>
                <a:cs typeface="Consolas"/>
              </a:rPr>
              <a:t>$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C26B710-93EE-483A-A1DA-8D4B3FF6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056" y="3729990"/>
            <a:ext cx="167815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FAF8F3"/>
                </a:solidFill>
                <a:latin typeface="Consolas"/>
                <a:ea typeface="Consolas"/>
                <a:cs typeface="Consolas"/>
              </a:rPr>
              <a:t>npm run serve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B38D545-7174-4097-901D-C35600F1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3104" y="4080510"/>
            <a:ext cx="3732743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8A396"/>
                </a:solidFill>
                <a:latin typeface="Consolas"/>
                <a:ea typeface="Consolas"/>
                <a:cs typeface="Consolas"/>
              </a:rPr>
              <a:t># 打开 http://localhost:3456 即是完整 Web 应用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CB58BD8-E898-496E-9223-7D1BA075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256" y="4511040"/>
            <a:ext cx="15156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BA88F"/>
                </a:solidFill>
                <a:latin typeface="Consolas"/>
                <a:ea typeface="Consolas"/>
                <a:cs typeface="Consolas"/>
              </a:rPr>
              <a:t>$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783B365-1A04-4371-8E03-15A0491D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056" y="4511040"/>
            <a:ext cx="107236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FAF8F3"/>
                </a:solidFill>
                <a:latin typeface="Consolas"/>
                <a:ea typeface="Consolas"/>
                <a:cs typeface="Consolas"/>
              </a:rPr>
              <a:t>npm test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57C3EBB5-7498-4478-BDE3-BE12D6D0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3104" y="4861560"/>
            <a:ext cx="2483815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8A396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200">
                <a:solidFill>
                  <a:srgbClr val="A8A396"/>
                </a:solidFill>
                <a:latin typeface="Consolas"/>
                <a:ea typeface="Consolas"/>
                <a:cs typeface="Consolas"/>
              </a:rPr>
              <a:t>336</a:t>
            </a:r>
            <a:r>
              <a:rPr sz="1200">
                <a:solidFill>
                  <a:srgbClr val="A8A396"/>
                </a:solidFill>
                <a:latin typeface="Consolas"/>
                <a:ea typeface="Consolas"/>
                <a:cs typeface="Consolas"/>
              </a:rPr>
              <a:t> 项测试全绿(42 个测试文件)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2A72CBF8-A612-42B1-8549-93EC99C6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0187" y="2330450"/>
            <a:ext cx="464605" cy="444737"/>
          </a:xfrm>
          <a:custGeom xmlns:a="http://schemas.openxmlformats.org/drawingml/2006/main">
            <a:rect l="l" t="t" r="r" b="b"/>
            <a:pathLst>
              <a:path w="464605" h="444737">
                <a:moveTo>
                  <a:pt x="232269" y="0"/>
                </a:moveTo>
                <a:lnTo>
                  <a:pt x="234891" y="156"/>
                </a:lnTo>
                <a:lnTo>
                  <a:pt x="236202" y="333"/>
                </a:lnTo>
                <a:lnTo>
                  <a:pt x="237558" y="622"/>
                </a:lnTo>
                <a:lnTo>
                  <a:pt x="240025" y="1378"/>
                </a:lnTo>
                <a:cubicBezTo>
                  <a:pt x="241729" y="2006"/>
                  <a:pt x="243349" y="2842"/>
                  <a:pt x="244848" y="3867"/>
                </a:cubicBezTo>
                <a:lnTo>
                  <a:pt x="247159" y="5690"/>
                </a:lnTo>
                <a:lnTo>
                  <a:pt x="252827" y="10535"/>
                </a:lnTo>
                <a:cubicBezTo>
                  <a:pt x="297661" y="47774"/>
                  <a:pt x="354325" y="67771"/>
                  <a:pt x="412602" y="66919"/>
                </a:cubicBezTo>
                <a:lnTo>
                  <a:pt x="420203" y="66697"/>
                </a:lnTo>
                <a:cubicBezTo>
                  <a:pt x="430430" y="66231"/>
                  <a:pt x="439652" y="72810"/>
                  <a:pt x="442539" y="82632"/>
                </a:cubicBezTo>
                <a:cubicBezTo>
                  <a:pt x="464605" y="157692"/>
                  <a:pt x="455287" y="238492"/>
                  <a:pt x="416717" y="306560"/>
                </a:cubicBezTo>
                <a:cubicBezTo>
                  <a:pt x="378147" y="374627"/>
                  <a:pt x="313621" y="424143"/>
                  <a:pt x="237891" y="443788"/>
                </a:cubicBezTo>
                <a:cubicBezTo>
                  <a:pt x="234233" y="444737"/>
                  <a:pt x="230393" y="444737"/>
                  <a:pt x="226735" y="443788"/>
                </a:cubicBezTo>
                <a:cubicBezTo>
                  <a:pt x="151001" y="424148"/>
                  <a:pt x="86470" y="374634"/>
                  <a:pt x="47895" y="306566"/>
                </a:cubicBezTo>
                <a:cubicBezTo>
                  <a:pt x="9320" y="238498"/>
                  <a:pt x="0" y="157695"/>
                  <a:pt x="22065" y="82632"/>
                </a:cubicBezTo>
                <a:cubicBezTo>
                  <a:pt x="24951" y="72810"/>
                  <a:pt x="34174" y="66231"/>
                  <a:pt x="44401" y="66697"/>
                </a:cubicBezTo>
                <a:cubicBezTo>
                  <a:pt x="105241" y="69478"/>
                  <a:pt x="164928" y="49450"/>
                  <a:pt x="211777" y="10535"/>
                </a:cubicBezTo>
                <a:lnTo>
                  <a:pt x="217622" y="5534"/>
                </a:lnTo>
                <a:lnTo>
                  <a:pt x="219756" y="3867"/>
                </a:lnTo>
                <a:cubicBezTo>
                  <a:pt x="221255" y="2842"/>
                  <a:pt x="222875" y="2006"/>
                  <a:pt x="224579" y="1378"/>
                </a:cubicBezTo>
                <a:lnTo>
                  <a:pt x="227068" y="622"/>
                </a:lnTo>
                <a:cubicBezTo>
                  <a:pt x="227939" y="412"/>
                  <a:pt x="228822" y="256"/>
                  <a:pt x="229713" y="156"/>
                </a:cubicBezTo>
                <a:lnTo>
                  <a:pt x="232269" y="0"/>
                </a:lnTo>
                <a:close/>
                <a:moveTo>
                  <a:pt x="314723" y="162087"/>
                </a:moveTo>
                <a:cubicBezTo>
                  <a:pt x="310555" y="157913"/>
                  <a:pt x="304898" y="155568"/>
                  <a:pt x="298999" y="155568"/>
                </a:cubicBezTo>
                <a:cubicBezTo>
                  <a:pt x="293100" y="155568"/>
                  <a:pt x="287444" y="157913"/>
                  <a:pt x="283275" y="162087"/>
                </a:cubicBezTo>
                <a:lnTo>
                  <a:pt x="210088" y="235251"/>
                </a:lnTo>
                <a:lnTo>
                  <a:pt x="181351" y="206537"/>
                </a:lnTo>
                <a:lnTo>
                  <a:pt x="179262" y="204692"/>
                </a:lnTo>
                <a:cubicBezTo>
                  <a:pt x="169991" y="197524"/>
                  <a:pt x="156748" y="198785"/>
                  <a:pt x="148997" y="207575"/>
                </a:cubicBezTo>
                <a:cubicBezTo>
                  <a:pt x="141247" y="216365"/>
                  <a:pt x="141653" y="229662"/>
                  <a:pt x="149925" y="237963"/>
                </a:cubicBezTo>
                <a:lnTo>
                  <a:pt x="194375" y="282413"/>
                </a:lnTo>
                <a:lnTo>
                  <a:pt x="196464" y="284257"/>
                </a:lnTo>
                <a:cubicBezTo>
                  <a:pt x="205312" y="291120"/>
                  <a:pt x="217883" y="290330"/>
                  <a:pt x="225801" y="282413"/>
                </a:cubicBezTo>
                <a:lnTo>
                  <a:pt x="314701" y="193513"/>
                </a:lnTo>
                <a:lnTo>
                  <a:pt x="316546" y="191424"/>
                </a:lnTo>
                <a:cubicBezTo>
                  <a:pt x="323409" y="182576"/>
                  <a:pt x="322618" y="170005"/>
                  <a:pt x="314701" y="162087"/>
                </a:cubicBezTo>
                <a:close/>
              </a:path>
            </a:pathLst>
          </a:cu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34AF5FC-E78F-4C59-A116-FFF625BA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93608" y="3017520"/>
            <a:ext cx="3077566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2B2A26"/>
                </a:solidFill>
                <a:latin typeface="Arial"/>
                <a:ea typeface="Arial"/>
                <a:cs typeface="Arial"/>
              </a:rPr>
              <a:t>本地优先的隐私承诺</a:t>
            </a:r>
          </a:p>
        </p:txBody>
      </p:sp>
      <p:sp>
        <p:nvSpPr>
          <p:cNvPr id="28" name="Line 28">
            <a:extLst xmlns:a="http://schemas.openxmlformats.org/drawingml/2006/main">
              <a:ext uri="{FF2B5EF4-FFF2-40B4-BE49-F238E27FC236}">
                <a16:creationId xmlns:a16="http://schemas.microsoft.com/office/drawing/2014/main" id="{CE235064-65CB-461D-BB7D-C6871732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5800" y="3505200"/>
            <a:ext cx="3276600" cy="9525"/>
          </a:xfrm>
          <a:custGeom xmlns:a="http://schemas.openxmlformats.org/drawingml/2006/main">
            <a:rect l="l" t="t" r="r" b="b"/>
            <a:pathLst>
              <a:path w="3276600" h="9525">
                <a:moveTo>
                  <a:pt x="0" y="0"/>
                </a:moveTo>
                <a:lnTo>
                  <a:pt x="3276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A3074357-3CDF-471B-B6F0-F7D72136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96656" y="3710940"/>
            <a:ext cx="316839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教材、错题、掌握度全部留在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9A617C5-A677-4B19-BD7D-786E5612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96656" y="4034790"/>
            <a:ext cx="356821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本地 workspace/(gitignored),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C42E4B8-111B-4D7B-A2F7-1C4D8B04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96656" y="4358640"/>
            <a:ext cx="268376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7A766C"/>
                </a:solidFill>
                <a:latin typeface="Arial"/>
                <a:ea typeface="Arial"/>
                <a:cs typeface="Arial"/>
              </a:rPr>
              <a:t>不上传任何云端服务器。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FCC212B6-39B9-4B15-8F60-6C5A607E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98942" y="4883468"/>
            <a:ext cx="400340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A8A396"/>
                </a:solidFill>
                <a:latin typeface="Arial"/>
                <a:ea typeface="Arial"/>
                <a:cs typeface="Arial"/>
              </a:rPr>
              <a:t>公网部署另附 Token 认证 / HTTPS / CORS 清单</a:t>
            </a:r>
          </a:p>
        </p:txBody>
      </p:sp>
      <p:sp>
        <p:nvSpPr>
          <p:cNvPr id="34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FAA00EB-D7CC-45A2-92D5-7A9B1DFC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6388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9B6E"/>
          </a:solidFill>
          <a:ln xmlns:a="http://schemas.openxmlformats.org/drawingml/2006/main">
            <a:noFill/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7A4C8E81-2E3E-4DA6-AFF8-328C587A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694" y="5942648"/>
            <a:ext cx="10389227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>
                <a:solidFill>
                  <a:srgbClr val="2B2A26"/>
                </a:solidFill>
                <a:latin typeface="Arial"/>
                <a:ea typeface="Arial"/>
                <a:cs typeface="Arial"/>
              </a:rPr>
              <a:t>Mock 证明</a:t>
            </a:r>
            <a:r>
              <a:rPr sz="19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工作流执行</a:t>
            </a:r>
            <a:r>
              <a:rPr sz="1950">
                <a:solidFill>
                  <a:srgbClr val="2B2A26"/>
                </a:solidFill>
                <a:latin typeface="Arial"/>
                <a:ea typeface="Arial"/>
                <a:cs typeface="Arial"/>
              </a:rPr>
              <a:t>,真实模型验证</a:t>
            </a:r>
            <a:r>
              <a:rPr sz="1950" b="1">
                <a:solidFill>
                  <a:srgbClr val="6B9580"/>
                </a:solidFill>
                <a:latin typeface="Arial"/>
                <a:ea typeface="Arial"/>
                <a:cs typeface="Arial"/>
              </a:rPr>
              <a:t>输出质量</a:t>
            </a:r>
            <a:r>
              <a:rPr sz="1950">
                <a:solidFill>
                  <a:srgbClr val="2B2A26"/>
                </a:solidFill>
                <a:latin typeface="Arial"/>
                <a:ea typeface="Arial"/>
                <a:cs typeface="Arial"/>
              </a:rPr>
              <a:t> —— 证据边界诚实标注,不夸大验证状态。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E418458E-F9D8-40E4-A0FE-E00EEF51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576060"/>
            <a:ext cx="2194963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StudyMate Agent · 功能介绍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459F6BB-20B2-4EC1-A86F-8AC01718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5760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70989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CCBBC32-ECA1-45C1-AE8B-657A585B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9402316-BE68-4165-9FA3-10312C92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BA88F">
                  <a:alpha val="14000"/>
                </a:srgbClr>
              </a:gs>
              <a:gs pos="100000">
                <a:srgbClr val="7BA88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</p:sp>
      <p:sp>
        <p:nvSpPr>
          <p:cNvPr id="4" name="Ellipse 4">
            <a:extLst xmlns:a="http://schemas.openxmlformats.org/drawingml/2006/main">
              <a:ext uri="{FF2B5EF4-FFF2-40B4-BE49-F238E27FC236}">
                <a16:creationId xmlns:a16="http://schemas.microsoft.com/office/drawing/2014/main" id="{43B22646-111C-4236-9A8E-F8578F44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77500" y="190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9B6E">
              <a:alpha val="8000"/>
            </a:srgbClr>
          </a:solidFill>
          <a:ln xmlns:a="http://schemas.openxmlformats.org/drawingml/2006/main">
            <a:noFill/>
          </a:ln>
        </p:spPr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0B327CF-CF1F-4FC7-94E3-49C4F18F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609600"/>
            <a:ext cx="53340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4D57488-07A2-4044-B970-0816AEF3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876300"/>
            <a:ext cx="5715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A88F"/>
          </a:solidFill>
          <a:ln xmlns:a="http://schemas.openxmlformats.org/drawingml/2006/main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AA7E006-AD08-4D57-BF43-F8281D3D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042" y="1054418"/>
            <a:ext cx="12858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自动化测试用例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FCDA787-A9A8-42E8-B9AB-C445B242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612" y="1249680"/>
            <a:ext cx="876201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6B9580"/>
                </a:solidFill>
                <a:latin typeface="Verdana"/>
                <a:ea typeface="Verdana"/>
                <a:cs typeface="Verdana"/>
              </a:rPr>
              <a:t>336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415898B-B1E2-42C1-9E9E-E42E1457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83892" y="1492568"/>
            <a:ext cx="117683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A8A396"/>
                </a:solidFill>
                <a:latin typeface="Arial"/>
                <a:ea typeface="Arial"/>
                <a:cs typeface="Arial"/>
              </a:rPr>
              <a:t>42 个测试文件</a:t>
            </a:r>
          </a:p>
        </p:txBody>
      </p:sp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5226CB2-D0AC-4CA9-82AC-CD6E651B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2200" y="609600"/>
            <a:ext cx="54102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A7D8378-2C05-4189-86C1-8ED86050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00800" y="876300"/>
            <a:ext cx="5715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9B6E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26F92AE-3D34-4A09-AAD0-5AC2E96E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0642" y="1054418"/>
            <a:ext cx="207221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模块化 Agent / 搭子角色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F9EDF01-C1B5-4FEE-ACAB-E6A29511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9212" y="1249680"/>
            <a:ext cx="1181519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D49B6E"/>
                </a:solidFill>
                <a:latin typeface="Verdana"/>
                <a:ea typeface="Verdana"/>
                <a:cs typeface="Verdana"/>
              </a:rPr>
              <a:t>8 + 4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927C4765-2556-45BE-9714-8BDA86D6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6542" y="1492568"/>
            <a:ext cx="150884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A8A396"/>
                </a:solidFill>
                <a:latin typeface="Arial"/>
                <a:ea typeface="Arial"/>
                <a:cs typeface="Arial"/>
              </a:rPr>
              <a:t>8 Agents · 4 搭子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29E5E55-F9B0-4915-AA7C-978ADC30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1496" y="2625090"/>
            <a:ext cx="4109009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rgbClr val="2B2A26"/>
                </a:solidFill>
                <a:latin typeface="Verdana"/>
                <a:ea typeface="Verdana"/>
                <a:cs typeface="Verdana"/>
              </a:rPr>
              <a:t>让每一次学习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B66B7B3-B38C-46CF-A65A-1530BF0F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9980" y="3444240"/>
            <a:ext cx="2752039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rgbClr val="7BA88F"/>
                </a:solidFill>
                <a:latin typeface="Verdana"/>
                <a:ea typeface="Verdana"/>
                <a:cs typeface="Verdana"/>
              </a:rPr>
              <a:t>都被记住</a:t>
            </a:r>
          </a:p>
        </p:txBody>
      </p:sp>
      <p:sp>
        <p:nvSpPr>
          <p:cNvPr id="19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3CA1BF5-BF9F-44A9-8073-28DE6960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2150" y="4267200"/>
            <a:ext cx="647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9B6E"/>
          </a:solidFill>
          <a:ln xmlns:a="http://schemas.openxmlformats.org/drawingml/2006/main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A91D31A-4BE9-40EB-8798-38416C96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79572" y="4571048"/>
            <a:ext cx="6232855" cy="381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50">
                <a:solidFill>
                  <a:srgbClr val="7A766C"/>
                </a:solidFill>
                <a:latin typeface="Arial"/>
                <a:ea typeface="Arial"/>
                <a:cs typeface="Arial"/>
              </a:rPr>
              <a:t>SM-2 五档间隔 × 掌握度闭环,把「坚持」交给系统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7ECE3B53-07AB-40FA-9252-935BDF68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77394" y="5715000"/>
            <a:ext cx="120501" cy="85339"/>
          </a:xfrm>
          <a:custGeom xmlns:a="http://schemas.openxmlformats.org/drawingml/2006/main">
            <a:rect l="l" t="t" r="r" b="b"/>
            <a:pathLst>
              <a:path w="120501" h="85339">
                <a:moveTo>
                  <a:pt x="120501" y="0"/>
                </a:moveTo>
                <a:cubicBezTo>
                  <a:pt x="99286" y="48606"/>
                  <a:pt x="52893" y="81462"/>
                  <a:pt x="0" y="85339"/>
                </a:cubicBezTo>
                <a:cubicBezTo>
                  <a:pt x="3659" y="84467"/>
                  <a:pt x="6826" y="82188"/>
                  <a:pt x="8815" y="78996"/>
                </a:cubicBezTo>
                <a:cubicBezTo>
                  <a:pt x="24002" y="54669"/>
                  <a:pt x="35012" y="27973"/>
                  <a:pt x="41391" y="14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A381AD3-49F6-4A46-B0CA-0950BE03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36005" y="5715000"/>
            <a:ext cx="120486" cy="85339"/>
          </a:xfrm>
          <a:custGeom xmlns:a="http://schemas.openxmlformats.org/drawingml/2006/main">
            <a:rect l="l" t="t" r="r" b="b"/>
            <a:pathLst>
              <a:path w="120486" h="85339">
                <a:moveTo>
                  <a:pt x="79110" y="0"/>
                </a:moveTo>
                <a:cubicBezTo>
                  <a:pt x="85486" y="27969"/>
                  <a:pt x="96496" y="54674"/>
                  <a:pt x="111685" y="79010"/>
                </a:cubicBezTo>
                <a:cubicBezTo>
                  <a:pt x="113674" y="82194"/>
                  <a:pt x="116835" y="84468"/>
                  <a:pt x="120486" y="85339"/>
                </a:cubicBezTo>
                <a:cubicBezTo>
                  <a:pt x="67599" y="81457"/>
                  <a:pt x="21213" y="48602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F640AB98-3752-4578-8B3B-FDBE4C4A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4519" y="5715000"/>
            <a:ext cx="44863" cy="55493"/>
          </a:xfrm>
          <a:custGeom xmlns:a="http://schemas.openxmlformats.org/drawingml/2006/main">
            <a:rect l="l" t="t" r="r" b="b"/>
            <a:pathLst>
              <a:path w="44863" h="55493">
                <a:moveTo>
                  <a:pt x="44863" y="0"/>
                </a:moveTo>
                <a:cubicBezTo>
                  <a:pt x="39850" y="19401"/>
                  <a:pt x="32308" y="38058"/>
                  <a:pt x="22431" y="55493"/>
                </a:cubicBezTo>
                <a:cubicBezTo>
                  <a:pt x="12554" y="38058"/>
                  <a:pt x="5013" y="19401"/>
                  <a:pt x="0" y="0"/>
                </a:cubicBezTo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CFFC5098-7C38-4E80-8D0A-11F3738A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23093" y="5629275"/>
            <a:ext cx="87193" cy="57150"/>
          </a:xfrm>
          <a:custGeom xmlns:a="http://schemas.openxmlformats.org/drawingml/2006/main">
            <a:rect l="l" t="t" r="r" b="b"/>
            <a:pathLst>
              <a:path w="87193" h="57150">
                <a:moveTo>
                  <a:pt x="87193" y="0"/>
                </a:moveTo>
                <a:cubicBezTo>
                  <a:pt x="85069" y="18991"/>
                  <a:pt x="85069" y="38159"/>
                  <a:pt x="87193" y="57150"/>
                </a:cubicBezTo>
                <a:lnTo>
                  <a:pt x="3868" y="57150"/>
                </a:lnTo>
                <a:cubicBezTo>
                  <a:pt x="10" y="38296"/>
                  <a:pt x="0" y="18858"/>
                  <a:pt x="3839" y="0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41B1AFF-114D-4A15-A126-34CB248F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36670" y="5629275"/>
            <a:ext cx="60560" cy="57150"/>
          </a:xfrm>
          <a:custGeom xmlns:a="http://schemas.openxmlformats.org/drawingml/2006/main">
            <a:rect l="l" t="t" r="r" b="b"/>
            <a:pathLst>
              <a:path w="60560" h="57150">
                <a:moveTo>
                  <a:pt x="58169" y="0"/>
                </a:moveTo>
                <a:cubicBezTo>
                  <a:pt x="60560" y="18975"/>
                  <a:pt x="60560" y="38175"/>
                  <a:pt x="58169" y="57150"/>
                </a:cubicBezTo>
                <a:lnTo>
                  <a:pt x="2391" y="57150"/>
                </a:lnTo>
                <a:cubicBezTo>
                  <a:pt x="0" y="38175"/>
                  <a:pt x="0" y="18975"/>
                  <a:pt x="2391" y="0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4A14824-4F8E-43FB-826F-04503D24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3614" y="5629275"/>
            <a:ext cx="87173" cy="57150"/>
          </a:xfrm>
          <a:custGeom xmlns:a="http://schemas.openxmlformats.org/drawingml/2006/main">
            <a:rect l="l" t="t" r="r" b="b"/>
            <a:pathLst>
              <a:path w="87173" h="57150">
                <a:moveTo>
                  <a:pt x="83353" y="0"/>
                </a:moveTo>
                <a:cubicBezTo>
                  <a:pt x="87173" y="18859"/>
                  <a:pt x="87163" y="38294"/>
                  <a:pt x="83325" y="57150"/>
                </a:cubicBezTo>
                <a:lnTo>
                  <a:pt x="0" y="57150"/>
                </a:lnTo>
                <a:cubicBezTo>
                  <a:pt x="2129" y="38162"/>
                  <a:pt x="2129" y="19002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970DE75A-39F7-4921-B128-4946D390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35962" y="5515361"/>
            <a:ext cx="120515" cy="85339"/>
          </a:xfrm>
          <a:custGeom xmlns:a="http://schemas.openxmlformats.org/drawingml/2006/main">
            <a:rect l="l" t="t" r="r" b="b"/>
            <a:pathLst>
              <a:path w="120515" h="85339">
                <a:moveTo>
                  <a:pt x="120515" y="0"/>
                </a:moveTo>
                <a:cubicBezTo>
                  <a:pt x="116867" y="879"/>
                  <a:pt x="113710" y="3157"/>
                  <a:pt x="111728" y="6344"/>
                </a:cubicBezTo>
                <a:cubicBezTo>
                  <a:pt x="96541" y="30675"/>
                  <a:pt x="85530" y="57375"/>
                  <a:pt x="79153" y="85339"/>
                </a:cubicBezTo>
                <a:lnTo>
                  <a:pt x="0" y="85339"/>
                </a:lnTo>
                <a:cubicBezTo>
                  <a:pt x="21027" y="37215"/>
                  <a:pt x="66739" y="4486"/>
                  <a:pt x="119072" y="86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680379BC-2E9A-49EC-975A-99F21902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4519" y="5545207"/>
            <a:ext cx="44863" cy="55507"/>
          </a:xfrm>
          <a:custGeom xmlns:a="http://schemas.openxmlformats.org/drawingml/2006/main">
            <a:rect l="l" t="t" r="r" b="b"/>
            <a:pathLst>
              <a:path w="44863" h="55507">
                <a:moveTo>
                  <a:pt x="22431" y="0"/>
                </a:moveTo>
                <a:cubicBezTo>
                  <a:pt x="32309" y="17439"/>
                  <a:pt x="39851" y="36101"/>
                  <a:pt x="44863" y="55507"/>
                </a:cubicBezTo>
                <a:lnTo>
                  <a:pt x="0" y="55507"/>
                </a:lnTo>
                <a:cubicBezTo>
                  <a:pt x="4858" y="36690"/>
                  <a:pt x="12144" y="18359"/>
                  <a:pt x="21860" y="972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B504F8F9-1E32-43E3-8D1A-8C4DEDAC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77423" y="5515346"/>
            <a:ext cx="120515" cy="85354"/>
          </a:xfrm>
          <a:custGeom xmlns:a="http://schemas.openxmlformats.org/drawingml/2006/main">
            <a:rect l="l" t="t" r="r" b="b"/>
            <a:pathLst>
              <a:path w="120515" h="85354">
                <a:moveTo>
                  <a:pt x="0" y="0"/>
                </a:moveTo>
                <a:cubicBezTo>
                  <a:pt x="52890" y="3906"/>
                  <a:pt x="99276" y="36758"/>
                  <a:pt x="120515" y="85354"/>
                </a:cubicBezTo>
                <a:lnTo>
                  <a:pt x="41362" y="85354"/>
                </a:lnTo>
                <a:cubicBezTo>
                  <a:pt x="34986" y="57384"/>
                  <a:pt x="23976" y="30679"/>
                  <a:pt x="8787" y="6344"/>
                </a:cubicBezTo>
                <a:cubicBezTo>
                  <a:pt x="7068" y="3590"/>
                  <a:pt x="4463" y="1504"/>
                  <a:pt x="1400" y="429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3A9A6CBD-0080-4D3F-8AAD-88BFA9C1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83942" y="5531168"/>
            <a:ext cx="339402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github.com/qrx-joe/studymate-agent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D9B6CCE9-EBBD-4DF2-968A-D1AA120E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8312" y="5595023"/>
            <a:ext cx="85725" cy="126117"/>
          </a:xfrm>
          <a:custGeom xmlns:a="http://schemas.openxmlformats.org/drawingml/2006/main">
            <a:rect l="l" t="t" r="r" b="b"/>
            <a:pathLst>
              <a:path w="85725" h="126117">
                <a:moveTo>
                  <a:pt x="73109" y="320"/>
                </a:moveTo>
                <a:cubicBezTo>
                  <a:pt x="70341" y="0"/>
                  <a:pt x="67540" y="497"/>
                  <a:pt x="65051" y="1748"/>
                </a:cubicBezTo>
                <a:lnTo>
                  <a:pt x="0" y="34252"/>
                </a:lnTo>
                <a:lnTo>
                  <a:pt x="0" y="91402"/>
                </a:lnTo>
                <a:lnTo>
                  <a:pt x="65051" y="123907"/>
                </a:lnTo>
                <a:cubicBezTo>
                  <a:pt x="69474" y="126117"/>
                  <a:pt x="74726" y="125883"/>
                  <a:pt x="78935" y="123288"/>
                </a:cubicBezTo>
                <a:cubicBezTo>
                  <a:pt x="83144" y="120693"/>
                  <a:pt x="85712" y="116107"/>
                  <a:pt x="85725" y="111162"/>
                </a:cubicBezTo>
                <a:lnTo>
                  <a:pt x="85725" y="14493"/>
                </a:lnTo>
                <a:cubicBezTo>
                  <a:pt x="85717" y="7255"/>
                  <a:pt x="80297" y="1167"/>
                  <a:pt x="73109" y="320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8210E81C-9DA4-4EDE-A7C4-81C6DAD6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2575" y="5557838"/>
            <a:ext cx="200025" cy="200025"/>
          </a:xfrm>
          <a:custGeom xmlns:a="http://schemas.openxmlformats.org/drawingml/2006/main">
            <a:rect l="l" t="t" r="r" b="b"/>
            <a:pathLst>
              <a:path w="200025" h="200025">
                <a:moveTo>
                  <a:pt x="42862" y="0"/>
                </a:moveTo>
                <a:cubicBezTo>
                  <a:pt x="19360" y="0"/>
                  <a:pt x="0" y="19360"/>
                  <a:pt x="0" y="42862"/>
                </a:cubicBezTo>
                <a:lnTo>
                  <a:pt x="0" y="157162"/>
                </a:lnTo>
                <a:cubicBezTo>
                  <a:pt x="0" y="180665"/>
                  <a:pt x="19360" y="200025"/>
                  <a:pt x="42862" y="200025"/>
                </a:cubicBezTo>
                <a:lnTo>
                  <a:pt x="157162" y="200025"/>
                </a:lnTo>
                <a:cubicBezTo>
                  <a:pt x="180665" y="200025"/>
                  <a:pt x="200025" y="180665"/>
                  <a:pt x="200025" y="157162"/>
                </a:cubicBezTo>
                <a:lnTo>
                  <a:pt x="200025" y="42862"/>
                </a:lnTo>
                <a:cubicBezTo>
                  <a:pt x="200025" y="19360"/>
                  <a:pt x="180665" y="0"/>
                  <a:pt x="157162" y="0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8CD85A9D-0496-42CF-91A9-7EE27492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2442" y="5531168"/>
            <a:ext cx="20395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B 站 78 秒中文配音演示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B713FE9C-6071-4075-A831-BB3EF42C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47237" y="5686182"/>
            <a:ext cx="129648" cy="113518"/>
          </a:xfrm>
          <a:custGeom xmlns:a="http://schemas.openxmlformats.org/drawingml/2006/main">
            <a:rect l="l" t="t" r="r" b="b"/>
            <a:pathLst>
              <a:path w="129648" h="113518">
                <a:moveTo>
                  <a:pt x="99012" y="0"/>
                </a:moveTo>
                <a:lnTo>
                  <a:pt x="127102" y="48663"/>
                </a:lnTo>
                <a:cubicBezTo>
                  <a:pt x="129448" y="52730"/>
                  <a:pt x="129648" y="57690"/>
                  <a:pt x="127638" y="61933"/>
                </a:cubicBezTo>
                <a:cubicBezTo>
                  <a:pt x="125628" y="66177"/>
                  <a:pt x="121662" y="69163"/>
                  <a:pt x="117029" y="69923"/>
                </a:cubicBezTo>
                <a:lnTo>
                  <a:pt x="115414" y="70080"/>
                </a:lnTo>
                <a:lnTo>
                  <a:pt x="113814" y="70066"/>
                </a:lnTo>
                <a:lnTo>
                  <a:pt x="71909" y="67351"/>
                </a:lnTo>
                <a:lnTo>
                  <a:pt x="53292" y="105013"/>
                </a:lnTo>
                <a:cubicBezTo>
                  <a:pt x="51242" y="109151"/>
                  <a:pt x="47320" y="112044"/>
                  <a:pt x="42761" y="112781"/>
                </a:cubicBezTo>
                <a:cubicBezTo>
                  <a:pt x="38202" y="113518"/>
                  <a:pt x="33568" y="112008"/>
                  <a:pt x="30318" y="108728"/>
                </a:cubicBezTo>
                <a:lnTo>
                  <a:pt x="29146" y="107385"/>
                </a:lnTo>
                <a:lnTo>
                  <a:pt x="28118" y="105813"/>
                </a:lnTo>
                <a:lnTo>
                  <a:pt x="0" y="57136"/>
                </a:lnTo>
                <a:cubicBezTo>
                  <a:pt x="40125" y="54628"/>
                  <a:pt x="76763" y="33485"/>
                  <a:pt x="99012" y="0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19AAB027-17D1-4440-9DC3-BB4B217F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1269" y="5686168"/>
            <a:ext cx="129737" cy="113375"/>
          </a:xfrm>
          <a:custGeom xmlns:a="http://schemas.openxmlformats.org/drawingml/2006/main">
            <a:rect l="l" t="t" r="r" b="b"/>
            <a:pathLst>
              <a:path w="129737" h="113375">
                <a:moveTo>
                  <a:pt x="129737" y="57150"/>
                </a:moveTo>
                <a:lnTo>
                  <a:pt x="101648" y="105842"/>
                </a:lnTo>
                <a:cubicBezTo>
                  <a:pt x="99339" y="109844"/>
                  <a:pt x="95238" y="112484"/>
                  <a:pt x="90639" y="112929"/>
                </a:cubicBezTo>
                <a:cubicBezTo>
                  <a:pt x="86039" y="113375"/>
                  <a:pt x="81508" y="111570"/>
                  <a:pt x="78474" y="108085"/>
                </a:cubicBezTo>
                <a:lnTo>
                  <a:pt x="77388" y="106656"/>
                </a:lnTo>
                <a:lnTo>
                  <a:pt x="76474" y="105027"/>
                </a:lnTo>
                <a:lnTo>
                  <a:pt x="57843" y="67380"/>
                </a:lnTo>
                <a:lnTo>
                  <a:pt x="15966" y="70094"/>
                </a:lnTo>
                <a:cubicBezTo>
                  <a:pt x="11284" y="70396"/>
                  <a:pt x="6752" y="68381"/>
                  <a:pt x="3838" y="64703"/>
                </a:cubicBezTo>
                <a:cubicBezTo>
                  <a:pt x="924" y="61026"/>
                  <a:pt x="0" y="56153"/>
                  <a:pt x="1364" y="51664"/>
                </a:cubicBezTo>
                <a:lnTo>
                  <a:pt x="1936" y="50135"/>
                </a:lnTo>
                <a:lnTo>
                  <a:pt x="2650" y="48706"/>
                </a:lnTo>
                <a:lnTo>
                  <a:pt x="30768" y="0"/>
                </a:lnTo>
                <a:cubicBezTo>
                  <a:pt x="53002" y="33484"/>
                  <a:pt x="89623" y="54637"/>
                  <a:pt x="129737" y="57164"/>
                </a:cubicBez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E075949E-25C1-4546-B2DB-5AE41A3E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9137" y="5514975"/>
            <a:ext cx="200027" cy="200111"/>
          </a:xfrm>
          <a:custGeom xmlns:a="http://schemas.openxmlformats.org/drawingml/2006/main">
            <a:rect l="l" t="t" r="r" b="b"/>
            <a:pathLst>
              <a:path w="200027" h="200111">
                <a:moveTo>
                  <a:pt x="100013" y="0"/>
                </a:moveTo>
                <a:lnTo>
                  <a:pt x="103442" y="57"/>
                </a:lnTo>
                <a:cubicBezTo>
                  <a:pt x="157312" y="1905"/>
                  <a:pt x="200027" y="46111"/>
                  <a:pt x="200026" y="100012"/>
                </a:cubicBezTo>
                <a:lnTo>
                  <a:pt x="199983" y="102770"/>
                </a:lnTo>
                <a:lnTo>
                  <a:pt x="199883" y="105513"/>
                </a:lnTo>
                <a:lnTo>
                  <a:pt x="199626" y="109014"/>
                </a:lnTo>
                <a:lnTo>
                  <a:pt x="199254" y="112471"/>
                </a:lnTo>
                <a:lnTo>
                  <a:pt x="198911" y="115014"/>
                </a:lnTo>
                <a:cubicBezTo>
                  <a:pt x="197971" y="121182"/>
                  <a:pt x="196455" y="127247"/>
                  <a:pt x="194382" y="133131"/>
                </a:cubicBezTo>
                <a:lnTo>
                  <a:pt x="192725" y="137531"/>
                </a:lnTo>
                <a:lnTo>
                  <a:pt x="190539" y="142504"/>
                </a:lnTo>
                <a:cubicBezTo>
                  <a:pt x="174026" y="177681"/>
                  <a:pt x="138632" y="200111"/>
                  <a:pt x="99772" y="200025"/>
                </a:cubicBezTo>
                <a:cubicBezTo>
                  <a:pt x="60911" y="199939"/>
                  <a:pt x="25617" y="177354"/>
                  <a:pt x="9259" y="142103"/>
                </a:cubicBezTo>
                <a:lnTo>
                  <a:pt x="7402" y="137860"/>
                </a:lnTo>
                <a:lnTo>
                  <a:pt x="6659" y="135960"/>
                </a:lnTo>
                <a:lnTo>
                  <a:pt x="5516" y="132859"/>
                </a:lnTo>
                <a:lnTo>
                  <a:pt x="4159" y="128659"/>
                </a:lnTo>
                <a:cubicBezTo>
                  <a:pt x="3674" y="127032"/>
                  <a:pt x="3231" y="125393"/>
                  <a:pt x="2830" y="123744"/>
                </a:cubicBezTo>
                <a:lnTo>
                  <a:pt x="1973" y="119872"/>
                </a:lnTo>
                <a:lnTo>
                  <a:pt x="1272" y="116000"/>
                </a:lnTo>
                <a:lnTo>
                  <a:pt x="987" y="114014"/>
                </a:lnTo>
                <a:lnTo>
                  <a:pt x="430" y="109399"/>
                </a:lnTo>
                <a:lnTo>
                  <a:pt x="87" y="104184"/>
                </a:lnTo>
                <a:lnTo>
                  <a:pt x="1" y="100012"/>
                </a:lnTo>
                <a:cubicBezTo>
                  <a:pt x="0" y="46111"/>
                  <a:pt x="42715" y="1905"/>
                  <a:pt x="96584" y="57"/>
                </a:cubicBezTo>
                <a:lnTo>
                  <a:pt x="100013" y="0"/>
                </a:lnTo>
                <a:close/>
              </a:path>
            </a:pathLst>
          </a:custGeom>
          <a:solidFill xmlns:a="http://schemas.openxmlformats.org/drawingml/2006/main">
            <a:srgbClr val="6B9580"/>
          </a:solidFill>
          <a:ln xmlns:a="http://schemas.openxmlformats.org/drawingml/2006/main">
            <a:noFill/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32B61636-FDD7-402B-851D-401F298F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56142" y="5531168"/>
            <a:ext cx="209059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7A766C"/>
                </a:solidFill>
                <a:latin typeface="Arial"/>
                <a:ea typeface="Arial"/>
                <a:cs typeface="Arial"/>
              </a:rPr>
              <a:t>Skill 作品链接见报名提交页</a:t>
            </a:r>
          </a:p>
        </p:txBody>
      </p:sp>
      <p:sp>
        <p:nvSpPr>
          <p:cNvPr id="43" name="Line 43">
            <a:extLst xmlns:a="http://schemas.openxmlformats.org/drawingml/2006/main">
              <a:ext uri="{FF2B5EF4-FFF2-40B4-BE49-F238E27FC236}">
                <a16:creationId xmlns:a16="http://schemas.microsoft.com/office/drawing/2014/main" id="{7DED05EC-04D2-47AE-8175-D431B50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61722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BE5D8"/>
            </a:solidFill>
          </a:ln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6E6553D8-FFAC-4BD2-948E-8A17168A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385560"/>
            <a:ext cx="407456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书生国智科探挑战赛 · 自由赛道「科艺融合 × AI4SS」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E6A30DA7-1A60-458A-8EF7-B0D4EC90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67693" y="6385560"/>
            <a:ext cx="1720803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A8A396"/>
                </a:solidFill>
                <a:latin typeface="Arial"/>
                <a:ea typeface="Arial"/>
                <a:cs typeface="Arial"/>
              </a:rPr>
              <a:t>StudyMate Agent · 10</a:t>
            </a:r>
          </a:p>
        </p:txBody>
      </p:sp>
    </p:spTree>
    <p:extLst>
      <p:ext uri="{BB962C8B-B14F-4D97-AF65-F5344CB8AC3E}">
        <p14:creationId xmlns:p14="http://schemas.microsoft.com/office/powerpoint/2010/main" val="8256530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2026-08-15T15:16:23.6630000Z</dcterms:created>
  <dcterms:modified xsi:type="dcterms:W3CDTF">2026-08-15T15:16:23.6630000Z</dcterms:modified>
</coreProperties>
</file>